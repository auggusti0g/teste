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2" r:id="rId2"/>
  </p:sldMasterIdLst>
  <p:notesMasterIdLst>
    <p:notesMasterId r:id="rId40"/>
  </p:notesMasterIdLst>
  <p:sldIdLst>
    <p:sldId id="273" r:id="rId3"/>
    <p:sldId id="272" r:id="rId4"/>
    <p:sldId id="257" r:id="rId5"/>
    <p:sldId id="259" r:id="rId6"/>
    <p:sldId id="260" r:id="rId7"/>
    <p:sldId id="261" r:id="rId8"/>
    <p:sldId id="262" r:id="rId9"/>
    <p:sldId id="263" r:id="rId10"/>
    <p:sldId id="335" r:id="rId11"/>
    <p:sldId id="265" r:id="rId12"/>
    <p:sldId id="266" r:id="rId13"/>
    <p:sldId id="267" r:id="rId14"/>
    <p:sldId id="308" r:id="rId15"/>
    <p:sldId id="309" r:id="rId16"/>
    <p:sldId id="310" r:id="rId17"/>
    <p:sldId id="271" r:id="rId18"/>
    <p:sldId id="311" r:id="rId19"/>
    <p:sldId id="312" r:id="rId20"/>
    <p:sldId id="313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36" r:id="rId29"/>
    <p:sldId id="324" r:id="rId30"/>
    <p:sldId id="325" r:id="rId31"/>
    <p:sldId id="326" r:id="rId32"/>
    <p:sldId id="338" r:id="rId33"/>
    <p:sldId id="328" r:id="rId34"/>
    <p:sldId id="329" r:id="rId35"/>
    <p:sldId id="330" r:id="rId36"/>
    <p:sldId id="331" r:id="rId37"/>
    <p:sldId id="332" r:id="rId38"/>
    <p:sldId id="784" r:id="rId39"/>
  </p:sldIdLst>
  <p:sldSz cx="12192000" cy="6858000"/>
  <p:notesSz cx="6858000" cy="9144000"/>
  <p:embeddedFontLst>
    <p:embeddedFont>
      <p:font typeface="Bookman Old Style" panose="02050604050505020204" pitchFamily="18" charset="0"/>
      <p:regular r:id="rId41"/>
      <p:bold r:id="rId42"/>
      <p:italic r:id="rId43"/>
      <p:boldItalic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Tahoma" panose="020B0604030504040204" pitchFamily="34" charset="0"/>
      <p:regular r:id="rId49"/>
      <p:bold r:id="rId50"/>
    </p:embeddedFont>
    <p:embeddedFont>
      <p:font typeface="Trebuchet MS" panose="020B060302020202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11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F2A70B-78F2-4DCF-B53B-C990D2FAFB8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645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7387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3EABA-642C-4CAC-94AD-F37298DA9E6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40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38200" y="1427808"/>
            <a:ext cx="10515600" cy="454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Tahom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3825597" y="-1559588"/>
            <a:ext cx="454080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06425" y="0"/>
            <a:ext cx="2734244" cy="1081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7" name="bg object 17"/>
          <p:cNvSpPr/>
          <p:nvPr userDrawn="1"/>
        </p:nvSpPr>
        <p:spPr>
          <a:xfrm>
            <a:off x="-26903" y="0"/>
            <a:ext cx="12255848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F15528-21DE-4FAA-801E-634DDDAF4B2B}" type="slidenum">
              <a:rPr lang="pt-BR" smtClean="0">
                <a:solidFill>
                  <a:prstClr val="black">
                    <a:tint val="75000"/>
                  </a:prstClr>
                </a:solidFill>
                <a:latin typeface="Calibri" pitchFamily="34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  <a:latin typeface="Calibri" pitchFamily="34" charset="0"/>
              <a:cs typeface="Arial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5256282-837D-43BD-ABCC-6D7E4AD2DA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40149" y="2"/>
            <a:ext cx="4788796" cy="7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7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0246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30AB3A63-409F-473B-800A-20FCCAD7C8C9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43339" y="531131"/>
            <a:ext cx="9614045" cy="58108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27AD7DBF-C0A2-4F45-9196-BBB594983388}"/>
              </a:ext>
            </a:extLst>
          </p:cNvPr>
          <p:cNvSpPr txBox="1">
            <a:spLocks/>
          </p:cNvSpPr>
          <p:nvPr userDrawn="1"/>
        </p:nvSpPr>
        <p:spPr>
          <a:xfrm>
            <a:off x="143339" y="41877"/>
            <a:ext cx="7694645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rgbClr val="43054E"/>
                </a:solidFill>
                <a:effectLst/>
                <a:uLnTx/>
                <a:uFillTx/>
                <a:latin typeface="Bookman Old Style" panose="02050604050505020204" pitchFamily="18" charset="0"/>
                <a:ea typeface="+mj-ea"/>
                <a:cs typeface="Tahoma"/>
              </a:rPr>
              <a:t> Teste e Qualidade de Software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90A14-2F48-4611-9EBC-8FA3ECF77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7" y="1196975"/>
            <a:ext cx="11328400" cy="5283200"/>
          </a:xfrm>
        </p:spPr>
        <p:txBody>
          <a:bodyPr/>
          <a:lstStyle>
            <a:lvl1pPr>
              <a:defRPr b="1">
                <a:solidFill>
                  <a:srgbClr val="512373"/>
                </a:solidFill>
              </a:defRPr>
            </a:lvl1pPr>
            <a:lvl2pPr>
              <a:defRPr b="1">
                <a:solidFill>
                  <a:srgbClr val="512373"/>
                </a:solidFill>
              </a:defRPr>
            </a:lvl2pPr>
            <a:lvl3pPr>
              <a:defRPr b="1">
                <a:solidFill>
                  <a:srgbClr val="512373"/>
                </a:solidFill>
              </a:defRPr>
            </a:lvl3pPr>
            <a:lvl4pPr>
              <a:defRPr b="1">
                <a:solidFill>
                  <a:srgbClr val="512373"/>
                </a:solidFill>
              </a:defRPr>
            </a:lvl4pPr>
            <a:lvl5pPr>
              <a:defRPr b="1">
                <a:solidFill>
                  <a:srgbClr val="512373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155077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56758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7/31/2026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53A1C909-6C38-4223-88A8-4EA6CFFEEA7B}"/>
              </a:ext>
            </a:extLst>
          </p:cNvPr>
          <p:cNvSpPr/>
          <p:nvPr userDrawn="1"/>
        </p:nvSpPr>
        <p:spPr>
          <a:xfrm>
            <a:off x="0" y="0"/>
            <a:ext cx="12195176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F1CA3B-4EDC-482D-A73A-F395534DE7B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828800" y="3428998"/>
            <a:ext cx="7776864" cy="504056"/>
          </a:xfrm>
          <a:prstGeom prst="rect">
            <a:avLst/>
          </a:prstGeom>
          <a:solidFill>
            <a:srgbClr val="EC0088"/>
          </a:solidFill>
          <a:ln w="9525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Arial" charset="0"/>
              </a:rPr>
              <a:t>Teste e Qualidade de Software</a:t>
            </a:r>
          </a:p>
        </p:txBody>
      </p:sp>
    </p:spTree>
    <p:extLst>
      <p:ext uri="{BB962C8B-B14F-4D97-AF65-F5344CB8AC3E}">
        <p14:creationId xmlns:p14="http://schemas.microsoft.com/office/powerpoint/2010/main" val="2593820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06425" y="0"/>
            <a:ext cx="2734244" cy="1081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7" name="bg object 17"/>
          <p:cNvSpPr/>
          <p:nvPr userDrawn="1"/>
        </p:nvSpPr>
        <p:spPr>
          <a:xfrm>
            <a:off x="-26903" y="0"/>
            <a:ext cx="12255848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7/31/2026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5256282-837D-43BD-ABCC-6D7E4AD2DA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40149" y="2"/>
            <a:ext cx="4788796" cy="7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43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4D2E5146-00DC-41E4-91E6-28B1D0ED9737}"/>
              </a:ext>
            </a:extLst>
          </p:cNvPr>
          <p:cNvSpPr/>
          <p:nvPr userDrawn="1"/>
        </p:nvSpPr>
        <p:spPr>
          <a:xfrm>
            <a:off x="9498396" y="13105"/>
            <a:ext cx="2688299" cy="823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0AB3A63-409F-473B-800A-20FCCAD7C8C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30" y="469317"/>
            <a:ext cx="10116133" cy="45719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27AD7DBF-C0A2-4F45-9196-BBB594983388}"/>
              </a:ext>
            </a:extLst>
          </p:cNvPr>
          <p:cNvSpPr txBox="1">
            <a:spLocks/>
          </p:cNvSpPr>
          <p:nvPr userDrawn="1"/>
        </p:nvSpPr>
        <p:spPr>
          <a:xfrm>
            <a:off x="143339" y="41877"/>
            <a:ext cx="7694645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rgbClr val="43054E"/>
                </a:solidFill>
                <a:effectLst/>
                <a:uLnTx/>
                <a:uFillTx/>
                <a:latin typeface="Bookman Old Style" panose="02050604050505020204" pitchFamily="18" charset="0"/>
                <a:ea typeface="+mj-ea"/>
                <a:cs typeface="Tahoma"/>
              </a:rPr>
              <a:t>Teste de Software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90A14-2F48-4611-9EBC-8FA3ECF77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7" y="1196975"/>
            <a:ext cx="11328400" cy="5283200"/>
          </a:xfrm>
        </p:spPr>
        <p:txBody>
          <a:bodyPr/>
          <a:lstStyle>
            <a:lvl1pPr>
              <a:defRPr b="1">
                <a:solidFill>
                  <a:srgbClr val="512373"/>
                </a:solidFill>
              </a:defRPr>
            </a:lvl1pPr>
            <a:lvl2pPr>
              <a:defRPr b="1">
                <a:solidFill>
                  <a:srgbClr val="512373"/>
                </a:solidFill>
              </a:defRPr>
            </a:lvl2pPr>
            <a:lvl3pPr>
              <a:defRPr b="1">
                <a:solidFill>
                  <a:srgbClr val="512373"/>
                </a:solidFill>
              </a:defRPr>
            </a:lvl3pPr>
            <a:lvl4pPr>
              <a:defRPr b="1">
                <a:solidFill>
                  <a:srgbClr val="512373"/>
                </a:solidFill>
              </a:defRPr>
            </a:lvl4pPr>
            <a:lvl5pPr>
              <a:defRPr b="1">
                <a:solidFill>
                  <a:srgbClr val="512373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87930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>
            <a:extLst>
              <a:ext uri="{FF2B5EF4-FFF2-40B4-BE49-F238E27FC236}">
                <a16:creationId xmlns:a16="http://schemas.microsoft.com/office/drawing/2014/main" id="{6E9F1BDC-C3C8-46F9-9FBC-5ED73D0FE429}"/>
              </a:ext>
            </a:extLst>
          </p:cNvPr>
          <p:cNvSpPr/>
          <p:nvPr userDrawn="1"/>
        </p:nvSpPr>
        <p:spPr>
          <a:xfrm>
            <a:off x="9648395" y="13105"/>
            <a:ext cx="2358244" cy="6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FCA8464-7A51-466C-A7C5-60B761BF3AD1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30954"/>
            <a:ext cx="10320469" cy="4571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8C16455-064A-482A-946C-EDC3CDE366A5}"/>
              </a:ext>
            </a:extLst>
          </p:cNvPr>
          <p:cNvSpPr txBox="1">
            <a:spLocks/>
          </p:cNvSpPr>
          <p:nvPr userDrawn="1"/>
        </p:nvSpPr>
        <p:spPr>
          <a:xfrm>
            <a:off x="143339" y="41877"/>
            <a:ext cx="7694645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rgbClr val="43054E"/>
                </a:solidFill>
                <a:effectLst/>
                <a:uLnTx/>
                <a:uFillTx/>
                <a:latin typeface="Bookman Old Style" panose="02050604050505020204" pitchFamily="18" charset="0"/>
                <a:ea typeface="+mj-ea"/>
                <a:cs typeface="Tahoma"/>
              </a:rPr>
              <a:t>Teste de Software</a:t>
            </a:r>
          </a:p>
        </p:txBody>
      </p:sp>
    </p:spTree>
    <p:extLst>
      <p:ext uri="{BB962C8B-B14F-4D97-AF65-F5344CB8AC3E}">
        <p14:creationId xmlns:p14="http://schemas.microsoft.com/office/powerpoint/2010/main" val="1894094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289AD0-D315-4C08-8E3F-FDF81092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23ED71-5F1A-4116-8AFB-CE71D234CE56}" type="datetimeFigureOut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31/07/2026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C9618D-661E-4363-BC6F-AF25076D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83FBDC-810D-4064-932B-E34FD12C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BF5051-D9B2-4882-A1C2-B5A7FCB64418}" type="slidenum">
              <a:rPr kumimoji="0" lang="pt-BR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altLang="pt-B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899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>
            <a:extLst>
              <a:ext uri="{FF2B5EF4-FFF2-40B4-BE49-F238E27FC236}">
                <a16:creationId xmlns:a16="http://schemas.microsoft.com/office/drawing/2014/main" id="{FAB70E34-E70C-43B2-8CB1-AA298FC0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" y="-100013"/>
            <a:ext cx="2112433" cy="58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4DAA308-0685-4399-865F-B7229C3033A8}"/>
              </a:ext>
            </a:extLst>
          </p:cNvPr>
          <p:cNvCxnSpPr/>
          <p:nvPr userDrawn="1"/>
        </p:nvCxnSpPr>
        <p:spPr>
          <a:xfrm>
            <a:off x="48684" y="547688"/>
            <a:ext cx="12192000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AACEA8EF-BBD6-4BFD-8CA6-1A75C174A5B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543605" y="-27384"/>
            <a:ext cx="9313928" cy="514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Bookman Old Style"/>
                <a:ea typeface="+mj-ea"/>
                <a:cs typeface="+mj-cs"/>
              </a:rPr>
              <a:t>Tópicos Gerais de Tecnologia da Informação - TGTI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339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339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ctangle 218">
            <a:extLst>
              <a:ext uri="{FF2B5EF4-FFF2-40B4-BE49-F238E27FC236}">
                <a16:creationId xmlns:a16="http://schemas.microsoft.com/office/drawing/2014/main" id="{C0B93747-1E53-43BD-BABF-915BAF681B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B5C876-D37D-42AC-9EEF-7507D239937E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9" name="Rectangle 219">
            <a:extLst>
              <a:ext uri="{FF2B5EF4-FFF2-40B4-BE49-F238E27FC236}">
                <a16:creationId xmlns:a16="http://schemas.microsoft.com/office/drawing/2014/main" id="{E12621E8-3B97-4E48-A32E-3A565C3F9A7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10" name="Rectangle 220">
            <a:extLst>
              <a:ext uri="{FF2B5EF4-FFF2-40B4-BE49-F238E27FC236}">
                <a16:creationId xmlns:a16="http://schemas.microsoft.com/office/drawing/2014/main" id="{4455B065-C226-4E22-BFB0-71199A84C1E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© 2004 by Pearson Education</a:t>
            </a:r>
          </a:p>
        </p:txBody>
      </p:sp>
    </p:spTree>
    <p:extLst>
      <p:ext uri="{BB962C8B-B14F-4D97-AF65-F5344CB8AC3E}">
        <p14:creationId xmlns:p14="http://schemas.microsoft.com/office/powerpoint/2010/main" val="2834003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2810" y="1905000"/>
            <a:ext cx="9146381" cy="2667000"/>
          </a:xfrm>
        </p:spPr>
        <p:txBody>
          <a:bodyPr rtlCol="0">
            <a:noAutofit/>
          </a:bodyPr>
          <a:lstStyle>
            <a:lvl1pPr rtl="0">
              <a:defRPr sz="4051"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256" name="linha" descr="Gráfico de linhas"/>
          <p:cNvGrpSpPr/>
          <p:nvPr/>
        </p:nvGrpSpPr>
        <p:grpSpPr bwMode="invGray">
          <a:xfrm>
            <a:off x="1585309" y="4724400"/>
            <a:ext cx="8634184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v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58" name="Forma Liv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59" name="Forma Liv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0" name="Forma Liv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1" name="Forma Liv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2" name="Forma Liv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3" name="Forma Liv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4" name="Forma Liv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5" name="Forma Liv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6" name="Forma Liv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7" name="Forma Liv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8" name="Forma Liv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9" name="Forma Liv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0" name="Forma Liv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1" name="Forma Liv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2" name="Forma Liv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3" name="Forma Liv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4" name="Forma Liv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5" name="Forma Liv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6" name="Forma Liv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7" name="Forma Liv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8" name="Forma Liv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9" name="Forma Liv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0" name="Forma Liv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1" name="Forma Liv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2" name="Forma Liv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3" name="Forma Liv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4" name="Forma Liv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5" name="Forma Liv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6" name="Forma Liv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7" name="Forma Liv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8" name="Forma Liv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9" name="Forma Liv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0" name="Forma Liv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1" name="Forma Liv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2" name="Forma Liv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3" name="Forma Liv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4" name="Forma Liv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5" name="Forma Liv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6" name="Forma Liv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7" name="Forma Liv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8" name="Forma Liv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9" name="Forma Liv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0" name="Forma Liv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1" name="Forma Liv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2" name="Forma Liv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3" name="Forma Liv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4" name="Forma Liv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5" name="Forma Liv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6" name="Forma Liv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7" name="Forma Liv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8" name="Forma Liv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9" name="Forma Liv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0" name="Forma Liv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1" name="Forma Liv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2" name="Forma Liv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3" name="Forma Liv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4" name="Forma Liv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5" name="Forma Liv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6" name="Forma Liv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7" name="Forma Liv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8" name="Forma Liv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9" name="Forma Liv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0" name="Forma Liv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1" name="Forma Liv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2" name="Forma Liv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3" name="Forma Liv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4" name="Forma Liv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5" name="Forma Liv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6" name="Forma Liv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7" name="Forma Liv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8" name="Forma Liv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9" name="Forma Liv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0" name="Forma Liv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1" name="Forma Liv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2" name="Forma Liv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3" name="Forma Liv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4" name="Forma Liv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5" name="Forma Liv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6" name="Forma Liv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7" name="Forma Liv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8" name="Forma Liv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9" name="Forma Liv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0" name="Forma Liv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1" name="Forma Liv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2" name="Forma Liv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3" name="Forma Liv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4" name="Forma Liv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5" name="Forma Liv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6" name="Forma Liv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7" name="Forma Liv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8" name="Forma Liv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9" name="Forma Liv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0" name="Forma Liv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1" name="Forma Liv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2" name="Forma Liv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3" name="Forma Liv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4" name="Forma Liv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5" name="Forma Liv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6" name="Forma Liv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7" name="Forma Liv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8" name="Forma Liv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9" name="Forma Liv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0" name="Forma Liv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1" name="Forma Liv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2" name="Forma Liv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3" name="Forma Liv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4" name="Forma Liv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5" name="Forma Liv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6" name="Forma Liv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7" name="Forma Liv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8" name="Forma Liv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9" name="Forma Liv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0" name="Forma Liv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1" name="Forma Liv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2" name="Forma Liv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3" name="Forma Liv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4" name="Forma Liv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5" name="Forma Liv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6" name="Forma Liv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7" name="Forma Liv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8" name="Forma Liv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9" name="Forma Liv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810" y="5105400"/>
            <a:ext cx="9146381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030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811" y="274638"/>
            <a:ext cx="9146380" cy="1020762"/>
          </a:xfrm>
        </p:spPr>
        <p:txBody>
          <a:bodyPr rtlCol="0" anchor="b">
            <a:noAutofit/>
          </a:bodyPr>
          <a:lstStyle>
            <a:lvl1pPr algn="l" rtl="0">
              <a:defRPr sz="2401" b="0"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2809" y="3429000"/>
            <a:ext cx="2743915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 rtl="0"/>
            <a:r>
              <a:rPr lang="pt-BR"/>
              <a:t>Editar estilos de texto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11248" y="1905000"/>
            <a:ext cx="5670757" cy="40386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 baseline="0"/>
            </a:lvl7pPr>
            <a:lvl8pPr>
              <a:defRPr sz="1200" baseline="0"/>
            </a:lvl8pPr>
            <a:lvl9pPr>
              <a:defRPr sz="1200" baseline="0"/>
            </a:lvl9pPr>
          </a:lstStyle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grpSp>
        <p:nvGrpSpPr>
          <p:cNvPr id="615" name="quadro" descr="Gráfico de caixas"/>
          <p:cNvGrpSpPr/>
          <p:nvPr/>
        </p:nvGrpSpPr>
        <p:grpSpPr bwMode="invGray">
          <a:xfrm>
            <a:off x="4418989" y="1630823"/>
            <a:ext cx="6292667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6" name="Forma Liv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2" name="Forma Liv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6" name="Forma Liv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</p:grp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5CA678-7531-4BBD-B1E6-6A1CA37BCB1B}" type="datetime1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31/07/2026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A54BD-C84D-46CE-8B72-31BFB26ABA4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51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rtl="0">
              <a:defRPr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156" name="linha" descr="Gráfico de linhas"/>
          <p:cNvGrpSpPr/>
          <p:nvPr/>
        </p:nvGrpSpPr>
        <p:grpSpPr bwMode="invGray">
          <a:xfrm>
            <a:off x="1522811" y="1340768"/>
            <a:ext cx="10572328" cy="64008"/>
            <a:chOff x="1522413" y="1514475"/>
            <a:chExt cx="10569575" cy="64008"/>
          </a:xfrm>
        </p:grpSpPr>
        <p:sp>
          <p:nvSpPr>
            <p:cNvPr id="157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58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59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0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1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2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3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4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5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6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7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8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69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0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1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2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3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4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5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6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7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8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79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0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1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2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3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4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5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6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7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8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89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0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1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2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3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4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5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6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7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8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199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0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1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2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3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4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5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6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7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8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09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0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1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2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3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4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5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6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7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8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19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0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1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2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3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4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5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6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7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8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29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30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</p:grp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02F2C7-204F-4F9D-81F3-C7CE8047CD3A}" type="datetime1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31/07/2026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A54BD-C84D-46CE-8B72-31BFB26ABA4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 rtlCol="0" anchor="b">
            <a:noAutofit/>
          </a:bodyPr>
          <a:lstStyle>
            <a:lvl1pPr algn="l">
              <a:defRPr sz="2401" b="0"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1746292" y="1884311"/>
            <a:ext cx="5670757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1800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grpSp>
        <p:nvGrpSpPr>
          <p:cNvPr id="614" name="quadro" descr="Gráfico de caixas"/>
          <p:cNvGrpSpPr/>
          <p:nvPr/>
        </p:nvGrpSpPr>
        <p:grpSpPr bwMode="invGray">
          <a:xfrm flipH="1">
            <a:off x="1447877" y="1630823"/>
            <a:ext cx="6292667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v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v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2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3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4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5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6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7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8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9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0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1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2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3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4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5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6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7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8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9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0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1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2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3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4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5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6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7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8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9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0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1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2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3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5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6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7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8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9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0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1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2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3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4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5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6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7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8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9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0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1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2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3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4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5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6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7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8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9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0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1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2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3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4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5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6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7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8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9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0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1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2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v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v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3" name="Forma Liv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4" name="Forma Liv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5" name="Forma Liv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6" name="Forma Liv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7" name="Forma Liv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8" name="Forma Liv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9" name="Forma Liv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0" name="Forma Liv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1" name="Forma Liv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2" name="Forma Liv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3" name="Forma Liv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4" name="Forma Liv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5" name="Forma Liv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6" name="Forma Liv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7" name="Forma Liv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8" name="Forma Liv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9" name="Forma Liv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0" name="Forma Liv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1" name="Forma Liv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2" name="Forma Liv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3" name="Forma Liv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4" name="Forma Liv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5" name="Forma Liv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6" name="Forma Liv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7" name="Forma Liv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8" name="Forma Liv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9" name="Forma Liv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0" name="Forma Liv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1" name="Forma Liv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2" name="Forma Liv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3" name="Forma Liv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4" name="Forma Liv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5" name="Forma Liv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6" name="Forma Liv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7" name="Forma Liv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8" name="Forma Liv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9" name="Forma Liv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0" name="Forma Liv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1" name="Forma Liv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2" name="Forma Liv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3" name="Forma Liv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4" name="Forma Liv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5" name="Forma Liv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6" name="Forma Liv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7" name="Forma Liv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8" name="Forma Liv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9" name="Forma Liv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0" name="Forma Liv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1" name="Forma Liv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2" name="Forma Liv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3" name="Forma Liv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4" name="Forma Liv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5" name="Forma Liv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6" name="Forma Liv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7" name="Forma Liv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8" name="Forma Liv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9" name="Forma Liv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0" name="Forma Liv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1" name="Forma Liv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2" name="Forma Liv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3" name="Forma Liv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4" name="Forma Liv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5" name="Forma Liv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6" name="Forma Liv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7" name="Forma Liv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8" name="Forma Liv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9" name="Forma Liv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0" name="Forma Liv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1" name="Forma Liv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2" name="Forma Liv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</p:grp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08019" y="3411748"/>
            <a:ext cx="2743915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 rtl="0"/>
            <a:r>
              <a:rPr lang="pt-BR"/>
              <a:t>Editar estilos de texto Mestre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84FD6-C734-4162-88D8-0C01192F6E9B}" type="datetime1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31/07/2026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A54BD-C84D-46CE-8B72-31BFB26ABA4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5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 b="1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427808"/>
            <a:ext cx="10515600" cy="454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 l="62821" r="3833" b="75927"/>
          <a:stretch/>
        </p:blipFill>
        <p:spPr>
          <a:xfrm>
            <a:off x="9020435" y="0"/>
            <a:ext cx="3080951" cy="12521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1" r:id="rId10"/>
    <p:sldLayoutId id="2147483674" r:id="rId11"/>
    <p:sldLayoutId id="214748367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F5AFF-C051-488B-A097-2466CA503F65}" type="datetimeFigureOut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31/07/2026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4194F0-7A23-4FA5-B2C4-58EA214E89D0}" type="slidenum">
              <a:rPr kumimoji="0" lang="pt-BR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altLang="pt-B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65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2"/>
          <p:cNvSpPr>
            <a:spLocks noGrp="1"/>
          </p:cNvSpPr>
          <p:nvPr>
            <p:ph type="sldNum" sz="quarter" idx="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342900" marR="0" lvl="0" indent="-34290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D1AE30-38B6-4201-8935-11E5FF509D72}" type="slidenum">
              <a:rPr kumimoji="0" lang="pt-BR" altLang="pt-BR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342900" marR="0" lvl="0" indent="-34290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altLang="pt-B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6452665" y="6356349"/>
            <a:ext cx="3528392" cy="365126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Arial" charset="0"/>
              </a:rPr>
              <a:t>Professor: Leonardo Pol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1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6E6841F1-1496-40DC-8535-F6D1A74D6AB7}"/>
              </a:ext>
            </a:extLst>
          </p:cNvPr>
          <p:cNvSpPr txBox="1">
            <a:spLocks/>
          </p:cNvSpPr>
          <p:nvPr/>
        </p:nvSpPr>
        <p:spPr>
          <a:xfrm>
            <a:off x="1847528" y="2608289"/>
            <a:ext cx="9709888" cy="1259173"/>
          </a:xfrm>
          <a:prstGeom prst="rect">
            <a:avLst/>
          </a:prstGeom>
          <a:solidFill>
            <a:srgbClr val="43054E"/>
          </a:solidFill>
        </p:spPr>
        <p:txBody>
          <a:bodyPr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Aft>
                <a:spcPct val="0"/>
              </a:spcAft>
              <a:buNone/>
            </a:pPr>
            <a:r>
              <a:rPr lang="pt-BR" altLang="pt-BR" sz="2800" b="1" dirty="0">
                <a:solidFill>
                  <a:prstClr val="white"/>
                </a:solidFill>
                <a:latin typeface="Bookman Old Style" panose="02050604050505020204" pitchFamily="18" charset="0"/>
              </a:rPr>
              <a:t>Aula – 2</a:t>
            </a:r>
          </a:p>
          <a:p>
            <a:pPr marL="0" indent="0" algn="ctr" fontAlgn="base">
              <a:spcAft>
                <a:spcPct val="0"/>
              </a:spcAft>
              <a:buNone/>
            </a:pPr>
            <a:r>
              <a:rPr lang="pt-BR" altLang="pt-BR" sz="2800" b="1" dirty="0">
                <a:solidFill>
                  <a:prstClr val="white"/>
                </a:solidFill>
                <a:latin typeface="Bookman Old Style" panose="02050604050505020204" pitchFamily="18" charset="0"/>
              </a:rPr>
              <a:t>Assunto: Breve história e os Pilares da Qualidade</a:t>
            </a:r>
          </a:p>
          <a:p>
            <a:pPr marL="0" indent="0" algn="ctr" fontAlgn="base">
              <a:spcAft>
                <a:spcPct val="0"/>
              </a:spcAft>
              <a:buNone/>
            </a:pPr>
            <a:endParaRPr lang="pt-BR" altLang="pt-BR" sz="2800" b="1" dirty="0">
              <a:solidFill>
                <a:prstClr val="white"/>
              </a:solidFill>
              <a:latin typeface="Bookman Old Style" panose="02050604050505020204" pitchFamily="18" charset="0"/>
            </a:endParaRPr>
          </a:p>
          <a:p>
            <a:pPr marL="0" indent="0" algn="ctr" fontAlgn="base">
              <a:spcAft>
                <a:spcPct val="0"/>
              </a:spcAft>
              <a:buNone/>
            </a:pPr>
            <a:r>
              <a:rPr lang="pt-BR" altLang="pt-BR" sz="2800" b="1" dirty="0">
                <a:solidFill>
                  <a:prstClr val="white"/>
                </a:solidFill>
                <a:latin typeface="Bookman Old Style" panose="02050604050505020204" pitchFamily="18" charset="0"/>
              </a:rPr>
              <a:t> </a:t>
            </a:r>
            <a:br>
              <a:rPr lang="pt-BR" altLang="pt-BR" sz="2800" b="1" dirty="0">
                <a:solidFill>
                  <a:prstClr val="white"/>
                </a:solidFill>
                <a:latin typeface="Bookman Old Style" panose="02050604050505020204" pitchFamily="18" charset="0"/>
              </a:rPr>
            </a:br>
            <a:endParaRPr lang="pt-BR" sz="2800" b="1" dirty="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45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2723" y="899439"/>
            <a:ext cx="2186359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"/>
                <a:cs typeface="Calibri"/>
              </a:rPr>
              <a:t>Su</a:t>
            </a:r>
            <a:r>
              <a:rPr sz="4000" spc="-15" dirty="0">
                <a:latin typeface="Calibri"/>
                <a:cs typeface="Calibri"/>
              </a:rPr>
              <a:t>m</a:t>
            </a:r>
            <a:r>
              <a:rPr sz="4000" spc="-25" dirty="0">
                <a:latin typeface="Calibri"/>
                <a:cs typeface="Calibri"/>
              </a:rPr>
              <a:t>á</a:t>
            </a:r>
            <a:r>
              <a:rPr sz="4000" spc="-35" dirty="0">
                <a:latin typeface="Calibri"/>
                <a:cs typeface="Calibri"/>
              </a:rPr>
              <a:t>r</a:t>
            </a:r>
            <a:r>
              <a:rPr sz="4000" spc="-25" dirty="0">
                <a:latin typeface="Calibri"/>
                <a:cs typeface="Calibri"/>
              </a:rPr>
              <a:t>i</a:t>
            </a:r>
            <a:r>
              <a:rPr sz="4000" spc="-5" dirty="0">
                <a:latin typeface="Calibri"/>
                <a:cs typeface="Calibri"/>
              </a:rPr>
              <a:t>o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6196" y="6488174"/>
            <a:ext cx="15367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0862" y="2052951"/>
            <a:ext cx="5814060" cy="29835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2575"/>
              </a:spcBef>
              <a:buClr>
                <a:srgbClr val="9ABA59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30" dirty="0" err="1">
                <a:latin typeface="Calibri"/>
                <a:cs typeface="Calibri"/>
              </a:rPr>
              <a:t>História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2605"/>
              </a:spcBef>
              <a:buClr>
                <a:srgbClr val="9ABA59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Definição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2615"/>
              </a:spcBef>
              <a:buClr>
                <a:srgbClr val="9ABA59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Principais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pensadores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2605"/>
              </a:spcBef>
              <a:buClr>
                <a:srgbClr val="9ABA59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Pilares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qualidade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493" y="1720803"/>
            <a:ext cx="1941169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Calibri"/>
                <a:cs typeface="Calibri"/>
              </a:rPr>
              <a:t>H</a:t>
            </a:r>
            <a:r>
              <a:rPr sz="4000" spc="-15" dirty="0">
                <a:latin typeface="Calibri"/>
                <a:cs typeface="Calibri"/>
              </a:rPr>
              <a:t>i</a:t>
            </a:r>
            <a:r>
              <a:rPr sz="4000" spc="-120" dirty="0">
                <a:latin typeface="Calibri"/>
                <a:cs typeface="Calibri"/>
              </a:rPr>
              <a:t>s</a:t>
            </a:r>
            <a:r>
              <a:rPr sz="4000" spc="-85" dirty="0">
                <a:latin typeface="Calibri"/>
                <a:cs typeface="Calibri"/>
              </a:rPr>
              <a:t>t</a:t>
            </a:r>
            <a:r>
              <a:rPr sz="4000" spc="-25" dirty="0">
                <a:latin typeface="Calibri"/>
                <a:cs typeface="Calibri"/>
              </a:rPr>
              <a:t>ó</a:t>
            </a:r>
            <a:r>
              <a:rPr sz="4000" spc="-35" dirty="0">
                <a:latin typeface="Calibri"/>
                <a:cs typeface="Calibri"/>
              </a:rPr>
              <a:t>r</a:t>
            </a:r>
            <a:r>
              <a:rPr sz="4000" spc="-25" dirty="0">
                <a:latin typeface="Calibri"/>
                <a:cs typeface="Calibri"/>
              </a:rPr>
              <a:t>i</a:t>
            </a:r>
            <a:r>
              <a:rPr sz="4000" spc="-5" dirty="0">
                <a:latin typeface="Calibri"/>
                <a:cs typeface="Calibri"/>
              </a:rPr>
              <a:t>a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6196" y="6488174"/>
            <a:ext cx="15367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20109" y="2557172"/>
            <a:ext cx="779335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3975" indent="-287020">
              <a:lnSpc>
                <a:spcPct val="15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20" dirty="0">
                <a:latin typeface="Calibri"/>
                <a:cs typeface="Calibri"/>
              </a:rPr>
              <a:t>Na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antiguidade,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30" dirty="0">
                <a:latin typeface="Calibri"/>
                <a:cs typeface="Calibri"/>
              </a:rPr>
              <a:t>construtor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spc="-20" dirty="0">
                <a:latin typeface="Calibri"/>
                <a:cs typeface="Calibri"/>
              </a:rPr>
              <a:t>construísse </a:t>
            </a:r>
            <a:r>
              <a:rPr sz="2400" spc="-15" dirty="0">
                <a:latin typeface="Calibri"/>
                <a:cs typeface="Calibri"/>
              </a:rPr>
              <a:t>uma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casa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desmoronasse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era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condenado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morte;</a:t>
            </a:r>
            <a:endParaRPr sz="2400">
              <a:latin typeface="Calibri"/>
              <a:cs typeface="Calibri"/>
            </a:endParaRPr>
          </a:p>
          <a:p>
            <a:pPr marL="299085" marR="53340" indent="-287020">
              <a:lnSpc>
                <a:spcPct val="150000"/>
              </a:lnSpc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15" dirty="0">
                <a:latin typeface="Calibri"/>
                <a:cs typeface="Calibri"/>
              </a:rPr>
              <a:t>Ao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final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II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Guerra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mundial,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japoneses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dívidas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para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pagar,</a:t>
            </a:r>
            <a:r>
              <a:rPr sz="2400" spc="-35" dirty="0">
                <a:latin typeface="Calibri"/>
                <a:cs typeface="Calibri"/>
              </a:rPr>
              <a:t> começaram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investir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indústrias;</a:t>
            </a:r>
            <a:endParaRPr sz="2400">
              <a:latin typeface="Calibri"/>
              <a:cs typeface="Calibri"/>
            </a:endParaRPr>
          </a:p>
          <a:p>
            <a:pPr marL="299085" marR="5080" indent="-287020">
              <a:lnSpc>
                <a:spcPct val="150000"/>
              </a:lnSpc>
              <a:buClr>
                <a:srgbClr val="FF0000"/>
              </a:buClr>
              <a:buFont typeface="Arial MT"/>
              <a:buChar char="–"/>
              <a:tabLst>
                <a:tab pos="299720" algn="l"/>
                <a:tab pos="918844" algn="l"/>
                <a:tab pos="1324610" algn="l"/>
                <a:tab pos="2153285" algn="l"/>
                <a:tab pos="3067685" algn="l"/>
                <a:tab pos="3520440" algn="l"/>
                <a:tab pos="4551045" algn="l"/>
                <a:tab pos="4995545" algn="l"/>
                <a:tab pos="5992495" algn="l"/>
                <a:tab pos="6673850" algn="l"/>
              </a:tabLst>
            </a:pPr>
            <a:r>
              <a:rPr sz="2400" dirty="0">
                <a:latin typeface="Calibri"/>
                <a:cs typeface="Calibri"/>
              </a:rPr>
              <a:t>El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3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95" dirty="0">
                <a:latin typeface="Calibri"/>
                <a:cs typeface="Calibri"/>
              </a:rPr>
              <a:t>r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ia</a:t>
            </a:r>
            <a:r>
              <a:rPr sz="2400" spc="-65" dirty="0">
                <a:latin typeface="Calibri"/>
                <a:cs typeface="Calibri"/>
              </a:rPr>
              <a:t>nt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io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80" dirty="0">
                <a:latin typeface="Calibri"/>
                <a:cs typeface="Calibri"/>
              </a:rPr>
              <a:t>v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r	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u</a:t>
            </a:r>
            <a:r>
              <a:rPr sz="2400" spc="-6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os  </a:t>
            </a:r>
            <a:r>
              <a:rPr sz="2400" spc="-25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preços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menores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 </a:t>
            </a:r>
            <a:r>
              <a:rPr sz="2400" spc="-5" dirty="0">
                <a:latin typeface="Calibri"/>
                <a:cs typeface="Calibri"/>
              </a:rPr>
              <a:t>qualidade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igual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superior;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0013" y="1538740"/>
            <a:ext cx="1987823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Calibri"/>
                <a:cs typeface="Calibri"/>
              </a:rPr>
              <a:t>História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6196" y="6488174"/>
            <a:ext cx="15367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3283" y="2374293"/>
            <a:ext cx="7727315" cy="3861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Os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projetistas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japoneses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foram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obrigados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criar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</a:t>
            </a:r>
            <a:r>
              <a:rPr sz="2400" spc="-10" dirty="0">
                <a:latin typeface="Calibri"/>
                <a:cs typeface="Calibri"/>
              </a:rPr>
              <a:t>meio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produzir</a:t>
            </a:r>
            <a:r>
              <a:rPr sz="2400" spc="-25" dirty="0">
                <a:latin typeface="Calibri"/>
                <a:cs typeface="Calibri"/>
              </a:rPr>
              <a:t> produtos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dentro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custo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estipulado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spcBef>
                <a:spcPts val="1860"/>
              </a:spcBef>
              <a:buClr>
                <a:srgbClr val="9ABA59"/>
              </a:buClr>
              <a:buFont typeface="Courier New"/>
              <a:buChar char="o"/>
              <a:tabLst>
                <a:tab pos="698500" algn="l"/>
              </a:tabLst>
            </a:pPr>
            <a:r>
              <a:rPr sz="2400" spc="-30" dirty="0">
                <a:latin typeface="Calibri"/>
                <a:cs typeface="Calibri"/>
              </a:rPr>
              <a:t>Custo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35" dirty="0">
                <a:latin typeface="Calibri"/>
                <a:cs typeface="Calibri"/>
              </a:rPr>
              <a:t>preço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margem;</a:t>
            </a:r>
            <a:endParaRPr sz="2400">
              <a:latin typeface="Calibri"/>
              <a:cs typeface="Calibri"/>
            </a:endParaRPr>
          </a:p>
          <a:p>
            <a:pPr marL="299085" indent="-287020">
              <a:spcBef>
                <a:spcPts val="98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40" dirty="0">
                <a:latin typeface="Calibri"/>
                <a:cs typeface="Calibri"/>
              </a:rPr>
              <a:t>Logo,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deveriam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eliminar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itens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não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agregassem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valor</a:t>
            </a:r>
            <a:endParaRPr sz="2400">
              <a:latin typeface="Calibri"/>
              <a:cs typeface="Calibri"/>
            </a:endParaRPr>
          </a:p>
          <a:p>
            <a:pPr marL="299085"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ao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produto:</a:t>
            </a:r>
            <a:endParaRPr sz="2400">
              <a:latin typeface="Calibri"/>
              <a:cs typeface="Calibri"/>
            </a:endParaRPr>
          </a:p>
          <a:p>
            <a:pPr marL="698500" marR="48260" lvl="1" indent="-228600">
              <a:lnSpc>
                <a:spcPct val="150000"/>
              </a:lnSpc>
              <a:buClr>
                <a:srgbClr val="9ABA59"/>
              </a:buClr>
              <a:buFont typeface="Courier New"/>
              <a:buChar char="o"/>
              <a:tabLst>
                <a:tab pos="698500" algn="l"/>
              </a:tabLst>
            </a:pPr>
            <a:r>
              <a:rPr sz="2400" spc="-100" dirty="0">
                <a:latin typeface="Calibri"/>
                <a:cs typeface="Calibri"/>
              </a:rPr>
              <a:t>Tempo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ocioso,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troca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ferramentas,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sujeiras,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estoques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trânsito,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defeitos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etc;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2589" y="737603"/>
            <a:ext cx="2114015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Calibri"/>
                <a:cs typeface="Calibri"/>
              </a:rPr>
              <a:t>História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6196" y="6488174"/>
            <a:ext cx="15367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7719" y="1621182"/>
            <a:ext cx="7820025" cy="3861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5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japoneses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desenvolveram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método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controle</a:t>
            </a:r>
            <a:r>
              <a:rPr sz="2400" spc="-25" dirty="0">
                <a:latin typeface="Calibri"/>
                <a:cs typeface="Calibri"/>
              </a:rPr>
              <a:t> de 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qualidade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ao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invés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eliminar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peças</a:t>
            </a:r>
            <a:r>
              <a:rPr sz="2400" spc="484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defeituosas 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buscava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evitar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 </a:t>
            </a:r>
            <a:r>
              <a:rPr sz="2400" spc="-35" dirty="0">
                <a:latin typeface="Calibri"/>
                <a:cs typeface="Calibri"/>
              </a:rPr>
              <a:t>defeitos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ocorressem;</a:t>
            </a:r>
            <a:endParaRPr sz="2400">
              <a:latin typeface="Calibri"/>
              <a:cs typeface="Calibri"/>
            </a:endParaRPr>
          </a:p>
          <a:p>
            <a:pPr marL="299085" indent="-287020" algn="just">
              <a:spcBef>
                <a:spcPts val="186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15" dirty="0">
                <a:latin typeface="Calibri"/>
                <a:cs typeface="Calibri"/>
              </a:rPr>
              <a:t>Década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1970: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Qualidade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Software;</a:t>
            </a:r>
            <a:endParaRPr sz="2400">
              <a:latin typeface="Calibri"/>
              <a:cs typeface="Calibri"/>
            </a:endParaRPr>
          </a:p>
          <a:p>
            <a:pPr marL="299085" indent="-287020" algn="just">
              <a:spcBef>
                <a:spcPts val="985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8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1987</a:t>
            </a:r>
            <a:r>
              <a:rPr sz="2400" spc="79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com</a:t>
            </a:r>
            <a:r>
              <a:rPr sz="2400" spc="7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criação</a:t>
            </a:r>
            <a:r>
              <a:rPr sz="2400" spc="8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8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ISO9000,</a:t>
            </a:r>
            <a:r>
              <a:rPr sz="2400" spc="7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houve</a:t>
            </a:r>
            <a:r>
              <a:rPr sz="2400" spc="8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uma</a:t>
            </a:r>
            <a:r>
              <a:rPr sz="2400" spc="7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maior</a:t>
            </a:r>
            <a:endParaRPr sz="2400">
              <a:latin typeface="Calibri"/>
              <a:cs typeface="Calibri"/>
            </a:endParaRPr>
          </a:p>
          <a:p>
            <a:pPr marL="299085" marR="5080" algn="just">
              <a:lnSpc>
                <a:spcPct val="150000"/>
              </a:lnSpc>
            </a:pPr>
            <a:r>
              <a:rPr sz="2400" spc="-15" dirty="0">
                <a:latin typeface="Calibri"/>
                <a:cs typeface="Calibri"/>
              </a:rPr>
              <a:t>popularização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preocupação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</a:t>
            </a:r>
            <a:r>
              <a:rPr sz="2400" spc="-20" dirty="0">
                <a:latin typeface="Calibri"/>
                <a:cs typeface="Calibri"/>
              </a:rPr>
              <a:t> certificações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por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parte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indústrias.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2908" y="128131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51596" y="645007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96175" y="1215984"/>
            <a:ext cx="5213521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Mas, </a:t>
            </a:r>
            <a:r>
              <a:rPr spc="-5" dirty="0"/>
              <a:t>o</a:t>
            </a:r>
            <a:r>
              <a:rPr spc="-60" dirty="0"/>
              <a:t> </a:t>
            </a:r>
            <a:r>
              <a:rPr spc="-20" dirty="0"/>
              <a:t>que</a:t>
            </a:r>
            <a:r>
              <a:rPr spc="-5" dirty="0"/>
              <a:t> é</a:t>
            </a:r>
            <a:r>
              <a:rPr spc="-25" dirty="0"/>
              <a:t> qualidade?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96175" y="1886714"/>
            <a:ext cx="8953907" cy="42105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termo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bastante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subjetivo</a:t>
            </a:r>
            <a:r>
              <a:rPr sz="2400" spc="-30" dirty="0">
                <a:latin typeface="Calibri"/>
                <a:cs typeface="Calibri"/>
              </a:rPr>
              <a:t>,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depende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percepção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pessoas;</a:t>
            </a:r>
            <a:endParaRPr sz="2400" dirty="0">
              <a:latin typeface="Calibri"/>
              <a:cs typeface="Calibri"/>
            </a:endParaRPr>
          </a:p>
          <a:p>
            <a:pPr marL="299085" marR="6350" indent="-287020">
              <a:lnSpc>
                <a:spcPct val="150000"/>
              </a:lnSpc>
              <a:buClr>
                <a:srgbClr val="FF0000"/>
              </a:buClr>
              <a:buFont typeface="Arial MT"/>
              <a:buChar char="–"/>
              <a:tabLst>
                <a:tab pos="299720" algn="l"/>
                <a:tab pos="891540" algn="l"/>
                <a:tab pos="2160905" algn="l"/>
                <a:tab pos="3134995" algn="l"/>
                <a:tab pos="3604260" algn="l"/>
                <a:tab pos="4366260" algn="l"/>
                <a:tab pos="5669280" algn="l"/>
                <a:tab pos="6555105" algn="l"/>
                <a:tab pos="7420609" algn="l"/>
              </a:tabLst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spc="-5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45" dirty="0">
                <a:latin typeface="Calibri"/>
                <a:cs typeface="Calibri"/>
              </a:rPr>
              <a:t>ç</a:t>
            </a:r>
            <a:r>
              <a:rPr sz="2400" spc="-10" dirty="0">
                <a:latin typeface="Calibri"/>
                <a:cs typeface="Calibri"/>
              </a:rPr>
              <a:t>ã</a:t>
            </a:r>
            <a:r>
              <a:rPr sz="2400" dirty="0">
                <a:latin typeface="Calibri"/>
                <a:cs typeface="Calibri"/>
              </a:rPr>
              <a:t>o	a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55" dirty="0">
                <a:latin typeface="Calibri"/>
                <a:cs typeface="Calibri"/>
              </a:rPr>
              <a:t>v</a:t>
            </a:r>
            <a:r>
              <a:rPr sz="2400" spc="-20" dirty="0">
                <a:latin typeface="Calibri"/>
                <a:cs typeface="Calibri"/>
              </a:rPr>
              <a:t>é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10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o	l</a:t>
            </a:r>
            <a:r>
              <a:rPr sz="2400" spc="-6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i="1" spc="-10" dirty="0">
                <a:latin typeface="Calibri"/>
                <a:cs typeface="Calibri"/>
              </a:rPr>
              <a:t>q</a:t>
            </a:r>
            <a:r>
              <a:rPr sz="2400" i="1" spc="-25" dirty="0">
                <a:latin typeface="Calibri"/>
                <a:cs typeface="Calibri"/>
              </a:rPr>
              <a:t>u</a:t>
            </a:r>
            <a:r>
              <a:rPr sz="2400" i="1" spc="-10" dirty="0">
                <a:latin typeface="Calibri"/>
                <a:cs typeface="Calibri"/>
              </a:rPr>
              <a:t>a</a:t>
            </a:r>
            <a:r>
              <a:rPr sz="2400" i="1" spc="-15" dirty="0">
                <a:latin typeface="Calibri"/>
                <a:cs typeface="Calibri"/>
              </a:rPr>
              <a:t>li</a:t>
            </a:r>
            <a:r>
              <a:rPr sz="2400" i="1" spc="-85" dirty="0">
                <a:latin typeface="Calibri"/>
                <a:cs typeface="Calibri"/>
              </a:rPr>
              <a:t>t</a:t>
            </a:r>
            <a:r>
              <a:rPr sz="2400" i="1" spc="-10" dirty="0">
                <a:latin typeface="Calibri"/>
                <a:cs typeface="Calibri"/>
              </a:rPr>
              <a:t>a</a:t>
            </a:r>
            <a:r>
              <a:rPr sz="2400" i="1" spc="-75" dirty="0">
                <a:latin typeface="Calibri"/>
                <a:cs typeface="Calibri"/>
              </a:rPr>
              <a:t>t</a:t>
            </a:r>
            <a:r>
              <a:rPr sz="2400" i="1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,	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nd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15" dirty="0">
                <a:latin typeface="Calibri"/>
                <a:cs typeface="Calibri"/>
              </a:rPr>
              <a:t>u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35" dirty="0">
                <a:latin typeface="Calibri"/>
                <a:cs typeface="Calibri"/>
              </a:rPr>
              <a:t>em  </a:t>
            </a:r>
            <a:r>
              <a:rPr sz="2400" spc="-10" dirty="0">
                <a:latin typeface="Calibri"/>
                <a:cs typeface="Calibri"/>
              </a:rPr>
              <a:t>situações</a:t>
            </a:r>
            <a:r>
              <a:rPr sz="2400" spc="-35" dirty="0">
                <a:latin typeface="Calibri"/>
                <a:cs typeface="Calibri"/>
              </a:rPr>
              <a:t> bastante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distintas: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spcBef>
                <a:spcPts val="1680"/>
              </a:spcBef>
              <a:buClr>
                <a:srgbClr val="9ABA59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ibri"/>
                <a:cs typeface="Calibri"/>
              </a:rPr>
              <a:t>Qualidade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vida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spcBef>
                <a:spcPts val="1200"/>
              </a:spcBef>
              <a:buClr>
                <a:srgbClr val="9ABA59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ibri"/>
                <a:cs typeface="Calibri"/>
              </a:rPr>
              <a:t>Qualidade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conexão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banda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larga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sinal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endParaRPr sz="2000" dirty="0">
              <a:latin typeface="Calibri"/>
              <a:cs typeface="Calibri"/>
            </a:endParaRPr>
          </a:p>
          <a:p>
            <a:pPr marL="299085" indent="-287020">
              <a:spcBef>
                <a:spcPts val="96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  <a:tab pos="772795" algn="l"/>
                <a:tab pos="1911350" algn="l"/>
                <a:tab pos="2712720" algn="l"/>
                <a:tab pos="2997835" algn="l"/>
                <a:tab pos="5337175" algn="l"/>
                <a:tab pos="5970905" algn="l"/>
                <a:tab pos="7507605" algn="l"/>
              </a:tabLst>
            </a:pP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25" dirty="0">
                <a:latin typeface="Calibri"/>
                <a:cs typeface="Calibri"/>
              </a:rPr>
              <a:t>man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9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90" dirty="0">
                <a:latin typeface="Calibri"/>
                <a:cs typeface="Calibri"/>
              </a:rPr>
              <a:t>g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12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,	a	</a:t>
            </a:r>
            <a:r>
              <a:rPr sz="2400" spc="-15" dirty="0">
                <a:latin typeface="Calibri"/>
                <a:cs typeface="Calibri"/>
              </a:rPr>
              <a:t>pa</a:t>
            </a:r>
            <a:r>
              <a:rPr sz="2400" spc="-10" dirty="0">
                <a:latin typeface="Calibri"/>
                <a:cs typeface="Calibri"/>
              </a:rPr>
              <a:t>l</a:t>
            </a:r>
            <a:r>
              <a:rPr sz="2400" spc="-85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2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q</a:t>
            </a:r>
            <a:r>
              <a:rPr sz="2400" spc="-2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lid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75" dirty="0">
                <a:latin typeface="Calibri"/>
                <a:cs typeface="Calibri"/>
              </a:rPr>
              <a:t>st</a:t>
            </a:r>
            <a:r>
              <a:rPr sz="2400" dirty="0">
                <a:latin typeface="Calibri"/>
                <a:cs typeface="Calibri"/>
              </a:rPr>
              <a:t>á	</a:t>
            </a:r>
            <a:r>
              <a:rPr sz="2400" spc="-105" dirty="0">
                <a:latin typeface="Calibri"/>
                <a:cs typeface="Calibri"/>
              </a:rPr>
              <a:t>r</a:t>
            </a:r>
            <a:r>
              <a:rPr sz="2400" spc="-35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la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spc="-25" dirty="0">
                <a:latin typeface="Calibri"/>
                <a:cs typeface="Calibri"/>
              </a:rPr>
              <a:t>i</a:t>
            </a:r>
            <a:r>
              <a:rPr sz="2400" spc="-45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nad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25" dirty="0">
                <a:latin typeface="Calibri"/>
                <a:cs typeface="Calibri"/>
              </a:rPr>
              <a:t>ao</a:t>
            </a:r>
            <a:endParaRPr sz="2400" dirty="0">
              <a:latin typeface="Calibri"/>
              <a:cs typeface="Calibri"/>
            </a:endParaRPr>
          </a:p>
          <a:p>
            <a:pPr marL="299085" marR="6985">
              <a:lnSpc>
                <a:spcPct val="150000"/>
              </a:lnSpc>
              <a:tabLst>
                <a:tab pos="1396365" algn="l"/>
                <a:tab pos="2023745" algn="l"/>
                <a:tab pos="3240405" algn="l"/>
                <a:tab pos="3782695" algn="l"/>
                <a:tab pos="4863465" algn="l"/>
                <a:tab pos="6233160" algn="l"/>
                <a:tab pos="7406640" algn="l"/>
              </a:tabLst>
            </a:pP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nt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2400" u="heavy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u	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2400" u="heavy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24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24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ç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70" dirty="0">
                <a:latin typeface="Calibri"/>
                <a:cs typeface="Calibri"/>
              </a:rPr>
              <a:t>c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ns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g</a:t>
            </a:r>
            <a:r>
              <a:rPr sz="2400" spc="-1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6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nd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r	</a:t>
            </a:r>
            <a:r>
              <a:rPr sz="2400" spc="-15" dirty="0">
                <a:latin typeface="Calibri"/>
                <a:cs typeface="Calibri"/>
              </a:rPr>
              <a:t>um  </a:t>
            </a:r>
            <a:r>
              <a:rPr sz="2400" spc="-30" dirty="0">
                <a:latin typeface="Calibri"/>
                <a:cs typeface="Calibri"/>
              </a:rPr>
              <a:t>conjunto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necessidades.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6958" y="1243374"/>
            <a:ext cx="3184372" cy="494366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spc="-10" dirty="0"/>
              <a:t>Qualidade</a:t>
            </a:r>
            <a:r>
              <a:rPr sz="3050" spc="-75" dirty="0"/>
              <a:t> </a:t>
            </a:r>
            <a:r>
              <a:rPr sz="3050" spc="-5" dirty="0"/>
              <a:t>(1)</a:t>
            </a:r>
            <a:endParaRPr sz="305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94083" y="2212486"/>
            <a:ext cx="9603833" cy="3356688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41630" indent="-329565">
              <a:spcBef>
                <a:spcPts val="640"/>
              </a:spcBef>
              <a:buClr>
                <a:srgbClr val="9ABA59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3050" spc="-20" dirty="0">
                <a:latin typeface="Calibri"/>
                <a:cs typeface="Calibri"/>
              </a:rPr>
              <a:t>[Infopédia, </a:t>
            </a:r>
            <a:r>
              <a:rPr sz="3050" spc="-40" dirty="0">
                <a:latin typeface="Calibri"/>
                <a:cs typeface="Calibri"/>
              </a:rPr>
              <a:t>Porto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40" dirty="0">
                <a:latin typeface="Calibri"/>
                <a:cs typeface="Calibri"/>
              </a:rPr>
              <a:t>Editora,</a:t>
            </a:r>
            <a:r>
              <a:rPr sz="3050" spc="-5" dirty="0">
                <a:latin typeface="Calibri"/>
                <a:cs typeface="Calibri"/>
              </a:rPr>
              <a:t> 2005]:</a:t>
            </a:r>
            <a:endParaRPr sz="3050" dirty="0">
              <a:latin typeface="Calibri"/>
              <a:cs typeface="Calibri"/>
            </a:endParaRPr>
          </a:p>
          <a:p>
            <a:pPr marL="891540" marR="5080" lvl="1" indent="-495300">
              <a:lnSpc>
                <a:spcPct val="99100"/>
              </a:lnSpc>
              <a:spcBef>
                <a:spcPts val="509"/>
              </a:spcBef>
              <a:buClr>
                <a:srgbClr val="FF0000"/>
              </a:buClr>
              <a:buAutoNum type="arabicPeriod"/>
              <a:tabLst>
                <a:tab pos="890269" algn="l"/>
                <a:tab pos="890905" algn="l"/>
              </a:tabLst>
            </a:pPr>
            <a:r>
              <a:rPr sz="2700" spc="-35" dirty="0">
                <a:latin typeface="Calibri"/>
                <a:cs typeface="Calibri"/>
              </a:rPr>
              <a:t>Propriedade </a:t>
            </a:r>
            <a:r>
              <a:rPr sz="2700" spc="-10" dirty="0">
                <a:latin typeface="Calibri"/>
                <a:cs typeface="Calibri"/>
              </a:rPr>
              <a:t>ou </a:t>
            </a:r>
            <a:r>
              <a:rPr sz="2700" spc="-40" dirty="0">
                <a:latin typeface="Calibri"/>
                <a:cs typeface="Calibri"/>
              </a:rPr>
              <a:t>condição </a:t>
            </a:r>
            <a:r>
              <a:rPr sz="2700" spc="-50" dirty="0">
                <a:latin typeface="Calibri"/>
                <a:cs typeface="Calibri"/>
              </a:rPr>
              <a:t>natural </a:t>
            </a:r>
            <a:r>
              <a:rPr sz="2700" spc="-20" dirty="0">
                <a:latin typeface="Calibri"/>
                <a:cs typeface="Calibri"/>
              </a:rPr>
              <a:t>de </a:t>
            </a:r>
            <a:r>
              <a:rPr sz="2700" spc="-30" dirty="0">
                <a:latin typeface="Calibri"/>
                <a:cs typeface="Calibri"/>
              </a:rPr>
              <a:t>uma </a:t>
            </a:r>
            <a:r>
              <a:rPr sz="2700" spc="-25" dirty="0">
                <a:latin typeface="Calibri"/>
                <a:cs typeface="Calibri"/>
              </a:rPr>
              <a:t>pessoa </a:t>
            </a:r>
            <a:r>
              <a:rPr sz="2700" spc="-20" dirty="0">
                <a:latin typeface="Calibri"/>
                <a:cs typeface="Calibri"/>
              </a:rPr>
              <a:t>ou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coisa </a:t>
            </a:r>
            <a:r>
              <a:rPr sz="2700" spc="-25" dirty="0">
                <a:latin typeface="Calibri"/>
                <a:cs typeface="Calibri"/>
              </a:rPr>
              <a:t>que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35" dirty="0">
                <a:latin typeface="Calibri"/>
                <a:cs typeface="Calibri"/>
              </a:rPr>
              <a:t>distingue </a:t>
            </a:r>
            <a:r>
              <a:rPr sz="2700" spc="-20" dirty="0">
                <a:latin typeface="Calibri"/>
                <a:cs typeface="Calibri"/>
              </a:rPr>
              <a:t>das </a:t>
            </a:r>
            <a:r>
              <a:rPr sz="2700" spc="-40" dirty="0">
                <a:latin typeface="Calibri"/>
                <a:cs typeface="Calibri"/>
              </a:rPr>
              <a:t>outras; </a:t>
            </a:r>
            <a:r>
              <a:rPr sz="2700" spc="-35" dirty="0">
                <a:latin typeface="Calibri"/>
                <a:cs typeface="Calibri"/>
              </a:rPr>
              <a:t>atributo; 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característica;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predicado;</a:t>
            </a:r>
            <a:endParaRPr sz="2700" dirty="0">
              <a:latin typeface="Calibri"/>
              <a:cs typeface="Calibri"/>
            </a:endParaRPr>
          </a:p>
          <a:p>
            <a:pPr marL="890269" lvl="1" indent="-494665">
              <a:spcBef>
                <a:spcPts val="495"/>
              </a:spcBef>
              <a:buClr>
                <a:srgbClr val="FF0000"/>
              </a:buClr>
              <a:buAutoNum type="arabicPeriod"/>
              <a:tabLst>
                <a:tab pos="890269" algn="l"/>
                <a:tab pos="890905" algn="l"/>
              </a:tabLst>
            </a:pPr>
            <a:r>
              <a:rPr sz="2700" spc="-25" dirty="0">
                <a:latin typeface="Calibri"/>
                <a:cs typeface="Calibri"/>
              </a:rPr>
              <a:t>aptidão;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capacidade;</a:t>
            </a:r>
            <a:endParaRPr sz="2700" dirty="0">
              <a:latin typeface="Calibri"/>
              <a:cs typeface="Calibri"/>
            </a:endParaRPr>
          </a:p>
          <a:p>
            <a:pPr marL="890269" lvl="1" indent="-494665">
              <a:spcBef>
                <a:spcPts val="505"/>
              </a:spcBef>
              <a:buClr>
                <a:srgbClr val="FF0000"/>
              </a:buClr>
              <a:buAutoNum type="arabicPeriod"/>
              <a:tabLst>
                <a:tab pos="890269" algn="l"/>
                <a:tab pos="890905" algn="l"/>
              </a:tabLst>
            </a:pPr>
            <a:r>
              <a:rPr sz="2700" spc="-25" dirty="0">
                <a:latin typeface="Calibri"/>
                <a:cs typeface="Calibri"/>
              </a:rPr>
              <a:t>dom;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virtude;</a:t>
            </a:r>
            <a:endParaRPr sz="2700" dirty="0">
              <a:latin typeface="Calibri"/>
              <a:cs typeface="Calibri"/>
            </a:endParaRPr>
          </a:p>
          <a:p>
            <a:pPr marL="890269" lvl="1" indent="-494665">
              <a:spcBef>
                <a:spcPts val="500"/>
              </a:spcBef>
              <a:buClr>
                <a:srgbClr val="FF0000"/>
              </a:buClr>
              <a:buAutoNum type="arabicPeriod"/>
              <a:tabLst>
                <a:tab pos="890269" algn="l"/>
                <a:tab pos="890905" algn="l"/>
              </a:tabLst>
            </a:pPr>
            <a:r>
              <a:rPr sz="2700" spc="-25" dirty="0">
                <a:latin typeface="Calibri"/>
                <a:cs typeface="Calibri"/>
              </a:rPr>
              <a:t>modo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ser;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5" dirty="0">
                <a:latin typeface="Calibri"/>
                <a:cs typeface="Calibri"/>
              </a:rPr>
              <a:t>caráter;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índole;</a:t>
            </a:r>
            <a:endParaRPr sz="2700" dirty="0">
              <a:latin typeface="Calibri"/>
              <a:cs typeface="Calibri"/>
            </a:endParaRPr>
          </a:p>
          <a:p>
            <a:pPr marL="890269" lvl="1" indent="-494665">
              <a:spcBef>
                <a:spcPts val="495"/>
              </a:spcBef>
              <a:buClr>
                <a:srgbClr val="FF0000"/>
              </a:buClr>
              <a:buAutoNum type="arabicPeriod"/>
              <a:tabLst>
                <a:tab pos="890269" algn="l"/>
                <a:tab pos="890905" algn="l"/>
              </a:tabLst>
            </a:pPr>
            <a:r>
              <a:rPr sz="2700" spc="-35" dirty="0">
                <a:latin typeface="Calibri"/>
                <a:cs typeface="Calibri"/>
              </a:rPr>
              <a:t>importância; valor; </a:t>
            </a:r>
            <a:r>
              <a:rPr sz="2700" spc="-40" dirty="0">
                <a:latin typeface="Calibri"/>
                <a:cs typeface="Calibri"/>
              </a:rPr>
              <a:t>distinção.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9</a:t>
            </a:fld>
            <a:endParaRPr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8284C3A-5806-B7FA-DA95-C4AFB95AA9EF}"/>
              </a:ext>
            </a:extLst>
          </p:cNvPr>
          <p:cNvSpPr txBox="1"/>
          <p:nvPr/>
        </p:nvSpPr>
        <p:spPr>
          <a:xfrm>
            <a:off x="1538542" y="1029335"/>
            <a:ext cx="9098356" cy="39145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900" b="1" spc="-5" dirty="0">
                <a:latin typeface="Calibri"/>
                <a:cs typeface="Calibri"/>
              </a:rPr>
              <a:t>Qualidade</a:t>
            </a:r>
            <a:r>
              <a:rPr sz="2900" b="1" spc="-95" dirty="0">
                <a:latin typeface="Calibri"/>
                <a:cs typeface="Calibri"/>
              </a:rPr>
              <a:t> </a:t>
            </a:r>
            <a:r>
              <a:rPr sz="2900" b="1" spc="-5" dirty="0">
                <a:latin typeface="Calibri"/>
                <a:cs typeface="Calibri"/>
              </a:rPr>
              <a:t>(2)</a:t>
            </a:r>
            <a:endParaRPr sz="2900" dirty="0">
              <a:latin typeface="Calibri"/>
              <a:cs typeface="Calibri"/>
            </a:endParaRPr>
          </a:p>
          <a:p>
            <a:pPr>
              <a:spcBef>
                <a:spcPts val="35"/>
              </a:spcBef>
            </a:pPr>
            <a:endParaRPr sz="3950" dirty="0">
              <a:latin typeface="Calibri"/>
              <a:cs typeface="Calibri"/>
            </a:endParaRPr>
          </a:p>
          <a:p>
            <a:pPr marL="325120" marR="162560" indent="-313055">
              <a:buClr>
                <a:srgbClr val="9ABA59"/>
              </a:buClr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900" spc="-20" dirty="0">
                <a:latin typeface="Calibri"/>
                <a:cs typeface="Calibri"/>
              </a:rPr>
              <a:t>Conjunto </a:t>
            </a:r>
            <a:r>
              <a:rPr sz="2900" spc="-5" dirty="0">
                <a:latin typeface="Calibri"/>
                <a:cs typeface="Calibri"/>
              </a:rPr>
              <a:t>de </a:t>
            </a:r>
            <a:r>
              <a:rPr sz="2900" spc="-10" dirty="0">
                <a:latin typeface="Calibri"/>
                <a:cs typeface="Calibri"/>
              </a:rPr>
              <a:t>propriedades </a:t>
            </a:r>
            <a:r>
              <a:rPr sz="2900" spc="-5" dirty="0">
                <a:latin typeface="Calibri"/>
                <a:cs typeface="Calibri"/>
              </a:rPr>
              <a:t>de </a:t>
            </a:r>
            <a:r>
              <a:rPr sz="2900" dirty="0">
                <a:latin typeface="Calibri"/>
                <a:cs typeface="Calibri"/>
              </a:rPr>
              <a:t>um </a:t>
            </a:r>
            <a:r>
              <a:rPr sz="2900" spc="-25" dirty="0">
                <a:latin typeface="Calibri"/>
                <a:cs typeface="Calibri"/>
              </a:rPr>
              <a:t>produto </a:t>
            </a:r>
            <a:r>
              <a:rPr sz="2900" dirty="0">
                <a:latin typeface="Calibri"/>
                <a:cs typeface="Calibri"/>
              </a:rPr>
              <a:t>ou 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spc="-15" dirty="0">
                <a:latin typeface="Calibri"/>
                <a:cs typeface="Calibri"/>
              </a:rPr>
              <a:t>serviço, </a:t>
            </a:r>
            <a:r>
              <a:rPr sz="2900" spc="-5" dirty="0">
                <a:latin typeface="Calibri"/>
                <a:cs typeface="Calibri"/>
              </a:rPr>
              <a:t>que </a:t>
            </a:r>
            <a:r>
              <a:rPr sz="2900" dirty="0">
                <a:latin typeface="Calibri"/>
                <a:cs typeface="Calibri"/>
              </a:rPr>
              <a:t>lhe </a:t>
            </a:r>
            <a:r>
              <a:rPr sz="2900" spc="-40" dirty="0">
                <a:latin typeface="Calibri"/>
                <a:cs typeface="Calibri"/>
              </a:rPr>
              <a:t>conferem </a:t>
            </a:r>
            <a:r>
              <a:rPr sz="2900" spc="-5" dirty="0">
                <a:latin typeface="Calibri"/>
                <a:cs typeface="Calibri"/>
              </a:rPr>
              <a:t>aptidões </a:t>
            </a:r>
            <a:r>
              <a:rPr sz="2900" spc="-35" dirty="0">
                <a:latin typeface="Calibri"/>
                <a:cs typeface="Calibri"/>
              </a:rPr>
              <a:t>para satisfazer </a:t>
            </a:r>
            <a:r>
              <a:rPr sz="2900" spc="-6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as </a:t>
            </a:r>
            <a:r>
              <a:rPr sz="2900" spc="-5" dirty="0">
                <a:latin typeface="Calibri"/>
                <a:cs typeface="Calibri"/>
              </a:rPr>
              <a:t>necessidades </a:t>
            </a:r>
            <a:r>
              <a:rPr sz="2900" spc="-20" dirty="0">
                <a:latin typeface="Calibri"/>
                <a:cs typeface="Calibri"/>
              </a:rPr>
              <a:t>explícitas </a:t>
            </a:r>
            <a:r>
              <a:rPr sz="2900" dirty="0">
                <a:latin typeface="Calibri"/>
                <a:cs typeface="Calibri"/>
              </a:rPr>
              <a:t>ou </a:t>
            </a:r>
            <a:r>
              <a:rPr sz="2900" spc="-15" dirty="0">
                <a:latin typeface="Calibri"/>
                <a:cs typeface="Calibri"/>
              </a:rPr>
              <a:t>implícitas </a:t>
            </a:r>
            <a:r>
              <a:rPr sz="2900" spc="-10" dirty="0">
                <a:latin typeface="Calibri"/>
                <a:cs typeface="Calibri"/>
              </a:rPr>
              <a:t>[ISO/IEC </a:t>
            </a:r>
            <a:r>
              <a:rPr sz="2900" spc="-5" dirty="0">
                <a:latin typeface="Calibri"/>
                <a:cs typeface="Calibri"/>
              </a:rPr>
              <a:t> 8402,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1994]</a:t>
            </a:r>
            <a:endParaRPr sz="2900" dirty="0">
              <a:latin typeface="Calibri"/>
              <a:cs typeface="Calibri"/>
            </a:endParaRPr>
          </a:p>
          <a:p>
            <a:pPr>
              <a:spcBef>
                <a:spcPts val="20"/>
              </a:spcBef>
              <a:buClr>
                <a:srgbClr val="9ABA59"/>
              </a:buClr>
              <a:buFont typeface="Arial MT"/>
              <a:buChar char="•"/>
            </a:pPr>
            <a:endParaRPr sz="4000" dirty="0">
              <a:latin typeface="Calibri"/>
              <a:cs typeface="Calibri"/>
            </a:endParaRPr>
          </a:p>
          <a:p>
            <a:pPr marL="324485" marR="5080" indent="-312420">
              <a:lnSpc>
                <a:spcPct val="99800"/>
              </a:lnSpc>
              <a:buClr>
                <a:srgbClr val="9ABA59"/>
              </a:buClr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2900" dirty="0">
                <a:latin typeface="Calibri"/>
                <a:cs typeface="Calibri"/>
              </a:rPr>
              <a:t>O </a:t>
            </a:r>
            <a:r>
              <a:rPr sz="2900" spc="-30" dirty="0">
                <a:latin typeface="Calibri"/>
                <a:cs typeface="Calibri"/>
              </a:rPr>
              <a:t>grau </a:t>
            </a:r>
            <a:r>
              <a:rPr sz="2900" spc="-15" dirty="0">
                <a:latin typeface="Calibri"/>
                <a:cs typeface="Calibri"/>
              </a:rPr>
              <a:t>com </a:t>
            </a:r>
            <a:r>
              <a:rPr sz="2900" spc="-5" dirty="0">
                <a:latin typeface="Calibri"/>
                <a:cs typeface="Calibri"/>
              </a:rPr>
              <a:t>que </a:t>
            </a:r>
            <a:r>
              <a:rPr sz="2900" dirty="0">
                <a:latin typeface="Calibri"/>
                <a:cs typeface="Calibri"/>
              </a:rPr>
              <a:t>um </a:t>
            </a:r>
            <a:r>
              <a:rPr sz="2900" spc="-25" dirty="0">
                <a:latin typeface="Calibri"/>
                <a:cs typeface="Calibri"/>
              </a:rPr>
              <a:t>conjunto </a:t>
            </a:r>
            <a:r>
              <a:rPr sz="2900" spc="-5" dirty="0">
                <a:latin typeface="Calibri"/>
                <a:cs typeface="Calibri"/>
              </a:rPr>
              <a:t>de </a:t>
            </a:r>
            <a:r>
              <a:rPr sz="2900" spc="-10" dirty="0">
                <a:latin typeface="Calibri"/>
                <a:cs typeface="Calibri"/>
              </a:rPr>
              <a:t>propriedades 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inerentes </a:t>
            </a:r>
            <a:r>
              <a:rPr sz="2900" dirty="0">
                <a:latin typeface="Calibri"/>
                <a:cs typeface="Calibri"/>
              </a:rPr>
              <a:t>ao </a:t>
            </a:r>
            <a:r>
              <a:rPr sz="2900" spc="-25" dirty="0">
                <a:latin typeface="Calibri"/>
                <a:cs typeface="Calibri"/>
              </a:rPr>
              <a:t>produto </a:t>
            </a:r>
            <a:r>
              <a:rPr sz="2900" spc="-30" dirty="0">
                <a:latin typeface="Calibri"/>
                <a:cs typeface="Calibri"/>
              </a:rPr>
              <a:t>satisfaz </a:t>
            </a:r>
            <a:r>
              <a:rPr sz="2900" dirty="0">
                <a:latin typeface="Calibri"/>
                <a:cs typeface="Calibri"/>
              </a:rPr>
              <a:t>os </a:t>
            </a:r>
            <a:r>
              <a:rPr sz="2900" spc="-15" dirty="0">
                <a:latin typeface="Calibri"/>
                <a:cs typeface="Calibri"/>
              </a:rPr>
              <a:t>requisitos [ISO/IEC </a:t>
            </a:r>
            <a:r>
              <a:rPr sz="2900" spc="-645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2000]</a:t>
            </a:r>
            <a:endParaRPr sz="2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79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47054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2472" y="1222905"/>
            <a:ext cx="6864984" cy="1009892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Exemplo:</a:t>
            </a:r>
            <a:r>
              <a:rPr spc="-5" dirty="0"/>
              <a:t> </a:t>
            </a:r>
            <a:r>
              <a:rPr spc="-25" dirty="0"/>
              <a:t>qual</a:t>
            </a:r>
            <a:r>
              <a:rPr spc="-10" dirty="0"/>
              <a:t> </a:t>
            </a:r>
            <a:r>
              <a:rPr spc="-25" dirty="0"/>
              <a:t>automóvel</a:t>
            </a:r>
            <a:r>
              <a:rPr spc="-5" dirty="0"/>
              <a:t> </a:t>
            </a:r>
            <a:r>
              <a:rPr spc="-25" dirty="0"/>
              <a:t>tem</a:t>
            </a:r>
            <a:r>
              <a:rPr spc="5" dirty="0"/>
              <a:t> </a:t>
            </a:r>
            <a:r>
              <a:rPr spc="-10" dirty="0"/>
              <a:t>mais</a:t>
            </a:r>
            <a:r>
              <a:rPr spc="-30" dirty="0"/>
              <a:t> </a:t>
            </a:r>
            <a:r>
              <a:rPr spc="-25" dirty="0"/>
              <a:t>qualidade?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36781" y="2490120"/>
            <a:ext cx="3459479" cy="2432050"/>
            <a:chOff x="912780" y="2490120"/>
            <a:chExt cx="3459479" cy="2432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670" y="2493006"/>
              <a:ext cx="3453139" cy="24244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4399" y="2491739"/>
              <a:ext cx="3455670" cy="2428240"/>
            </a:xfrm>
            <a:custGeom>
              <a:avLst/>
              <a:gdLst/>
              <a:ahLst/>
              <a:cxnLst/>
              <a:rect l="l" t="t" r="r" b="b"/>
              <a:pathLst>
                <a:path w="3455670" h="2428240">
                  <a:moveTo>
                    <a:pt x="0" y="0"/>
                  </a:moveTo>
                  <a:lnTo>
                    <a:pt x="3455670" y="0"/>
                  </a:lnTo>
                  <a:lnTo>
                    <a:pt x="3455670" y="2428240"/>
                  </a:lnTo>
                  <a:lnTo>
                    <a:pt x="0" y="2428240"/>
                  </a:lnTo>
                  <a:lnTo>
                    <a:pt x="0" y="0"/>
                  </a:lnTo>
                  <a:close/>
                </a:path>
              </a:pathLst>
            </a:custGeom>
            <a:ln w="32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309023" y="2519318"/>
            <a:ext cx="3606800" cy="2402840"/>
            <a:chOff x="4785023" y="2519318"/>
            <a:chExt cx="3606800" cy="24028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7888" y="2522220"/>
              <a:ext cx="3600435" cy="23952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86642" y="2520937"/>
              <a:ext cx="3602990" cy="2399665"/>
            </a:xfrm>
            <a:custGeom>
              <a:avLst/>
              <a:gdLst/>
              <a:ahLst/>
              <a:cxnLst/>
              <a:rect l="l" t="t" r="r" b="b"/>
              <a:pathLst>
                <a:path w="3602990" h="2399665">
                  <a:moveTo>
                    <a:pt x="0" y="0"/>
                  </a:moveTo>
                  <a:lnTo>
                    <a:pt x="3602977" y="0"/>
                  </a:lnTo>
                  <a:lnTo>
                    <a:pt x="3602977" y="2399042"/>
                  </a:lnTo>
                  <a:lnTo>
                    <a:pt x="0" y="2399042"/>
                  </a:lnTo>
                  <a:lnTo>
                    <a:pt x="0" y="0"/>
                  </a:lnTo>
                  <a:close/>
                </a:path>
              </a:pathLst>
            </a:custGeom>
            <a:ln w="32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18560" y="5300471"/>
            <a:ext cx="4608830" cy="844550"/>
            <a:chOff x="2194560" y="5300471"/>
            <a:chExt cx="4608830" cy="8445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4560" y="5321808"/>
              <a:ext cx="4608574" cy="8229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4560" y="5300471"/>
              <a:ext cx="4608574" cy="82295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719829" y="5311141"/>
            <a:ext cx="4607560" cy="715581"/>
          </a:xfrm>
          <a:prstGeom prst="rect">
            <a:avLst/>
          </a:prstGeom>
          <a:ln w="9347">
            <a:solidFill>
              <a:srgbClr val="97B75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3495" algn="ctr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Depende,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qualidade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endParaRPr sz="2400">
              <a:latin typeface="Calibri"/>
              <a:cs typeface="Calibri"/>
            </a:endParaRPr>
          </a:p>
          <a:p>
            <a:pPr marR="33020" algn="ctr"/>
            <a:r>
              <a:rPr sz="2400" spc="-20" dirty="0">
                <a:latin typeface="Calibri"/>
                <a:cs typeface="Calibri"/>
              </a:rPr>
              <a:t>conceito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relativo.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1191" y="1061247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0707" y="995918"/>
            <a:ext cx="8434852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Principais</a:t>
            </a:r>
            <a:r>
              <a:rPr spc="20" dirty="0"/>
              <a:t> </a:t>
            </a:r>
            <a:r>
              <a:rPr spc="-25" dirty="0"/>
              <a:t>Pensadores/Mestres/Gurus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55673" y="1683666"/>
            <a:ext cx="2709545" cy="21990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99085" indent="-287020">
              <a:spcBef>
                <a:spcPts val="15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52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50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ng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spcBef>
                <a:spcPts val="1405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20" dirty="0">
                <a:latin typeface="Calibri"/>
                <a:cs typeface="Calibri"/>
              </a:rPr>
              <a:t>Josef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Juran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spcBef>
                <a:spcPts val="1405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Philip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Crosby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spcBef>
                <a:spcPts val="138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30" dirty="0">
                <a:latin typeface="Calibri"/>
                <a:cs typeface="Calibri"/>
              </a:rPr>
              <a:t>Ishikawa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34354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2471" y="1281226"/>
            <a:ext cx="4322263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W.</a:t>
            </a:r>
            <a:r>
              <a:rPr spc="-35" dirty="0"/>
              <a:t> </a:t>
            </a:r>
            <a:r>
              <a:rPr spc="-30" dirty="0"/>
              <a:t>Edward</a:t>
            </a:r>
            <a:r>
              <a:rPr spc="-50" dirty="0"/>
              <a:t> </a:t>
            </a:r>
            <a:r>
              <a:rPr spc="-15" dirty="0"/>
              <a:t>Deming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08957" y="1976349"/>
            <a:ext cx="9582299" cy="330835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99085" indent="-287020">
              <a:spcBef>
                <a:spcPts val="15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25" dirty="0">
                <a:latin typeface="Calibri"/>
                <a:cs typeface="Calibri"/>
              </a:rPr>
              <a:t>Grande</a:t>
            </a:r>
            <a:r>
              <a:rPr sz="2400" dirty="0">
                <a:latin typeface="Calibri"/>
                <a:cs typeface="Calibri"/>
              </a:rPr>
              <a:t> líder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processo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gerenciamento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 </a:t>
            </a:r>
            <a:r>
              <a:rPr sz="2400" spc="-10" dirty="0">
                <a:latin typeface="Calibri"/>
                <a:cs typeface="Calibri"/>
              </a:rPr>
              <a:t>qualidade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spcBef>
                <a:spcPts val="1405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14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pontos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chegar </a:t>
            </a:r>
            <a:r>
              <a:rPr sz="2400" dirty="0">
                <a:latin typeface="Calibri"/>
                <a:cs typeface="Calibri"/>
              </a:rPr>
              <a:t>à </a:t>
            </a:r>
            <a:r>
              <a:rPr sz="2400" spc="-5" dirty="0">
                <a:latin typeface="Calibri"/>
                <a:cs typeface="Calibri"/>
              </a:rPr>
              <a:t>qualidade</a:t>
            </a:r>
            <a:endParaRPr sz="2400" dirty="0">
              <a:latin typeface="Calibri"/>
              <a:cs typeface="Calibri"/>
            </a:endParaRPr>
          </a:p>
          <a:p>
            <a:pPr marL="469900" marR="5080" lvl="1">
              <a:buSzPct val="95833"/>
              <a:buAutoNum type="arabicPeriod"/>
              <a:tabLst>
                <a:tab pos="698500" algn="l"/>
                <a:tab pos="1562100" algn="l"/>
                <a:tab pos="3008630" algn="l"/>
                <a:tab pos="3455035" algn="l"/>
                <a:tab pos="4779645" algn="l"/>
                <a:tab pos="5226050" algn="l"/>
                <a:tab pos="7477125" algn="l"/>
              </a:tabLst>
            </a:pP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iar	</a:t>
            </a:r>
            <a:r>
              <a:rPr sz="2400" spc="-55" dirty="0">
                <a:latin typeface="Calibri"/>
                <a:cs typeface="Calibri"/>
              </a:rPr>
              <a:t>c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65" dirty="0">
                <a:latin typeface="Calibri"/>
                <a:cs typeface="Calibri"/>
              </a:rPr>
              <a:t>s</a:t>
            </a:r>
            <a:r>
              <a:rPr sz="2400" spc="-6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â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ia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20" dirty="0">
                <a:latin typeface="Calibri"/>
                <a:cs typeface="Calibri"/>
              </a:rPr>
              <a:t>ó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12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5" dirty="0">
                <a:latin typeface="Calibri"/>
                <a:cs typeface="Calibri"/>
              </a:rPr>
              <a:t>ç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ame</a:t>
            </a:r>
            <a:r>
              <a:rPr sz="2400" spc="-50" dirty="0">
                <a:latin typeface="Calibri"/>
                <a:cs typeface="Calibri"/>
              </a:rPr>
              <a:t>n</a:t>
            </a:r>
            <a:r>
              <a:rPr sz="2400" spc="-6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5" dirty="0">
                <a:latin typeface="Calibri"/>
                <a:cs typeface="Calibri"/>
              </a:rPr>
              <a:t>do  </a:t>
            </a:r>
            <a:r>
              <a:rPr sz="2400" spc="-25" dirty="0">
                <a:latin typeface="Calibri"/>
                <a:cs typeface="Calibri"/>
              </a:rPr>
              <a:t>produto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serviço;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2870"/>
              </a:lnSpc>
            </a:pPr>
            <a:r>
              <a:rPr sz="2400" spc="-15" dirty="0">
                <a:latin typeface="Calibri"/>
                <a:cs typeface="Calibri"/>
              </a:rPr>
              <a:t>...</a:t>
            </a:r>
            <a:endParaRPr sz="2400" dirty="0">
              <a:latin typeface="Calibri"/>
              <a:cs typeface="Calibri"/>
            </a:endParaRPr>
          </a:p>
          <a:p>
            <a:pPr marL="469900"/>
            <a:r>
              <a:rPr sz="2400" spc="-15" dirty="0">
                <a:latin typeface="Calibri"/>
                <a:cs typeface="Calibri"/>
              </a:rPr>
              <a:t>...</a:t>
            </a:r>
            <a:endParaRPr sz="2400" dirty="0">
              <a:latin typeface="Calibri"/>
              <a:cs typeface="Calibri"/>
            </a:endParaRPr>
          </a:p>
          <a:p>
            <a:pPr marL="922019" indent="-452755">
              <a:spcBef>
                <a:spcPts val="15"/>
              </a:spcBef>
              <a:buAutoNum type="arabicPeriod" startAt="13"/>
              <a:tabLst>
                <a:tab pos="922655" algn="l"/>
              </a:tabLst>
            </a:pPr>
            <a:r>
              <a:rPr sz="2400" spc="-30" dirty="0">
                <a:latin typeface="Calibri"/>
                <a:cs typeface="Calibri"/>
              </a:rPr>
              <a:t>Educação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rigorosa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auto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aperfeiçoamento </a:t>
            </a:r>
            <a:r>
              <a:rPr sz="2400" spc="-5" dirty="0">
                <a:latin typeface="Calibri"/>
                <a:cs typeface="Calibri"/>
              </a:rPr>
              <a:t>par</a:t>
            </a:r>
            <a:endParaRPr sz="2400" dirty="0">
              <a:latin typeface="Calibri"/>
              <a:cs typeface="Calibri"/>
            </a:endParaRPr>
          </a:p>
          <a:p>
            <a:pPr marL="855344" indent="-386080">
              <a:buAutoNum type="arabicPeriod" startAt="13"/>
              <a:tabLst>
                <a:tab pos="855980" algn="l"/>
              </a:tabLst>
            </a:pPr>
            <a:r>
              <a:rPr lang="pt-BR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transformação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tarefa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todos.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6501" y="4610238"/>
            <a:ext cx="98361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todos;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7221" y="4392686"/>
            <a:ext cx="1008377" cy="15963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34354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2473" y="1355974"/>
            <a:ext cx="3793527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Joseph</a:t>
            </a:r>
            <a:r>
              <a:rPr spc="-55" dirty="0"/>
              <a:t> </a:t>
            </a:r>
            <a:r>
              <a:rPr dirty="0"/>
              <a:t>M.</a:t>
            </a:r>
            <a:r>
              <a:rPr spc="-45" dirty="0"/>
              <a:t> </a:t>
            </a:r>
            <a:r>
              <a:rPr spc="-30" dirty="0"/>
              <a:t>Juran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9637" y="2920126"/>
            <a:ext cx="2962275" cy="2478405"/>
            <a:chOff x="2475636" y="2920125"/>
            <a:chExt cx="2962275" cy="24784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0310" y="2946412"/>
              <a:ext cx="2951467" cy="24472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80310" y="2945125"/>
              <a:ext cx="2952750" cy="2448560"/>
            </a:xfrm>
            <a:custGeom>
              <a:avLst/>
              <a:gdLst/>
              <a:ahLst/>
              <a:cxnLst/>
              <a:rect l="l" t="t" r="r" b="b"/>
              <a:pathLst>
                <a:path w="2952750" h="2448560">
                  <a:moveTo>
                    <a:pt x="0" y="2448560"/>
                  </a:moveTo>
                  <a:lnTo>
                    <a:pt x="1475752" y="0"/>
                  </a:lnTo>
                  <a:lnTo>
                    <a:pt x="2952750" y="2448560"/>
                  </a:lnTo>
                  <a:lnTo>
                    <a:pt x="0" y="2448560"/>
                  </a:lnTo>
                  <a:close/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80310" y="294513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33058" y="53936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0310" y="2926080"/>
              <a:ext cx="2951467" cy="244601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80310" y="2924799"/>
              <a:ext cx="2952750" cy="2449195"/>
            </a:xfrm>
            <a:custGeom>
              <a:avLst/>
              <a:gdLst/>
              <a:ahLst/>
              <a:cxnLst/>
              <a:rect l="l" t="t" r="r" b="b"/>
              <a:pathLst>
                <a:path w="2952750" h="2449195">
                  <a:moveTo>
                    <a:pt x="0" y="2448572"/>
                  </a:moveTo>
                  <a:lnTo>
                    <a:pt x="1475752" y="0"/>
                  </a:lnTo>
                  <a:lnTo>
                    <a:pt x="2952750" y="2448572"/>
                  </a:lnTo>
                  <a:lnTo>
                    <a:pt x="0" y="2448572"/>
                  </a:lnTo>
                  <a:close/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0310" y="29247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33058" y="537337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16298" y="2007262"/>
            <a:ext cx="6027420" cy="121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600" spc="-7" baseline="5787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3600" spc="367" baseline="578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latin typeface="Calibri"/>
                <a:cs typeface="Calibri"/>
              </a:rPr>
              <a:t>Trilogia:</a:t>
            </a:r>
            <a:r>
              <a:rPr sz="2400" spc="-10" dirty="0">
                <a:latin typeface="Calibri"/>
                <a:cs typeface="Calibri"/>
              </a:rPr>
              <a:t> melhoria,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planejamento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controle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593725" algn="ctr">
              <a:spcBef>
                <a:spcPts val="1670"/>
              </a:spcBef>
            </a:pPr>
            <a:r>
              <a:rPr sz="1800" spc="-15" dirty="0">
                <a:latin typeface="Calibri"/>
                <a:cs typeface="Calibri"/>
              </a:rPr>
              <a:t>Melhoria</a:t>
            </a:r>
            <a:endParaRPr sz="1800">
              <a:latin typeface="Calibri"/>
              <a:cs typeface="Calibri"/>
            </a:endParaRPr>
          </a:p>
          <a:p>
            <a:pPr marL="3328035" algn="ctr">
              <a:spcBef>
                <a:spcPts val="15"/>
              </a:spcBef>
            </a:pPr>
            <a:r>
              <a:rPr sz="1800" spc="-15" dirty="0">
                <a:latin typeface="Calibri"/>
                <a:cs typeface="Calibri"/>
              </a:rPr>
              <a:t>(ações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melhoria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contínua)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24797" y="5210939"/>
            <a:ext cx="274066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Controle</a:t>
            </a:r>
            <a:endParaRPr sz="1800">
              <a:latin typeface="Calibri"/>
              <a:cs typeface="Calibri"/>
            </a:endParaRPr>
          </a:p>
          <a:p>
            <a:pPr marL="12700">
              <a:spcBef>
                <a:spcPts val="10"/>
              </a:spcBef>
            </a:pPr>
            <a:r>
              <a:rPr sz="1800" spc="-20" dirty="0">
                <a:latin typeface="Calibri"/>
                <a:cs typeface="Calibri"/>
              </a:rPr>
              <a:t>(produção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dentro</a:t>
            </a:r>
            <a:r>
              <a:rPr sz="1800" spc="-5" dirty="0">
                <a:latin typeface="Calibri"/>
                <a:cs typeface="Calibri"/>
              </a:rPr>
              <a:t> dos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limites)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49952" y="5210939"/>
            <a:ext cx="297561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Planejamento</a:t>
            </a:r>
            <a:endParaRPr sz="1800">
              <a:latin typeface="Calibri"/>
              <a:cs typeface="Calibri"/>
            </a:endParaRPr>
          </a:p>
          <a:p>
            <a:pPr marL="12700">
              <a:spcBef>
                <a:spcPts val="10"/>
              </a:spcBef>
            </a:pPr>
            <a:r>
              <a:rPr sz="1800" spc="-15" dirty="0">
                <a:latin typeface="Calibri"/>
                <a:cs typeface="Calibri"/>
              </a:rPr>
              <a:t>(identificação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necessidades)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3970" y="2537461"/>
            <a:ext cx="1224279" cy="285622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34354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2472" y="1355974"/>
            <a:ext cx="3426524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Philip</a:t>
            </a:r>
            <a:r>
              <a:rPr spc="-50" dirty="0"/>
              <a:t> </a:t>
            </a:r>
            <a:r>
              <a:rPr spc="-25" dirty="0"/>
              <a:t>Crosby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16298" y="1772566"/>
            <a:ext cx="3832860" cy="165798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99085" indent="-287020">
              <a:spcBef>
                <a:spcPts val="15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20" dirty="0">
                <a:latin typeface="Calibri"/>
                <a:cs typeface="Calibri"/>
              </a:rPr>
              <a:t>Introduziu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conceitos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de: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spcBef>
                <a:spcPts val="1405"/>
              </a:spcBef>
              <a:buClr>
                <a:srgbClr val="9ABA59"/>
              </a:buClr>
              <a:buFont typeface="Arial MT"/>
              <a:buChar char="•"/>
              <a:tabLst>
                <a:tab pos="698500" algn="l"/>
              </a:tabLst>
            </a:pPr>
            <a:r>
              <a:rPr sz="2400" spc="-40" dirty="0">
                <a:latin typeface="Calibri"/>
                <a:cs typeface="Calibri"/>
              </a:rPr>
              <a:t>Zero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defeito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spcBef>
                <a:spcPts val="1405"/>
              </a:spcBef>
              <a:buClr>
                <a:srgbClr val="9ABA59"/>
              </a:buClr>
              <a:buFont typeface="Arial MT"/>
              <a:buChar char="•"/>
              <a:tabLst>
                <a:tab pos="698500" algn="l"/>
              </a:tabLst>
            </a:pPr>
            <a:r>
              <a:rPr sz="2400" spc="-50" dirty="0">
                <a:latin typeface="Calibri"/>
                <a:cs typeface="Calibri"/>
              </a:rPr>
              <a:t>Fazer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certo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15" dirty="0">
                <a:latin typeface="Calibri"/>
                <a:cs typeface="Calibri"/>
              </a:rPr>
              <a:t> primeira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vez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5509" y="1916430"/>
            <a:ext cx="1295390" cy="1656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23305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1341" y="1138660"/>
            <a:ext cx="3575813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Kaoru</a:t>
            </a:r>
            <a:r>
              <a:rPr spc="-40" dirty="0"/>
              <a:t> </a:t>
            </a:r>
            <a:r>
              <a:rPr spc="-35" dirty="0"/>
              <a:t>Ishikawa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16298" y="1841907"/>
            <a:ext cx="5828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7" baseline="2314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3600" spc="367" baseline="23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Calibri"/>
                <a:cs typeface="Calibri"/>
              </a:rPr>
              <a:t>Introduziu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conceito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círculo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qualidade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6298" y="2377745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7" baseline="2314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3600" spc="262" baseline="23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Calibri"/>
                <a:cs typeface="Calibri"/>
              </a:rPr>
              <a:t>Criador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9830" y="2365860"/>
            <a:ext cx="4625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67385" algn="l"/>
                <a:tab pos="2159635" algn="l"/>
                <a:tab pos="2807335" algn="l"/>
              </a:tabLst>
            </a:pPr>
            <a:r>
              <a:rPr sz="2400" spc="-5" dirty="0">
                <a:latin typeface="Calibri"/>
                <a:cs typeface="Calibri"/>
              </a:rPr>
              <a:t>do	</a:t>
            </a:r>
            <a:r>
              <a:rPr sz="2400" spc="-25" dirty="0">
                <a:latin typeface="Calibri"/>
                <a:cs typeface="Calibri"/>
              </a:rPr>
              <a:t>diagrama	</a:t>
            </a:r>
            <a:r>
              <a:rPr sz="2400" spc="-15" dirty="0">
                <a:latin typeface="Calibri"/>
                <a:cs typeface="Calibri"/>
              </a:rPr>
              <a:t>de	</a:t>
            </a:r>
            <a:r>
              <a:rPr sz="2400" spc="-30" dirty="0">
                <a:latin typeface="Calibri"/>
                <a:cs typeface="Calibri"/>
              </a:rPr>
              <a:t>causa-e-efeito: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1896" y="2901698"/>
            <a:ext cx="4686935" cy="1063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619885" algn="l"/>
                <a:tab pos="2567940" algn="l"/>
                <a:tab pos="3340735" algn="l"/>
                <a:tab pos="4521835" algn="l"/>
              </a:tabLst>
            </a:pPr>
            <a:r>
              <a:rPr sz="2400" spc="-12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05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ame</a:t>
            </a:r>
            <a:r>
              <a:rPr sz="2400" spc="-65" dirty="0">
                <a:latin typeface="Calibri"/>
                <a:cs typeface="Calibri"/>
              </a:rPr>
              <a:t>nt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	anali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r	e  </a:t>
            </a:r>
            <a:r>
              <a:rPr sz="2400" spc="-15" dirty="0">
                <a:latin typeface="Calibri"/>
                <a:cs typeface="Calibri"/>
              </a:rPr>
              <a:t>problemas.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7952" y="3037740"/>
            <a:ext cx="1007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5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er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0361" y="1761749"/>
            <a:ext cx="1390640" cy="15874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830" y="3997962"/>
            <a:ext cx="5328906" cy="222376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1155" y="123305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6184" y="1167724"/>
            <a:ext cx="5121024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Para</a:t>
            </a:r>
            <a:r>
              <a:rPr spc="-20" dirty="0"/>
              <a:t> que</a:t>
            </a:r>
            <a:r>
              <a:rPr spc="-5" dirty="0"/>
              <a:t> </a:t>
            </a:r>
            <a:r>
              <a:rPr spc="-10" dirty="0"/>
              <a:t>ele</a:t>
            </a:r>
            <a:r>
              <a:rPr spc="-20" dirty="0"/>
              <a:t> </a:t>
            </a:r>
            <a:r>
              <a:rPr spc="-5" dirty="0"/>
              <a:t>é</a:t>
            </a:r>
            <a:r>
              <a:rPr spc="-20" dirty="0"/>
              <a:t> </a:t>
            </a:r>
            <a:r>
              <a:rPr spc="-25" dirty="0"/>
              <a:t>usado?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43039" y="2077682"/>
            <a:ext cx="9270935" cy="22878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  <a:tab pos="1702435" algn="l"/>
                <a:tab pos="2197735" algn="l"/>
                <a:tab pos="3242945" algn="l"/>
                <a:tab pos="4662170" algn="l"/>
                <a:tab pos="5041265" algn="l"/>
                <a:tab pos="6737984" algn="l"/>
                <a:tab pos="7280275" algn="l"/>
              </a:tabLst>
            </a:pPr>
            <a:r>
              <a:rPr sz="2400" spc="-1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su</a:t>
            </a:r>
            <a:r>
              <a:rPr sz="2400" dirty="0">
                <a:latin typeface="Calibri"/>
                <a:cs typeface="Calibri"/>
              </a:rPr>
              <a:t>ali</a:t>
            </a:r>
            <a:r>
              <a:rPr sz="2400" spc="-75" dirty="0">
                <a:latin typeface="Calibri"/>
                <a:cs typeface="Calibri"/>
              </a:rPr>
              <a:t>z</a:t>
            </a:r>
            <a:r>
              <a:rPr sz="2400" dirty="0">
                <a:latin typeface="Calibri"/>
                <a:cs typeface="Calibri"/>
              </a:rPr>
              <a:t>ar	as	</a:t>
            </a:r>
            <a:r>
              <a:rPr sz="2400" spc="-5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as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ri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ais	e	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ár</a:t>
            </a:r>
            <a:r>
              <a:rPr sz="2400" dirty="0">
                <a:latin typeface="Calibri"/>
                <a:cs typeface="Calibri"/>
              </a:rPr>
              <a:t>ias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um  </a:t>
            </a:r>
            <a:r>
              <a:rPr sz="2400" spc="-15" dirty="0">
                <a:latin typeface="Calibri"/>
                <a:cs typeface="Calibri"/>
              </a:rPr>
              <a:t>problema;</a:t>
            </a:r>
            <a:endParaRPr sz="2400" dirty="0">
              <a:latin typeface="Calibri"/>
              <a:cs typeface="Calibri"/>
            </a:endParaRPr>
          </a:p>
          <a:p>
            <a:pPr marL="299085" marR="13335" indent="-287020">
              <a:lnSpc>
                <a:spcPct val="150000"/>
              </a:lnSpc>
              <a:buClr>
                <a:srgbClr val="FF0000"/>
              </a:buClr>
              <a:buFont typeface="Arial MT"/>
              <a:buChar char="–"/>
              <a:tabLst>
                <a:tab pos="299720" algn="l"/>
                <a:tab pos="1434465" algn="l"/>
                <a:tab pos="1744980" algn="l"/>
                <a:tab pos="2540635" algn="l"/>
                <a:tab pos="3127375" algn="l"/>
                <a:tab pos="4393565" algn="l"/>
                <a:tab pos="5372100" algn="l"/>
                <a:tab pos="5847715" algn="l"/>
                <a:tab pos="6414770" algn="l"/>
              </a:tabLst>
            </a:pPr>
            <a:r>
              <a:rPr sz="2400" spc="-25" dirty="0">
                <a:latin typeface="Calibri"/>
                <a:cs typeface="Calibri"/>
              </a:rPr>
              <a:t>Am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liar	a	</a:t>
            </a:r>
            <a:r>
              <a:rPr sz="2400" spc="-3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ão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as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ss</a:t>
            </a:r>
            <a:r>
              <a:rPr sz="2400" dirty="0">
                <a:latin typeface="Calibri"/>
                <a:cs typeface="Calibri"/>
              </a:rPr>
              <a:t>í</a:t>
            </a:r>
            <a:r>
              <a:rPr sz="2400" spc="-65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is	</a:t>
            </a:r>
            <a:r>
              <a:rPr sz="2400" spc="-5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as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ma,  </a:t>
            </a:r>
            <a:r>
              <a:rPr sz="2400" spc="-45" dirty="0">
                <a:latin typeface="Calibri"/>
                <a:cs typeface="Calibri"/>
              </a:rPr>
              <a:t>através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análise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identificação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soluções.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spcBef>
                <a:spcPts val="186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400" spc="-30" dirty="0">
                <a:latin typeface="Calibri"/>
                <a:cs typeface="Calibri"/>
              </a:rPr>
              <a:t>Gerar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melhorias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nos</a:t>
            </a:r>
            <a:r>
              <a:rPr sz="2400" spc="-20" dirty="0">
                <a:latin typeface="Calibri"/>
                <a:cs typeface="Calibri"/>
              </a:rPr>
              <a:t> processos.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0841" y="110986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3613" y="1018802"/>
            <a:ext cx="4856314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Passos</a:t>
            </a:r>
            <a:r>
              <a:rPr spc="-45" dirty="0"/>
              <a:t> </a:t>
            </a:r>
            <a:r>
              <a:rPr spc="-35" dirty="0"/>
              <a:t>para</a:t>
            </a:r>
            <a:r>
              <a:rPr spc="-5" dirty="0"/>
              <a:t> </a:t>
            </a:r>
            <a:r>
              <a:rPr spc="-25" dirty="0"/>
              <a:t>construir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3613" y="1750855"/>
            <a:ext cx="8737848" cy="44697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97180" indent="-285115">
              <a:spcBef>
                <a:spcPts val="1395"/>
              </a:spcBef>
              <a:buClr>
                <a:srgbClr val="FF0000"/>
              </a:buClr>
              <a:buFont typeface="Arial MT"/>
              <a:buChar char="–"/>
              <a:tabLst>
                <a:tab pos="297180" algn="l"/>
                <a:tab pos="297815" algn="l"/>
              </a:tabLst>
            </a:pPr>
            <a:r>
              <a:rPr sz="2200" spc="-20" dirty="0">
                <a:latin typeface="Calibri"/>
                <a:cs typeface="Calibri"/>
              </a:rPr>
              <a:t>Definir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 </a:t>
            </a:r>
            <a:r>
              <a:rPr sz="2200" spc="-25" dirty="0">
                <a:latin typeface="Calibri"/>
                <a:cs typeface="Calibri"/>
              </a:rPr>
              <a:t>problema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(efeito)</a:t>
            </a:r>
            <a:r>
              <a:rPr sz="2200" spc="-5" dirty="0">
                <a:latin typeface="Calibri"/>
                <a:cs typeface="Calibri"/>
              </a:rPr>
              <a:t> a</a:t>
            </a:r>
            <a:r>
              <a:rPr sz="2200" spc="-10" dirty="0">
                <a:latin typeface="Calibri"/>
                <a:cs typeface="Calibri"/>
              </a:rPr>
              <a:t> ser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analisado;</a:t>
            </a:r>
            <a:endParaRPr sz="2200" dirty="0">
              <a:latin typeface="Calibri"/>
              <a:cs typeface="Calibri"/>
            </a:endParaRPr>
          </a:p>
          <a:p>
            <a:pPr marL="297180" indent="-285115">
              <a:spcBef>
                <a:spcPts val="1295"/>
              </a:spcBef>
              <a:buClr>
                <a:srgbClr val="FF0000"/>
              </a:buClr>
              <a:buFont typeface="Arial MT"/>
              <a:buChar char="–"/>
              <a:tabLst>
                <a:tab pos="297180" algn="l"/>
                <a:tab pos="297815" algn="l"/>
              </a:tabLst>
            </a:pPr>
            <a:r>
              <a:rPr sz="2200" spc="-15" dirty="0">
                <a:latin typeface="Calibri"/>
                <a:cs typeface="Calibri"/>
              </a:rPr>
              <a:t>Desenhar</a:t>
            </a:r>
            <a:r>
              <a:rPr sz="2200" spc="-20" dirty="0">
                <a:latin typeface="Calibri"/>
                <a:cs typeface="Calibri"/>
              </a:rPr>
              <a:t> uma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linha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horizontal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apontando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para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direita</a:t>
            </a:r>
            <a:endParaRPr sz="2200" dirty="0">
              <a:latin typeface="Calibri"/>
              <a:cs typeface="Calibri"/>
            </a:endParaRPr>
          </a:p>
          <a:p>
            <a:pPr marL="698500" lvl="1" indent="-228600">
              <a:spcBef>
                <a:spcPts val="1120"/>
              </a:spcBef>
              <a:buClr>
                <a:srgbClr val="9ABA59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30" dirty="0">
                <a:latin typeface="Calibri"/>
                <a:cs typeface="Calibri"/>
              </a:rPr>
              <a:t>Escreva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problema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dentro</a:t>
            </a:r>
            <a:r>
              <a:rPr sz="1800" spc="-5" dirty="0">
                <a:latin typeface="Calibri"/>
                <a:cs typeface="Calibri"/>
              </a:rPr>
              <a:t> 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retângulo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localizado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ponta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 </a:t>
            </a:r>
            <a:r>
              <a:rPr sz="1800" spc="-25" dirty="0">
                <a:latin typeface="Calibri"/>
                <a:cs typeface="Calibri"/>
              </a:rPr>
              <a:t>seta.</a:t>
            </a:r>
            <a:endParaRPr sz="1800" dirty="0">
              <a:latin typeface="Calibri"/>
              <a:cs typeface="Calibri"/>
            </a:endParaRPr>
          </a:p>
          <a:p>
            <a:pPr marL="297180" indent="-285115">
              <a:spcBef>
                <a:spcPts val="885"/>
              </a:spcBef>
              <a:buClr>
                <a:srgbClr val="FF0000"/>
              </a:buClr>
              <a:buFont typeface="Arial MT"/>
              <a:buChar char="–"/>
              <a:tabLst>
                <a:tab pos="297180" algn="l"/>
                <a:tab pos="297815" algn="l"/>
                <a:tab pos="1321435" algn="l"/>
                <a:tab pos="1844039" algn="l"/>
                <a:tab pos="3572510" algn="l"/>
                <a:tab pos="4223385" algn="l"/>
                <a:tab pos="5280025" algn="l"/>
                <a:tab pos="5680710" algn="l"/>
                <a:tab pos="6838315" algn="l"/>
                <a:tab pos="7733030" algn="l"/>
              </a:tabLst>
            </a:pPr>
            <a:r>
              <a:rPr sz="2200" spc="-95" dirty="0">
                <a:latin typeface="Calibri"/>
                <a:cs typeface="Calibri"/>
              </a:rPr>
              <a:t>R</a:t>
            </a:r>
            <a:r>
              <a:rPr sz="2200" spc="-3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-80" dirty="0">
                <a:latin typeface="Calibri"/>
                <a:cs typeface="Calibri"/>
              </a:rPr>
              <a:t>z</a:t>
            </a:r>
            <a:r>
              <a:rPr sz="2200" spc="-5" dirty="0">
                <a:latin typeface="Calibri"/>
                <a:cs typeface="Calibri"/>
              </a:rPr>
              <a:t>ar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u</a:t>
            </a:r>
            <a:r>
              <a:rPr sz="2200" spc="-5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i="1" spc="-20" dirty="0">
                <a:latin typeface="Calibri"/>
                <a:cs typeface="Calibri"/>
              </a:rPr>
              <a:t>b</a:t>
            </a:r>
            <a:r>
              <a:rPr sz="2200" i="1" spc="-25" dirty="0">
                <a:latin typeface="Calibri"/>
                <a:cs typeface="Calibri"/>
              </a:rPr>
              <a:t>r</a:t>
            </a:r>
            <a:r>
              <a:rPr sz="2200" i="1" spc="-10" dirty="0">
                <a:latin typeface="Calibri"/>
                <a:cs typeface="Calibri"/>
              </a:rPr>
              <a:t>a</a:t>
            </a:r>
            <a:r>
              <a:rPr sz="2200" i="1" spc="-35" dirty="0">
                <a:latin typeface="Calibri"/>
                <a:cs typeface="Calibri"/>
              </a:rPr>
              <a:t>i</a:t>
            </a:r>
            <a:r>
              <a:rPr sz="2200" i="1" spc="-10" dirty="0">
                <a:latin typeface="Calibri"/>
                <a:cs typeface="Calibri"/>
              </a:rPr>
              <a:t>n</a:t>
            </a:r>
            <a:r>
              <a:rPr sz="2200" i="1" spc="-70" dirty="0">
                <a:latin typeface="Calibri"/>
                <a:cs typeface="Calibri"/>
              </a:rPr>
              <a:t>st</a:t>
            </a:r>
            <a:r>
              <a:rPr sz="2200" i="1" spc="-30" dirty="0">
                <a:latin typeface="Calibri"/>
                <a:cs typeface="Calibri"/>
              </a:rPr>
              <a:t>o</a:t>
            </a:r>
            <a:r>
              <a:rPr sz="2200" i="1" spc="-15" dirty="0">
                <a:latin typeface="Calibri"/>
                <a:cs typeface="Calibri"/>
              </a:rPr>
              <a:t>r</a:t>
            </a:r>
            <a:r>
              <a:rPr sz="2200" i="1" spc="-5" dirty="0">
                <a:latin typeface="Calibri"/>
                <a:cs typeface="Calibri"/>
              </a:rPr>
              <a:t>m</a:t>
            </a:r>
            <a:r>
              <a:rPr sz="2200" i="1" spc="-20" dirty="0">
                <a:latin typeface="Calibri"/>
                <a:cs typeface="Calibri"/>
              </a:rPr>
              <a:t>i</a:t>
            </a:r>
            <a:r>
              <a:rPr sz="2200" i="1" spc="-30" dirty="0">
                <a:latin typeface="Calibri"/>
                <a:cs typeface="Calibri"/>
              </a:rPr>
              <a:t>n</a:t>
            </a:r>
            <a:r>
              <a:rPr sz="2200" i="1" spc="-5" dirty="0">
                <a:latin typeface="Calibri"/>
                <a:cs typeface="Calibri"/>
              </a:rPr>
              <a:t>g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spc="-30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2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l</a:t>
            </a:r>
            <a:r>
              <a:rPr sz="2200" spc="-45" dirty="0">
                <a:latin typeface="Calibri"/>
                <a:cs typeface="Calibri"/>
              </a:rPr>
              <a:t>e</a:t>
            </a:r>
            <a:r>
              <a:rPr sz="2200" spc="-90" dirty="0">
                <a:latin typeface="Calibri"/>
                <a:cs typeface="Calibri"/>
              </a:rPr>
              <a:t>v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nt</a:t>
            </a:r>
            <a:r>
              <a:rPr sz="2200" spc="-5" dirty="0">
                <a:latin typeface="Calibri"/>
                <a:cs typeface="Calibri"/>
              </a:rPr>
              <a:t>ar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spc="-15" dirty="0">
                <a:latin typeface="Calibri"/>
                <a:cs typeface="Calibri"/>
              </a:rPr>
              <a:t>s</a:t>
            </a:r>
            <a:r>
              <a:rPr sz="2200" spc="-20" dirty="0">
                <a:latin typeface="Calibri"/>
                <a:cs typeface="Calibri"/>
              </a:rPr>
              <a:t>í</a:t>
            </a:r>
            <a:r>
              <a:rPr sz="2200" spc="-65" dirty="0">
                <a:latin typeface="Calibri"/>
                <a:cs typeface="Calibri"/>
              </a:rPr>
              <a:t>v</a:t>
            </a:r>
            <a:r>
              <a:rPr sz="2200" spc="-3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8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u</a:t>
            </a:r>
            <a:r>
              <a:rPr sz="2200" spc="-15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5" dirty="0">
                <a:latin typeface="Calibri"/>
                <a:cs typeface="Calibri"/>
              </a:rPr>
              <a:t>o</a:t>
            </a:r>
            <a:endParaRPr sz="2200" dirty="0">
              <a:latin typeface="Calibri"/>
              <a:cs typeface="Calibri"/>
            </a:endParaRPr>
          </a:p>
          <a:p>
            <a:pPr marL="297180" algn="just">
              <a:spcBef>
                <a:spcPts val="1320"/>
              </a:spcBef>
            </a:pPr>
            <a:r>
              <a:rPr sz="2200" spc="-25" dirty="0">
                <a:latin typeface="Calibri"/>
                <a:cs typeface="Calibri"/>
              </a:rPr>
              <a:t>problema,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perguntando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“Por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que </a:t>
            </a:r>
            <a:r>
              <a:rPr sz="2200" spc="-35" dirty="0">
                <a:latin typeface="Calibri"/>
                <a:cs typeface="Calibri"/>
              </a:rPr>
              <a:t>isto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está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acontecendo?”.</a:t>
            </a:r>
            <a:endParaRPr sz="2200" dirty="0">
              <a:latin typeface="Calibri"/>
              <a:cs typeface="Calibri"/>
            </a:endParaRPr>
          </a:p>
          <a:p>
            <a:pPr marL="297180" marR="5080" indent="-285115" algn="just">
              <a:lnSpc>
                <a:spcPct val="151600"/>
              </a:lnSpc>
              <a:spcBef>
                <a:spcPts val="280"/>
              </a:spcBef>
              <a:buClr>
                <a:srgbClr val="FF0000"/>
              </a:buClr>
              <a:buFont typeface="Arial MT"/>
              <a:buChar char="–"/>
              <a:tabLst>
                <a:tab pos="297815" algn="l"/>
              </a:tabLst>
            </a:pPr>
            <a:r>
              <a:rPr sz="2200" spc="-15" dirty="0">
                <a:latin typeface="Calibri"/>
                <a:cs typeface="Calibri"/>
              </a:rPr>
              <a:t>Dividir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200" spc="-20" dirty="0">
                <a:latin typeface="Calibri"/>
                <a:cs typeface="Calibri"/>
              </a:rPr>
              <a:t>causas </a:t>
            </a:r>
            <a:r>
              <a:rPr sz="2200" spc="-25" dirty="0">
                <a:latin typeface="Calibri"/>
                <a:cs typeface="Calibri"/>
              </a:rPr>
              <a:t>identificadas </a:t>
            </a:r>
            <a:r>
              <a:rPr sz="2200" spc="-20" dirty="0">
                <a:latin typeface="Calibri"/>
                <a:cs typeface="Calibri"/>
              </a:rPr>
              <a:t>em </a:t>
            </a:r>
            <a:r>
              <a:rPr sz="2200" spc="-35" dirty="0">
                <a:latin typeface="Calibri"/>
                <a:cs typeface="Calibri"/>
              </a:rPr>
              <a:t>categorias </a:t>
            </a:r>
            <a:r>
              <a:rPr sz="2200" spc="-25" dirty="0">
                <a:latin typeface="Calibri"/>
                <a:cs typeface="Calibri"/>
              </a:rPr>
              <a:t>(4M): </a:t>
            </a:r>
            <a:r>
              <a:rPr sz="2200" spc="-15" dirty="0">
                <a:latin typeface="Calibri"/>
                <a:cs typeface="Calibri"/>
              </a:rPr>
              <a:t>máquina, mão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obra, </a:t>
            </a:r>
            <a:r>
              <a:rPr sz="2200" spc="-30" dirty="0">
                <a:latin typeface="Calibri"/>
                <a:cs typeface="Calibri"/>
              </a:rPr>
              <a:t>método </a:t>
            </a:r>
            <a:r>
              <a:rPr sz="2200" spc="-5" dirty="0">
                <a:latin typeface="Calibri"/>
                <a:cs typeface="Calibri"/>
              </a:rPr>
              <a:t>e </a:t>
            </a:r>
            <a:r>
              <a:rPr sz="2200" spc="-30" dirty="0">
                <a:latin typeface="Calibri"/>
                <a:cs typeface="Calibri"/>
              </a:rPr>
              <a:t>materiais </a:t>
            </a:r>
            <a:r>
              <a:rPr sz="2200" dirty="0">
                <a:latin typeface="Calibri"/>
                <a:cs typeface="Calibri"/>
              </a:rPr>
              <a:t>ou </a:t>
            </a:r>
            <a:r>
              <a:rPr sz="2200" spc="-10" dirty="0">
                <a:latin typeface="Calibri"/>
                <a:cs typeface="Calibri"/>
              </a:rPr>
              <a:t>da </a:t>
            </a:r>
            <a:r>
              <a:rPr sz="2200" spc="-35" dirty="0">
                <a:latin typeface="Calibri"/>
                <a:cs typeface="Calibri"/>
              </a:rPr>
              <a:t>forma </a:t>
            </a:r>
            <a:r>
              <a:rPr sz="2200" spc="-15" dirty="0">
                <a:latin typeface="Calibri"/>
                <a:cs typeface="Calibri"/>
              </a:rPr>
              <a:t>que </a:t>
            </a:r>
            <a:r>
              <a:rPr sz="2200" spc="-40" dirty="0">
                <a:latin typeface="Calibri"/>
                <a:cs typeface="Calibri"/>
              </a:rPr>
              <a:t>for </a:t>
            </a:r>
            <a:r>
              <a:rPr sz="2200" spc="-15" dirty="0">
                <a:latin typeface="Calibri"/>
                <a:cs typeface="Calibri"/>
              </a:rPr>
              <a:t>mais </a:t>
            </a:r>
            <a:r>
              <a:rPr sz="2200" spc="-40" dirty="0">
                <a:latin typeface="Calibri"/>
                <a:cs typeface="Calibri"/>
              </a:rPr>
              <a:t>coerente </a:t>
            </a:r>
            <a:r>
              <a:rPr sz="2200" spc="-20" dirty="0">
                <a:latin typeface="Calibri"/>
                <a:cs typeface="Calibri"/>
              </a:rPr>
              <a:t>com </a:t>
            </a:r>
            <a:r>
              <a:rPr sz="2200" spc="-5" dirty="0">
                <a:latin typeface="Calibri"/>
                <a:cs typeface="Calibri"/>
              </a:rPr>
              <a:t>o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problema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analisado.</a:t>
            </a:r>
            <a:endParaRPr sz="2200" dirty="0">
              <a:latin typeface="Calibri"/>
              <a:cs typeface="Calibri"/>
            </a:endParaRPr>
          </a:p>
          <a:p>
            <a:pPr marL="297180" indent="-285115" algn="just">
              <a:spcBef>
                <a:spcPts val="1430"/>
              </a:spcBef>
              <a:buClr>
                <a:srgbClr val="FF0000"/>
              </a:buClr>
              <a:buFont typeface="Arial MT"/>
              <a:buChar char="–"/>
              <a:tabLst>
                <a:tab pos="297815" algn="l"/>
              </a:tabLst>
            </a:pPr>
            <a:r>
              <a:rPr sz="2200" spc="-10" dirty="0">
                <a:latin typeface="Calibri"/>
                <a:cs typeface="Calibri"/>
              </a:rPr>
              <a:t>Logo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após,</a:t>
            </a:r>
            <a:r>
              <a:rPr sz="2200" spc="-40" dirty="0">
                <a:latin typeface="Calibri"/>
                <a:cs typeface="Calibri"/>
              </a:rPr>
              <a:t> deverão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definidas 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spc="-15" dirty="0">
                <a:latin typeface="Calibri"/>
                <a:cs typeface="Calibri"/>
              </a:rPr>
              <a:t> sub-causas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(causas </a:t>
            </a:r>
            <a:r>
              <a:rPr sz="2200" spc="-10" dirty="0">
                <a:latin typeface="Calibri"/>
                <a:cs typeface="Calibri"/>
              </a:rPr>
              <a:t>das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causas).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23305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117" y="1261105"/>
            <a:ext cx="1273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35" dirty="0">
                <a:latin typeface="Calibri"/>
                <a:cs typeface="Calibri"/>
              </a:rPr>
              <a:t>Exemplo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741" y="1907552"/>
            <a:ext cx="6337309" cy="40411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34600" y="6461968"/>
            <a:ext cx="2743200" cy="153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098" y="123305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8436" y="1183185"/>
            <a:ext cx="2381494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Exemplo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686800" y="3212592"/>
            <a:ext cx="1584960" cy="1247140"/>
            <a:chOff x="7162800" y="3212592"/>
            <a:chExt cx="1584960" cy="1247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0" y="3233928"/>
              <a:ext cx="1584958" cy="12252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800" y="3212592"/>
              <a:ext cx="1584958" cy="122529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88082" y="3223261"/>
            <a:ext cx="1583690" cy="1100301"/>
          </a:xfrm>
          <a:prstGeom prst="rect">
            <a:avLst/>
          </a:prstGeom>
          <a:ln w="9347">
            <a:solidFill>
              <a:srgbClr val="97B75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" algn="ctr">
              <a:lnSpc>
                <a:spcPts val="2050"/>
              </a:lnSpc>
            </a:pPr>
            <a:r>
              <a:rPr sz="1800" spc="-30" dirty="0">
                <a:latin typeface="Calibri"/>
                <a:cs typeface="Calibri"/>
              </a:rPr>
              <a:t>Entrega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endParaRPr sz="1800">
              <a:latin typeface="Calibri"/>
              <a:cs typeface="Calibri"/>
            </a:endParaRPr>
          </a:p>
          <a:p>
            <a:pPr marL="107950" marR="95885" algn="ctr">
              <a:lnSpc>
                <a:spcPct val="997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0" dirty="0">
                <a:latin typeface="Calibri"/>
                <a:cs typeface="Calibri"/>
              </a:rPr>
              <a:t>ci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na</a:t>
            </a:r>
            <a:r>
              <a:rPr sz="1800" spc="-2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dade  </a:t>
            </a:r>
            <a:r>
              <a:rPr sz="1800" spc="-10" dirty="0">
                <a:latin typeface="Calibri"/>
                <a:cs typeface="Calibri"/>
              </a:rPr>
              <a:t>“X” </a:t>
            </a:r>
            <a:r>
              <a:rPr sz="1800" spc="-25" dirty="0">
                <a:latin typeface="Calibri"/>
                <a:cs typeface="Calibri"/>
              </a:rPr>
              <a:t>avançou </a:t>
            </a:r>
            <a:r>
              <a:rPr sz="1800" dirty="0">
                <a:latin typeface="Calibri"/>
                <a:cs typeface="Calibri"/>
              </a:rPr>
              <a:t>3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meses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75778" y="3768090"/>
            <a:ext cx="6196965" cy="134620"/>
            <a:chOff x="751777" y="3768090"/>
            <a:chExt cx="6196965" cy="134620"/>
          </a:xfrm>
        </p:grpSpPr>
        <p:sp>
          <p:nvSpPr>
            <p:cNvPr id="9" name="object 9"/>
            <p:cNvSpPr/>
            <p:nvPr/>
          </p:nvSpPr>
          <p:spPr>
            <a:xfrm>
              <a:off x="764534" y="3844290"/>
              <a:ext cx="6076315" cy="1270"/>
            </a:xfrm>
            <a:custGeom>
              <a:avLst/>
              <a:gdLst/>
              <a:ahLst/>
              <a:cxnLst/>
              <a:rect l="l" t="t" r="r" b="b"/>
              <a:pathLst>
                <a:path w="6076315" h="1270">
                  <a:moveTo>
                    <a:pt x="0" y="0"/>
                  </a:moveTo>
                  <a:lnTo>
                    <a:pt x="6075692" y="1270"/>
                  </a:lnTo>
                </a:path>
              </a:pathLst>
            </a:custGeom>
            <a:ln w="25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2608" y="3788420"/>
              <a:ext cx="115544" cy="1142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4534" y="3825240"/>
              <a:ext cx="6076315" cy="0"/>
            </a:xfrm>
            <a:custGeom>
              <a:avLst/>
              <a:gdLst/>
              <a:ahLst/>
              <a:cxnLst/>
              <a:rect l="l" t="t" r="r" b="b"/>
              <a:pathLst>
                <a:path w="6076315">
                  <a:moveTo>
                    <a:pt x="0" y="0"/>
                  </a:moveTo>
                  <a:lnTo>
                    <a:pt x="6075692" y="0"/>
                  </a:lnTo>
                </a:path>
              </a:pathLst>
            </a:custGeom>
            <a:ln w="25514">
              <a:solidFill>
                <a:srgbClr val="9ABA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2608" y="3768090"/>
              <a:ext cx="115544" cy="1143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65079" y="2368491"/>
            <a:ext cx="1250315" cy="1270635"/>
            <a:chOff x="4041078" y="2368490"/>
            <a:chExt cx="1250315" cy="1270635"/>
          </a:xfrm>
        </p:grpSpPr>
        <p:sp>
          <p:nvSpPr>
            <p:cNvPr id="14" name="object 14"/>
            <p:cNvSpPr/>
            <p:nvPr/>
          </p:nvSpPr>
          <p:spPr>
            <a:xfrm>
              <a:off x="4053836" y="2401583"/>
              <a:ext cx="1224915" cy="1224280"/>
            </a:xfrm>
            <a:custGeom>
              <a:avLst/>
              <a:gdLst/>
              <a:ahLst/>
              <a:cxnLst/>
              <a:rect l="l" t="t" r="r" b="b"/>
              <a:pathLst>
                <a:path w="1224914" h="1224279">
                  <a:moveTo>
                    <a:pt x="1224292" y="1224254"/>
                  </a:moveTo>
                  <a:lnTo>
                    <a:pt x="0" y="0"/>
                  </a:lnTo>
                </a:path>
              </a:pathLst>
            </a:custGeom>
            <a:ln w="25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53836" y="2381247"/>
              <a:ext cx="1224915" cy="1224915"/>
            </a:xfrm>
            <a:custGeom>
              <a:avLst/>
              <a:gdLst/>
              <a:ahLst/>
              <a:cxnLst/>
              <a:rect l="l" t="t" r="r" b="b"/>
              <a:pathLst>
                <a:path w="1224914" h="1224914">
                  <a:moveTo>
                    <a:pt x="1224292" y="1224292"/>
                  </a:moveTo>
                  <a:lnTo>
                    <a:pt x="0" y="0"/>
                  </a:lnTo>
                </a:path>
              </a:pathLst>
            </a:custGeom>
            <a:ln w="25514">
              <a:solidFill>
                <a:srgbClr val="9ABA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268930" y="2368491"/>
            <a:ext cx="1250315" cy="1270635"/>
            <a:chOff x="1744929" y="2368490"/>
            <a:chExt cx="1250315" cy="1270635"/>
          </a:xfrm>
        </p:grpSpPr>
        <p:sp>
          <p:nvSpPr>
            <p:cNvPr id="17" name="object 17"/>
            <p:cNvSpPr/>
            <p:nvPr/>
          </p:nvSpPr>
          <p:spPr>
            <a:xfrm>
              <a:off x="1757686" y="2401583"/>
              <a:ext cx="1224280" cy="1224280"/>
            </a:xfrm>
            <a:custGeom>
              <a:avLst/>
              <a:gdLst/>
              <a:ahLst/>
              <a:cxnLst/>
              <a:rect l="l" t="t" r="r" b="b"/>
              <a:pathLst>
                <a:path w="1224280" h="1224279">
                  <a:moveTo>
                    <a:pt x="1224267" y="1224254"/>
                  </a:moveTo>
                  <a:lnTo>
                    <a:pt x="0" y="0"/>
                  </a:lnTo>
                </a:path>
              </a:pathLst>
            </a:custGeom>
            <a:ln w="25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57686" y="2381247"/>
              <a:ext cx="1224280" cy="1224915"/>
            </a:xfrm>
            <a:custGeom>
              <a:avLst/>
              <a:gdLst/>
              <a:ahLst/>
              <a:cxnLst/>
              <a:rect l="l" t="t" r="r" b="b"/>
              <a:pathLst>
                <a:path w="1224280" h="1224914">
                  <a:moveTo>
                    <a:pt x="1224267" y="1224292"/>
                  </a:moveTo>
                  <a:lnTo>
                    <a:pt x="0" y="0"/>
                  </a:lnTo>
                </a:path>
              </a:pathLst>
            </a:custGeom>
            <a:ln w="25514">
              <a:solidFill>
                <a:srgbClr val="9ABA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130493" y="3992826"/>
            <a:ext cx="1402715" cy="1269365"/>
            <a:chOff x="1606492" y="3992825"/>
            <a:chExt cx="1402715" cy="1269365"/>
          </a:xfrm>
        </p:grpSpPr>
        <p:sp>
          <p:nvSpPr>
            <p:cNvPr id="20" name="object 20"/>
            <p:cNvSpPr/>
            <p:nvPr/>
          </p:nvSpPr>
          <p:spPr>
            <a:xfrm>
              <a:off x="1619249" y="4024637"/>
              <a:ext cx="1376680" cy="1224280"/>
            </a:xfrm>
            <a:custGeom>
              <a:avLst/>
              <a:gdLst/>
              <a:ahLst/>
              <a:cxnLst/>
              <a:rect l="l" t="t" r="r" b="b"/>
              <a:pathLst>
                <a:path w="1376680" h="1224279">
                  <a:moveTo>
                    <a:pt x="0" y="1224267"/>
                  </a:moveTo>
                  <a:lnTo>
                    <a:pt x="1376680" y="0"/>
                  </a:lnTo>
                </a:path>
              </a:pathLst>
            </a:custGeom>
            <a:ln w="25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19249" y="4005582"/>
              <a:ext cx="1376680" cy="1223010"/>
            </a:xfrm>
            <a:custGeom>
              <a:avLst/>
              <a:gdLst/>
              <a:ahLst/>
              <a:cxnLst/>
              <a:rect l="l" t="t" r="r" b="b"/>
              <a:pathLst>
                <a:path w="1376680" h="1223010">
                  <a:moveTo>
                    <a:pt x="0" y="1223010"/>
                  </a:moveTo>
                  <a:lnTo>
                    <a:pt x="1376680" y="0"/>
                  </a:lnTo>
                </a:path>
              </a:pathLst>
            </a:custGeom>
            <a:ln w="25514">
              <a:solidFill>
                <a:srgbClr val="9ABA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412682" y="4005523"/>
            <a:ext cx="1402715" cy="1270635"/>
            <a:chOff x="3888681" y="4005522"/>
            <a:chExt cx="1402715" cy="1270635"/>
          </a:xfrm>
        </p:grpSpPr>
        <p:sp>
          <p:nvSpPr>
            <p:cNvPr id="23" name="object 23"/>
            <p:cNvSpPr/>
            <p:nvPr/>
          </p:nvSpPr>
          <p:spPr>
            <a:xfrm>
              <a:off x="3901438" y="4038603"/>
              <a:ext cx="1377315" cy="1224280"/>
            </a:xfrm>
            <a:custGeom>
              <a:avLst/>
              <a:gdLst/>
              <a:ahLst/>
              <a:cxnLst/>
              <a:rect l="l" t="t" r="r" b="b"/>
              <a:pathLst>
                <a:path w="1377314" h="1224279">
                  <a:moveTo>
                    <a:pt x="0" y="1224280"/>
                  </a:moveTo>
                  <a:lnTo>
                    <a:pt x="1376692" y="0"/>
                  </a:lnTo>
                </a:path>
              </a:pathLst>
            </a:custGeom>
            <a:ln w="25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01438" y="4018280"/>
              <a:ext cx="1377315" cy="1224280"/>
            </a:xfrm>
            <a:custGeom>
              <a:avLst/>
              <a:gdLst/>
              <a:ahLst/>
              <a:cxnLst/>
              <a:rect l="l" t="t" r="r" b="b"/>
              <a:pathLst>
                <a:path w="1377314" h="1224279">
                  <a:moveTo>
                    <a:pt x="0" y="1224280"/>
                  </a:moveTo>
                  <a:lnTo>
                    <a:pt x="1376692" y="0"/>
                  </a:lnTo>
                </a:path>
              </a:pathLst>
            </a:custGeom>
            <a:ln w="25514">
              <a:solidFill>
                <a:srgbClr val="9ABA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54453" y="2073906"/>
            <a:ext cx="84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M</a:t>
            </a:r>
            <a:r>
              <a:rPr sz="1800" spc="-15" dirty="0">
                <a:latin typeface="Calibri"/>
                <a:cs typeface="Calibri"/>
              </a:rPr>
              <a:t>á</a:t>
            </a:r>
            <a:r>
              <a:rPr sz="1800" dirty="0">
                <a:latin typeface="Calibri"/>
                <a:cs typeface="Calibri"/>
              </a:rPr>
              <a:t>qu</a:t>
            </a:r>
            <a:r>
              <a:rPr sz="1800" spc="-20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8824474" y="6488174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pPr marL="38100">
                <a:lnSpc>
                  <a:spcPts val="1240"/>
                </a:lnSpc>
              </a:pPr>
              <a:t>19</a:t>
            </a:fld>
            <a:endParaRPr dirty="0"/>
          </a:p>
        </p:txBody>
      </p:sp>
      <p:sp>
        <p:nvSpPr>
          <p:cNvPr id="26" name="object 26"/>
          <p:cNvSpPr txBox="1"/>
          <p:nvPr/>
        </p:nvSpPr>
        <p:spPr>
          <a:xfrm>
            <a:off x="5253492" y="2073906"/>
            <a:ext cx="706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Pessoal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43922" y="5304709"/>
            <a:ext cx="75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M</a:t>
            </a:r>
            <a:r>
              <a:rPr sz="1800" spc="-35" dirty="0">
                <a:latin typeface="Calibri"/>
                <a:cs typeface="Calibri"/>
              </a:rPr>
              <a:t>é</a:t>
            </a:r>
            <a:r>
              <a:rPr sz="1800" spc="-4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81814" y="5332599"/>
            <a:ext cx="794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Material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03325" y="2555337"/>
            <a:ext cx="186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Falta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capacitação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70846" y="4081928"/>
            <a:ext cx="1449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á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2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bu</a:t>
            </a:r>
            <a:r>
              <a:rPr sz="1800" spc="-20" dirty="0">
                <a:latin typeface="Calibri"/>
                <a:cs typeface="Calibri"/>
              </a:rPr>
              <a:t>i</a:t>
            </a:r>
            <a:r>
              <a:rPr sz="1800" spc="-45" dirty="0">
                <a:latin typeface="Calibri"/>
                <a:cs typeface="Calibri"/>
              </a:rPr>
              <a:t>ç</a:t>
            </a:r>
            <a:r>
              <a:rPr sz="1800" dirty="0">
                <a:latin typeface="Calibri"/>
                <a:cs typeface="Calibri"/>
              </a:rPr>
              <a:t>ão  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pessoal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9938" y="535047"/>
            <a:ext cx="3590290" cy="63500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5" dirty="0">
                <a:latin typeface="Calibri"/>
                <a:cs typeface="Calibri"/>
              </a:rPr>
              <a:t>Crise</a:t>
            </a:r>
            <a:r>
              <a:rPr sz="4000" b="0" spc="-55" dirty="0">
                <a:latin typeface="Calibri"/>
                <a:cs typeface="Calibri"/>
              </a:rPr>
              <a:t> </a:t>
            </a:r>
            <a:r>
              <a:rPr sz="4000" b="0" spc="-5" dirty="0">
                <a:latin typeface="Calibri"/>
                <a:cs typeface="Calibri"/>
              </a:rPr>
              <a:t>do</a:t>
            </a:r>
            <a:r>
              <a:rPr sz="4000" b="0" spc="-25" dirty="0">
                <a:latin typeface="Calibri"/>
                <a:cs typeface="Calibri"/>
              </a:rPr>
              <a:t> </a:t>
            </a:r>
            <a:r>
              <a:rPr sz="4000" b="0" spc="-40" dirty="0">
                <a:latin typeface="Calibri"/>
                <a:cs typeface="Calibri"/>
              </a:rPr>
              <a:t>software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0518" y="1524888"/>
            <a:ext cx="8079740" cy="40735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226060" indent="-213360">
              <a:spcBef>
                <a:spcPts val="414"/>
              </a:spcBef>
              <a:buClr>
                <a:srgbClr val="9ABA59"/>
              </a:buClr>
              <a:buFont typeface="Arial MT"/>
              <a:buChar char="•"/>
              <a:tabLst>
                <a:tab pos="226060" algn="l"/>
              </a:tabLst>
            </a:pPr>
            <a:r>
              <a:rPr sz="1950" spc="5" dirty="0">
                <a:latin typeface="Calibri"/>
                <a:cs typeface="Calibri"/>
              </a:rPr>
              <a:t>Somos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capazes</a:t>
            </a:r>
            <a:r>
              <a:rPr sz="1950" spc="5" dirty="0">
                <a:latin typeface="Calibri"/>
                <a:cs typeface="Calibri"/>
              </a:rPr>
              <a:t> de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produzir</a:t>
            </a:r>
            <a:r>
              <a:rPr sz="1950" spc="-10" dirty="0">
                <a:latin typeface="Calibri"/>
                <a:cs typeface="Calibri"/>
              </a:rPr>
              <a:t> software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de</a:t>
            </a:r>
            <a:r>
              <a:rPr sz="1950" dirty="0">
                <a:latin typeface="Calibri"/>
                <a:cs typeface="Calibri"/>
              </a:rPr>
              <a:t> qualidade?</a:t>
            </a:r>
            <a:endParaRPr sz="1950">
              <a:latin typeface="Calibri"/>
              <a:cs typeface="Calibri"/>
            </a:endParaRPr>
          </a:p>
          <a:p>
            <a:pPr marL="471170" marR="257810" lvl="1" indent="-175895">
              <a:lnSpc>
                <a:spcPct val="102299"/>
              </a:lnSpc>
              <a:spcBef>
                <a:spcPts val="225"/>
              </a:spcBef>
              <a:buClr>
                <a:srgbClr val="FF0000"/>
              </a:buClr>
              <a:buFont typeface="Arial MT"/>
              <a:buChar char="–"/>
              <a:tabLst>
                <a:tab pos="473075" algn="l"/>
              </a:tabLst>
            </a:pPr>
            <a:r>
              <a:rPr sz="1700" spc="-15" dirty="0">
                <a:latin typeface="Calibri"/>
                <a:cs typeface="Calibri"/>
              </a:rPr>
              <a:t>Existem </a:t>
            </a:r>
            <a:r>
              <a:rPr sz="1700" dirty="0">
                <a:latin typeface="Calibri"/>
                <a:cs typeface="Calibri"/>
              </a:rPr>
              <a:t>aspectos não </a:t>
            </a:r>
            <a:r>
              <a:rPr sz="1700" spc="-10" dirty="0">
                <a:latin typeface="Calibri"/>
                <a:cs typeface="Calibri"/>
              </a:rPr>
              <a:t>repetitivos </a:t>
            </a:r>
            <a:r>
              <a:rPr sz="1700" dirty="0">
                <a:latin typeface="Calibri"/>
                <a:cs typeface="Calibri"/>
              </a:rPr>
              <a:t>do </a:t>
            </a:r>
            <a:r>
              <a:rPr sz="1700" spc="-10" dirty="0">
                <a:latin typeface="Calibri"/>
                <a:cs typeface="Calibri"/>
              </a:rPr>
              <a:t>desenvolvimento </a:t>
            </a:r>
            <a:r>
              <a:rPr sz="1700" dirty="0">
                <a:latin typeface="Calibri"/>
                <a:cs typeface="Calibri"/>
              </a:rPr>
              <a:t>de </a:t>
            </a:r>
            <a:r>
              <a:rPr sz="1700" spc="-10" dirty="0">
                <a:latin typeface="Calibri"/>
                <a:cs typeface="Calibri"/>
              </a:rPr>
              <a:t>software, </a:t>
            </a:r>
            <a:r>
              <a:rPr sz="1700" spc="5" dirty="0">
                <a:latin typeface="Calibri"/>
                <a:cs typeface="Calibri"/>
              </a:rPr>
              <a:t>que </a:t>
            </a:r>
            <a:r>
              <a:rPr sz="1700" spc="-5" dirty="0">
                <a:latin typeface="Calibri"/>
                <a:cs typeface="Calibri"/>
              </a:rPr>
              <a:t>tornam </a:t>
            </a:r>
            <a:r>
              <a:rPr sz="1700" spc="5" dirty="0">
                <a:latin typeface="Calibri"/>
                <a:cs typeface="Calibri"/>
              </a:rPr>
              <a:t>essa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atividade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difícil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também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imprevisível</a:t>
            </a:r>
            <a:endParaRPr sz="17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FF0000"/>
              </a:buClr>
              <a:buFont typeface="Arial MT"/>
              <a:buChar char="–"/>
            </a:pPr>
            <a:endParaRPr sz="1700">
              <a:latin typeface="Calibri"/>
              <a:cs typeface="Calibri"/>
            </a:endParaRPr>
          </a:p>
          <a:p>
            <a:pPr marL="226060" indent="-213360">
              <a:spcBef>
                <a:spcPts val="1430"/>
              </a:spcBef>
              <a:buClr>
                <a:srgbClr val="9ABA59"/>
              </a:buClr>
              <a:buFont typeface="Arial MT"/>
              <a:buChar char="•"/>
              <a:tabLst>
                <a:tab pos="226060" algn="l"/>
              </a:tabLst>
            </a:pPr>
            <a:r>
              <a:rPr sz="1950" dirty="0">
                <a:latin typeface="Calibri"/>
                <a:cs typeface="Calibri"/>
              </a:rPr>
              <a:t>As dificuldades começam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nas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etapas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iniciais:</a:t>
            </a:r>
            <a:endParaRPr sz="1950">
              <a:latin typeface="Calibri"/>
              <a:cs typeface="Calibri"/>
            </a:endParaRPr>
          </a:p>
          <a:p>
            <a:pPr marL="472440" lvl="1" indent="-177165">
              <a:spcBef>
                <a:spcPts val="409"/>
              </a:spcBef>
              <a:buClr>
                <a:srgbClr val="FF0000"/>
              </a:buClr>
              <a:buFont typeface="Arial MT"/>
              <a:buChar char="–"/>
              <a:tabLst>
                <a:tab pos="473075" algn="l"/>
              </a:tabLst>
            </a:pPr>
            <a:r>
              <a:rPr sz="1700" dirty="0">
                <a:latin typeface="Calibri"/>
                <a:cs typeface="Calibri"/>
              </a:rPr>
              <a:t>Na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definição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</a:t>
            </a:r>
            <a:r>
              <a:rPr sz="1700" spc="-5" dirty="0">
                <a:latin typeface="Calibri"/>
                <a:cs typeface="Calibri"/>
              </a:rPr>
              <a:t> escopo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existem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requisitos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que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são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voláteis</a:t>
            </a:r>
            <a:endParaRPr sz="1700">
              <a:latin typeface="Calibri"/>
              <a:cs typeface="Calibri"/>
            </a:endParaRPr>
          </a:p>
          <a:p>
            <a:pPr lvl="1">
              <a:spcBef>
                <a:spcPts val="50"/>
              </a:spcBef>
              <a:buClr>
                <a:srgbClr val="FF0000"/>
              </a:buClr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226060" indent="-213360">
              <a:buClr>
                <a:srgbClr val="9ABA59"/>
              </a:buClr>
              <a:buFont typeface="Arial MT"/>
              <a:buChar char="•"/>
              <a:tabLst>
                <a:tab pos="226060" algn="l"/>
              </a:tabLst>
            </a:pPr>
            <a:r>
              <a:rPr sz="1950" dirty="0">
                <a:latin typeface="Calibri"/>
                <a:cs typeface="Calibri"/>
              </a:rPr>
              <a:t>Ainda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existe </a:t>
            </a:r>
            <a:r>
              <a:rPr sz="1950" dirty="0">
                <a:latin typeface="Calibri"/>
                <a:cs typeface="Calibri"/>
              </a:rPr>
              <a:t>o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Fator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Humano:</a:t>
            </a:r>
            <a:endParaRPr sz="1950">
              <a:latin typeface="Calibri"/>
              <a:cs typeface="Calibri"/>
            </a:endParaRPr>
          </a:p>
          <a:p>
            <a:pPr marL="472440" lvl="1" indent="-177165">
              <a:spcBef>
                <a:spcPts val="420"/>
              </a:spcBef>
              <a:buClr>
                <a:srgbClr val="FF0000"/>
              </a:buClr>
              <a:buFont typeface="Arial MT"/>
              <a:buChar char="–"/>
              <a:tabLst>
                <a:tab pos="473075" algn="l"/>
              </a:tabLst>
            </a:pPr>
            <a:r>
              <a:rPr sz="1700" spc="-5" dirty="0">
                <a:latin typeface="Calibri"/>
                <a:cs typeface="Calibri"/>
              </a:rPr>
              <a:t>Devemos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conciliar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disciplina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</a:t>
            </a:r>
            <a:r>
              <a:rPr sz="1700" spc="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caráter</a:t>
            </a:r>
            <a:r>
              <a:rPr sz="1700" spc="-5" dirty="0">
                <a:latin typeface="Calibri"/>
                <a:cs typeface="Calibri"/>
              </a:rPr>
              <a:t> aleatório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 </a:t>
            </a:r>
            <a:r>
              <a:rPr sz="1700" spc="-5" dirty="0">
                <a:latin typeface="Calibri"/>
                <a:cs typeface="Calibri"/>
              </a:rPr>
              <a:t>criação</a:t>
            </a:r>
            <a:endParaRPr sz="1700">
              <a:latin typeface="Calibri"/>
              <a:cs typeface="Calibri"/>
            </a:endParaRPr>
          </a:p>
          <a:p>
            <a:pPr lvl="1">
              <a:spcBef>
                <a:spcPts val="35"/>
              </a:spcBef>
              <a:buClr>
                <a:srgbClr val="FF0000"/>
              </a:buClr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226060" indent="-213360">
              <a:spcBef>
                <a:spcPts val="5"/>
              </a:spcBef>
              <a:buClr>
                <a:srgbClr val="9ABA59"/>
              </a:buClr>
              <a:buFont typeface="Arial MT"/>
              <a:buChar char="•"/>
              <a:tabLst>
                <a:tab pos="226060" algn="l"/>
              </a:tabLst>
            </a:pPr>
            <a:r>
              <a:rPr sz="1950" dirty="0">
                <a:latin typeface="Calibri"/>
                <a:cs typeface="Calibri"/>
              </a:rPr>
              <a:t>Engenharia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de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Software:</a:t>
            </a:r>
            <a:endParaRPr sz="1950">
              <a:latin typeface="Calibri"/>
              <a:cs typeface="Calibri"/>
            </a:endParaRPr>
          </a:p>
          <a:p>
            <a:pPr marL="472440" lvl="1" indent="-177165">
              <a:spcBef>
                <a:spcPts val="415"/>
              </a:spcBef>
              <a:buClr>
                <a:srgbClr val="FF0000"/>
              </a:buClr>
              <a:buFont typeface="Arial MT"/>
              <a:buChar char="–"/>
              <a:tabLst>
                <a:tab pos="473075" algn="l"/>
              </a:tabLst>
            </a:pPr>
            <a:r>
              <a:rPr sz="1700" spc="-5" dirty="0">
                <a:latin typeface="Calibri"/>
                <a:cs typeface="Calibri"/>
              </a:rPr>
              <a:t>Aplica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princípios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métodos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da</a:t>
            </a:r>
            <a:r>
              <a:rPr sz="1700" spc="-5" dirty="0">
                <a:latin typeface="Calibri"/>
                <a:cs typeface="Calibri"/>
              </a:rPr>
              <a:t> engenharia </a:t>
            </a:r>
            <a:r>
              <a:rPr sz="1700" spc="-20" dirty="0">
                <a:latin typeface="Calibri"/>
                <a:cs typeface="Calibri"/>
              </a:rPr>
              <a:t>para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ajudar a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obter</a:t>
            </a:r>
            <a:r>
              <a:rPr sz="1700" dirty="0">
                <a:latin typeface="Calibri"/>
                <a:cs typeface="Calibri"/>
              </a:rPr>
              <a:t> a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qualidade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de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software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76299" y="5615941"/>
            <a:ext cx="1007110" cy="1029969"/>
            <a:chOff x="4352299" y="5615940"/>
            <a:chExt cx="1007110" cy="1029969"/>
          </a:xfrm>
        </p:grpSpPr>
        <p:sp>
          <p:nvSpPr>
            <p:cNvPr id="5" name="object 5"/>
            <p:cNvSpPr/>
            <p:nvPr/>
          </p:nvSpPr>
          <p:spPr>
            <a:xfrm>
              <a:off x="4352299" y="5638800"/>
              <a:ext cx="1007110" cy="1007110"/>
            </a:xfrm>
            <a:custGeom>
              <a:avLst/>
              <a:gdLst/>
              <a:ahLst/>
              <a:cxnLst/>
              <a:rect l="l" t="t" r="r" b="b"/>
              <a:pathLst>
                <a:path w="1007110" h="1007109">
                  <a:moveTo>
                    <a:pt x="502920" y="0"/>
                  </a:moveTo>
                  <a:lnTo>
                    <a:pt x="450824" y="2540"/>
                  </a:lnTo>
                  <a:lnTo>
                    <a:pt x="398767" y="11430"/>
                  </a:lnTo>
                  <a:lnTo>
                    <a:pt x="347954" y="24130"/>
                  </a:lnTo>
                  <a:lnTo>
                    <a:pt x="322567" y="34290"/>
                  </a:lnTo>
                  <a:lnTo>
                    <a:pt x="298424" y="43180"/>
                  </a:lnTo>
                  <a:lnTo>
                    <a:pt x="251460" y="67310"/>
                  </a:lnTo>
                  <a:lnTo>
                    <a:pt x="206984" y="96520"/>
                  </a:lnTo>
                  <a:lnTo>
                    <a:pt x="166357" y="129539"/>
                  </a:lnTo>
                  <a:lnTo>
                    <a:pt x="129540" y="166370"/>
                  </a:lnTo>
                  <a:lnTo>
                    <a:pt x="95250" y="208279"/>
                  </a:lnTo>
                  <a:lnTo>
                    <a:pt x="67297" y="251460"/>
                  </a:lnTo>
                  <a:lnTo>
                    <a:pt x="43154" y="298450"/>
                  </a:lnTo>
                  <a:lnTo>
                    <a:pt x="24104" y="347980"/>
                  </a:lnTo>
                  <a:lnTo>
                    <a:pt x="11430" y="398780"/>
                  </a:lnTo>
                  <a:lnTo>
                    <a:pt x="2527" y="450850"/>
                  </a:lnTo>
                  <a:lnTo>
                    <a:pt x="0" y="477520"/>
                  </a:lnTo>
                  <a:lnTo>
                    <a:pt x="0" y="529590"/>
                  </a:lnTo>
                  <a:lnTo>
                    <a:pt x="6337" y="582930"/>
                  </a:lnTo>
                  <a:lnTo>
                    <a:pt x="16484" y="633730"/>
                  </a:lnTo>
                  <a:lnTo>
                    <a:pt x="33007" y="684530"/>
                  </a:lnTo>
                  <a:lnTo>
                    <a:pt x="54584" y="732790"/>
                  </a:lnTo>
                  <a:lnTo>
                    <a:pt x="81254" y="777240"/>
                  </a:lnTo>
                  <a:lnTo>
                    <a:pt x="111734" y="820419"/>
                  </a:lnTo>
                  <a:lnTo>
                    <a:pt x="147307" y="859790"/>
                  </a:lnTo>
                  <a:lnTo>
                    <a:pt x="186690" y="895350"/>
                  </a:lnTo>
                  <a:lnTo>
                    <a:pt x="228600" y="925830"/>
                  </a:lnTo>
                  <a:lnTo>
                    <a:pt x="274320" y="952500"/>
                  </a:lnTo>
                  <a:lnTo>
                    <a:pt x="322567" y="974090"/>
                  </a:lnTo>
                  <a:lnTo>
                    <a:pt x="398767" y="995680"/>
                  </a:lnTo>
                  <a:lnTo>
                    <a:pt x="450824" y="1004569"/>
                  </a:lnTo>
                  <a:lnTo>
                    <a:pt x="502920" y="1007110"/>
                  </a:lnTo>
                  <a:lnTo>
                    <a:pt x="529590" y="1007110"/>
                  </a:lnTo>
                  <a:lnTo>
                    <a:pt x="581647" y="1002030"/>
                  </a:lnTo>
                  <a:lnTo>
                    <a:pt x="633704" y="990600"/>
                  </a:lnTo>
                  <a:lnTo>
                    <a:pt x="683234" y="974090"/>
                  </a:lnTo>
                  <a:lnTo>
                    <a:pt x="731520" y="952500"/>
                  </a:lnTo>
                  <a:lnTo>
                    <a:pt x="777240" y="925830"/>
                  </a:lnTo>
                  <a:lnTo>
                    <a:pt x="820394" y="895350"/>
                  </a:lnTo>
                  <a:lnTo>
                    <a:pt x="859777" y="859790"/>
                  </a:lnTo>
                  <a:lnTo>
                    <a:pt x="910590" y="800100"/>
                  </a:lnTo>
                  <a:lnTo>
                    <a:pt x="939787" y="755650"/>
                  </a:lnTo>
                  <a:lnTo>
                    <a:pt x="972794" y="684530"/>
                  </a:lnTo>
                  <a:lnTo>
                    <a:pt x="989317" y="633730"/>
                  </a:lnTo>
                  <a:lnTo>
                    <a:pt x="1000747" y="582930"/>
                  </a:lnTo>
                  <a:lnTo>
                    <a:pt x="1005840" y="529590"/>
                  </a:lnTo>
                  <a:lnTo>
                    <a:pt x="1007084" y="504190"/>
                  </a:lnTo>
                  <a:lnTo>
                    <a:pt x="1004557" y="450850"/>
                  </a:lnTo>
                  <a:lnTo>
                    <a:pt x="995654" y="398780"/>
                  </a:lnTo>
                  <a:lnTo>
                    <a:pt x="982980" y="347980"/>
                  </a:lnTo>
                  <a:lnTo>
                    <a:pt x="963930" y="298450"/>
                  </a:lnTo>
                  <a:lnTo>
                    <a:pt x="939787" y="252729"/>
                  </a:lnTo>
                  <a:lnTo>
                    <a:pt x="910590" y="208279"/>
                  </a:lnTo>
                  <a:lnTo>
                    <a:pt x="877544" y="166370"/>
                  </a:lnTo>
                  <a:lnTo>
                    <a:pt x="840727" y="129539"/>
                  </a:lnTo>
                  <a:lnTo>
                    <a:pt x="798817" y="96520"/>
                  </a:lnTo>
                  <a:lnTo>
                    <a:pt x="755624" y="67310"/>
                  </a:lnTo>
                  <a:lnTo>
                    <a:pt x="708660" y="43180"/>
                  </a:lnTo>
                  <a:lnTo>
                    <a:pt x="683234" y="34290"/>
                  </a:lnTo>
                  <a:lnTo>
                    <a:pt x="659130" y="24130"/>
                  </a:lnTo>
                  <a:lnTo>
                    <a:pt x="608317" y="11430"/>
                  </a:lnTo>
                  <a:lnTo>
                    <a:pt x="581647" y="6350"/>
                  </a:lnTo>
                  <a:lnTo>
                    <a:pt x="556260" y="2540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52299" y="5615940"/>
              <a:ext cx="1007110" cy="1007110"/>
            </a:xfrm>
            <a:custGeom>
              <a:avLst/>
              <a:gdLst/>
              <a:ahLst/>
              <a:cxnLst/>
              <a:rect l="l" t="t" r="r" b="b"/>
              <a:pathLst>
                <a:path w="1007110" h="1007109">
                  <a:moveTo>
                    <a:pt x="502920" y="0"/>
                  </a:moveTo>
                  <a:lnTo>
                    <a:pt x="450824" y="2540"/>
                  </a:lnTo>
                  <a:lnTo>
                    <a:pt x="398767" y="11430"/>
                  </a:lnTo>
                  <a:lnTo>
                    <a:pt x="347954" y="24130"/>
                  </a:lnTo>
                  <a:lnTo>
                    <a:pt x="298424" y="43180"/>
                  </a:lnTo>
                  <a:lnTo>
                    <a:pt x="251460" y="67310"/>
                  </a:lnTo>
                  <a:lnTo>
                    <a:pt x="206984" y="96520"/>
                  </a:lnTo>
                  <a:lnTo>
                    <a:pt x="166357" y="129540"/>
                  </a:lnTo>
                  <a:lnTo>
                    <a:pt x="129540" y="166370"/>
                  </a:lnTo>
                  <a:lnTo>
                    <a:pt x="95250" y="208280"/>
                  </a:lnTo>
                  <a:lnTo>
                    <a:pt x="67297" y="251460"/>
                  </a:lnTo>
                  <a:lnTo>
                    <a:pt x="43154" y="298450"/>
                  </a:lnTo>
                  <a:lnTo>
                    <a:pt x="24104" y="347980"/>
                  </a:lnTo>
                  <a:lnTo>
                    <a:pt x="11430" y="398780"/>
                  </a:lnTo>
                  <a:lnTo>
                    <a:pt x="2527" y="450850"/>
                  </a:lnTo>
                  <a:lnTo>
                    <a:pt x="0" y="477520"/>
                  </a:lnTo>
                  <a:lnTo>
                    <a:pt x="0" y="529590"/>
                  </a:lnTo>
                  <a:lnTo>
                    <a:pt x="6337" y="582930"/>
                  </a:lnTo>
                  <a:lnTo>
                    <a:pt x="16484" y="633730"/>
                  </a:lnTo>
                  <a:lnTo>
                    <a:pt x="33007" y="684530"/>
                  </a:lnTo>
                  <a:lnTo>
                    <a:pt x="54584" y="732790"/>
                  </a:lnTo>
                  <a:lnTo>
                    <a:pt x="81254" y="777240"/>
                  </a:lnTo>
                  <a:lnTo>
                    <a:pt x="111734" y="820420"/>
                  </a:lnTo>
                  <a:lnTo>
                    <a:pt x="147307" y="859790"/>
                  </a:lnTo>
                  <a:lnTo>
                    <a:pt x="206984" y="910590"/>
                  </a:lnTo>
                  <a:lnTo>
                    <a:pt x="251460" y="939800"/>
                  </a:lnTo>
                  <a:lnTo>
                    <a:pt x="298424" y="963930"/>
                  </a:lnTo>
                  <a:lnTo>
                    <a:pt x="347954" y="982980"/>
                  </a:lnTo>
                  <a:lnTo>
                    <a:pt x="398767" y="995680"/>
                  </a:lnTo>
                  <a:lnTo>
                    <a:pt x="450824" y="1004570"/>
                  </a:lnTo>
                  <a:lnTo>
                    <a:pt x="502920" y="1007110"/>
                  </a:lnTo>
                  <a:lnTo>
                    <a:pt x="529590" y="1007110"/>
                  </a:lnTo>
                  <a:lnTo>
                    <a:pt x="581647" y="1000760"/>
                  </a:lnTo>
                  <a:lnTo>
                    <a:pt x="633704" y="990600"/>
                  </a:lnTo>
                  <a:lnTo>
                    <a:pt x="683234" y="974090"/>
                  </a:lnTo>
                  <a:lnTo>
                    <a:pt x="731520" y="952500"/>
                  </a:lnTo>
                  <a:lnTo>
                    <a:pt x="777240" y="925830"/>
                  </a:lnTo>
                  <a:lnTo>
                    <a:pt x="820394" y="895350"/>
                  </a:lnTo>
                  <a:lnTo>
                    <a:pt x="859777" y="859790"/>
                  </a:lnTo>
                  <a:lnTo>
                    <a:pt x="910590" y="800100"/>
                  </a:lnTo>
                  <a:lnTo>
                    <a:pt x="939787" y="755650"/>
                  </a:lnTo>
                  <a:lnTo>
                    <a:pt x="972794" y="684530"/>
                  </a:lnTo>
                  <a:lnTo>
                    <a:pt x="989317" y="633730"/>
                  </a:lnTo>
                  <a:lnTo>
                    <a:pt x="1000747" y="582930"/>
                  </a:lnTo>
                  <a:lnTo>
                    <a:pt x="1005840" y="529590"/>
                  </a:lnTo>
                  <a:lnTo>
                    <a:pt x="1007084" y="504190"/>
                  </a:lnTo>
                  <a:lnTo>
                    <a:pt x="1004557" y="450850"/>
                  </a:lnTo>
                  <a:lnTo>
                    <a:pt x="995654" y="398780"/>
                  </a:lnTo>
                  <a:lnTo>
                    <a:pt x="982980" y="347980"/>
                  </a:lnTo>
                  <a:lnTo>
                    <a:pt x="963930" y="298450"/>
                  </a:lnTo>
                  <a:lnTo>
                    <a:pt x="939787" y="251460"/>
                  </a:lnTo>
                  <a:lnTo>
                    <a:pt x="910590" y="208280"/>
                  </a:lnTo>
                  <a:lnTo>
                    <a:pt x="877544" y="166370"/>
                  </a:lnTo>
                  <a:lnTo>
                    <a:pt x="840727" y="129540"/>
                  </a:lnTo>
                  <a:lnTo>
                    <a:pt x="777240" y="81280"/>
                  </a:lnTo>
                  <a:lnTo>
                    <a:pt x="731520" y="54610"/>
                  </a:lnTo>
                  <a:lnTo>
                    <a:pt x="683234" y="33020"/>
                  </a:lnTo>
                  <a:lnTo>
                    <a:pt x="608317" y="11430"/>
                  </a:lnTo>
                  <a:lnTo>
                    <a:pt x="556260" y="2540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C04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59934" y="6020306"/>
            <a:ext cx="635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pc="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endParaRPr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43408" y="5904230"/>
            <a:ext cx="429895" cy="431165"/>
          </a:xfrm>
          <a:custGeom>
            <a:avLst/>
            <a:gdLst/>
            <a:ahLst/>
            <a:cxnLst/>
            <a:rect l="l" t="t" r="r" b="b"/>
            <a:pathLst>
              <a:path w="429895" h="431164">
                <a:moveTo>
                  <a:pt x="429285" y="146050"/>
                </a:moveTo>
                <a:lnTo>
                  <a:pt x="283222" y="146050"/>
                </a:lnTo>
                <a:lnTo>
                  <a:pt x="283222" y="0"/>
                </a:lnTo>
                <a:lnTo>
                  <a:pt x="146050" y="0"/>
                </a:lnTo>
                <a:lnTo>
                  <a:pt x="146050" y="146050"/>
                </a:lnTo>
                <a:lnTo>
                  <a:pt x="0" y="146050"/>
                </a:lnTo>
                <a:lnTo>
                  <a:pt x="0" y="283210"/>
                </a:lnTo>
                <a:lnTo>
                  <a:pt x="146050" y="283210"/>
                </a:lnTo>
                <a:lnTo>
                  <a:pt x="146050" y="430542"/>
                </a:lnTo>
                <a:lnTo>
                  <a:pt x="283222" y="430542"/>
                </a:lnTo>
                <a:lnTo>
                  <a:pt x="283222" y="283210"/>
                </a:lnTo>
                <a:lnTo>
                  <a:pt x="429285" y="283210"/>
                </a:lnTo>
                <a:lnTo>
                  <a:pt x="429285" y="146050"/>
                </a:lnTo>
                <a:close/>
              </a:path>
            </a:pathLst>
          </a:custGeom>
          <a:solidFill>
            <a:srgbClr val="C04F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632707" y="5615941"/>
            <a:ext cx="1007110" cy="1029969"/>
            <a:chOff x="6108707" y="5615940"/>
            <a:chExt cx="1007110" cy="1029969"/>
          </a:xfrm>
        </p:grpSpPr>
        <p:sp>
          <p:nvSpPr>
            <p:cNvPr id="10" name="object 10"/>
            <p:cNvSpPr/>
            <p:nvPr/>
          </p:nvSpPr>
          <p:spPr>
            <a:xfrm>
              <a:off x="6108707" y="5638800"/>
              <a:ext cx="1007110" cy="1007110"/>
            </a:xfrm>
            <a:custGeom>
              <a:avLst/>
              <a:gdLst/>
              <a:ahLst/>
              <a:cxnLst/>
              <a:rect l="l" t="t" r="r" b="b"/>
              <a:pathLst>
                <a:path w="1007109" h="1007109">
                  <a:moveTo>
                    <a:pt x="502920" y="0"/>
                  </a:moveTo>
                  <a:lnTo>
                    <a:pt x="450824" y="2540"/>
                  </a:lnTo>
                  <a:lnTo>
                    <a:pt x="398767" y="11430"/>
                  </a:lnTo>
                  <a:lnTo>
                    <a:pt x="347954" y="24130"/>
                  </a:lnTo>
                  <a:lnTo>
                    <a:pt x="322567" y="34290"/>
                  </a:lnTo>
                  <a:lnTo>
                    <a:pt x="298424" y="43180"/>
                  </a:lnTo>
                  <a:lnTo>
                    <a:pt x="251460" y="67310"/>
                  </a:lnTo>
                  <a:lnTo>
                    <a:pt x="206984" y="96520"/>
                  </a:lnTo>
                  <a:lnTo>
                    <a:pt x="166357" y="129539"/>
                  </a:lnTo>
                  <a:lnTo>
                    <a:pt x="128257" y="166370"/>
                  </a:lnTo>
                  <a:lnTo>
                    <a:pt x="95250" y="208279"/>
                  </a:lnTo>
                  <a:lnTo>
                    <a:pt x="67297" y="251460"/>
                  </a:lnTo>
                  <a:lnTo>
                    <a:pt x="43154" y="298450"/>
                  </a:lnTo>
                  <a:lnTo>
                    <a:pt x="24104" y="347980"/>
                  </a:lnTo>
                  <a:lnTo>
                    <a:pt x="10147" y="398780"/>
                  </a:lnTo>
                  <a:lnTo>
                    <a:pt x="2527" y="450850"/>
                  </a:lnTo>
                  <a:lnTo>
                    <a:pt x="0" y="477520"/>
                  </a:lnTo>
                  <a:lnTo>
                    <a:pt x="0" y="529590"/>
                  </a:lnTo>
                  <a:lnTo>
                    <a:pt x="5054" y="582930"/>
                  </a:lnTo>
                  <a:lnTo>
                    <a:pt x="16484" y="633730"/>
                  </a:lnTo>
                  <a:lnTo>
                    <a:pt x="33007" y="684530"/>
                  </a:lnTo>
                  <a:lnTo>
                    <a:pt x="54584" y="732790"/>
                  </a:lnTo>
                  <a:lnTo>
                    <a:pt x="81254" y="777240"/>
                  </a:lnTo>
                  <a:lnTo>
                    <a:pt x="111734" y="820419"/>
                  </a:lnTo>
                  <a:lnTo>
                    <a:pt x="147307" y="859790"/>
                  </a:lnTo>
                  <a:lnTo>
                    <a:pt x="186690" y="895350"/>
                  </a:lnTo>
                  <a:lnTo>
                    <a:pt x="228600" y="925830"/>
                  </a:lnTo>
                  <a:lnTo>
                    <a:pt x="274320" y="952500"/>
                  </a:lnTo>
                  <a:lnTo>
                    <a:pt x="322567" y="974090"/>
                  </a:lnTo>
                  <a:lnTo>
                    <a:pt x="372097" y="989330"/>
                  </a:lnTo>
                  <a:lnTo>
                    <a:pt x="424154" y="1000760"/>
                  </a:lnTo>
                  <a:lnTo>
                    <a:pt x="502920" y="1007110"/>
                  </a:lnTo>
                  <a:lnTo>
                    <a:pt x="529590" y="1007110"/>
                  </a:lnTo>
                  <a:lnTo>
                    <a:pt x="581647" y="1002030"/>
                  </a:lnTo>
                  <a:lnTo>
                    <a:pt x="633704" y="990600"/>
                  </a:lnTo>
                  <a:lnTo>
                    <a:pt x="683234" y="974090"/>
                  </a:lnTo>
                  <a:lnTo>
                    <a:pt x="731520" y="952500"/>
                  </a:lnTo>
                  <a:lnTo>
                    <a:pt x="777240" y="925830"/>
                  </a:lnTo>
                  <a:lnTo>
                    <a:pt x="820394" y="895350"/>
                  </a:lnTo>
                  <a:lnTo>
                    <a:pt x="858494" y="859790"/>
                  </a:lnTo>
                  <a:lnTo>
                    <a:pt x="910590" y="800100"/>
                  </a:lnTo>
                  <a:lnTo>
                    <a:pt x="938504" y="755650"/>
                  </a:lnTo>
                  <a:lnTo>
                    <a:pt x="962647" y="708660"/>
                  </a:lnTo>
                  <a:lnTo>
                    <a:pt x="981697" y="659130"/>
                  </a:lnTo>
                  <a:lnTo>
                    <a:pt x="995654" y="608330"/>
                  </a:lnTo>
                  <a:lnTo>
                    <a:pt x="1003274" y="556260"/>
                  </a:lnTo>
                  <a:lnTo>
                    <a:pt x="1005840" y="529590"/>
                  </a:lnTo>
                  <a:lnTo>
                    <a:pt x="1005840" y="504190"/>
                  </a:lnTo>
                  <a:lnTo>
                    <a:pt x="1007084" y="504190"/>
                  </a:lnTo>
                  <a:lnTo>
                    <a:pt x="1000747" y="425450"/>
                  </a:lnTo>
                  <a:lnTo>
                    <a:pt x="989317" y="373380"/>
                  </a:lnTo>
                  <a:lnTo>
                    <a:pt x="972794" y="323850"/>
                  </a:lnTo>
                  <a:lnTo>
                    <a:pt x="952500" y="275590"/>
                  </a:lnTo>
                  <a:lnTo>
                    <a:pt x="925830" y="229870"/>
                  </a:lnTo>
                  <a:lnTo>
                    <a:pt x="894067" y="186690"/>
                  </a:lnTo>
                  <a:lnTo>
                    <a:pt x="858494" y="147320"/>
                  </a:lnTo>
                  <a:lnTo>
                    <a:pt x="820394" y="113030"/>
                  </a:lnTo>
                  <a:lnTo>
                    <a:pt x="777240" y="81280"/>
                  </a:lnTo>
                  <a:lnTo>
                    <a:pt x="731520" y="54610"/>
                  </a:lnTo>
                  <a:lnTo>
                    <a:pt x="659130" y="24130"/>
                  </a:lnTo>
                  <a:lnTo>
                    <a:pt x="608317" y="11430"/>
                  </a:lnTo>
                  <a:lnTo>
                    <a:pt x="554977" y="2540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8707" y="5615940"/>
              <a:ext cx="1007110" cy="1007110"/>
            </a:xfrm>
            <a:custGeom>
              <a:avLst/>
              <a:gdLst/>
              <a:ahLst/>
              <a:cxnLst/>
              <a:rect l="l" t="t" r="r" b="b"/>
              <a:pathLst>
                <a:path w="1007109" h="1007109">
                  <a:moveTo>
                    <a:pt x="502920" y="0"/>
                  </a:moveTo>
                  <a:lnTo>
                    <a:pt x="450824" y="2540"/>
                  </a:lnTo>
                  <a:lnTo>
                    <a:pt x="398767" y="11430"/>
                  </a:lnTo>
                  <a:lnTo>
                    <a:pt x="347954" y="24130"/>
                  </a:lnTo>
                  <a:lnTo>
                    <a:pt x="298424" y="43180"/>
                  </a:lnTo>
                  <a:lnTo>
                    <a:pt x="251460" y="67310"/>
                  </a:lnTo>
                  <a:lnTo>
                    <a:pt x="206984" y="96520"/>
                  </a:lnTo>
                  <a:lnTo>
                    <a:pt x="166357" y="129540"/>
                  </a:lnTo>
                  <a:lnTo>
                    <a:pt x="128257" y="166370"/>
                  </a:lnTo>
                  <a:lnTo>
                    <a:pt x="95250" y="208280"/>
                  </a:lnTo>
                  <a:lnTo>
                    <a:pt x="67297" y="251460"/>
                  </a:lnTo>
                  <a:lnTo>
                    <a:pt x="43154" y="298450"/>
                  </a:lnTo>
                  <a:lnTo>
                    <a:pt x="24104" y="347980"/>
                  </a:lnTo>
                  <a:lnTo>
                    <a:pt x="10147" y="398780"/>
                  </a:lnTo>
                  <a:lnTo>
                    <a:pt x="2527" y="450850"/>
                  </a:lnTo>
                  <a:lnTo>
                    <a:pt x="0" y="477520"/>
                  </a:lnTo>
                  <a:lnTo>
                    <a:pt x="0" y="529590"/>
                  </a:lnTo>
                  <a:lnTo>
                    <a:pt x="5054" y="582930"/>
                  </a:lnTo>
                  <a:lnTo>
                    <a:pt x="16484" y="633730"/>
                  </a:lnTo>
                  <a:lnTo>
                    <a:pt x="33007" y="684530"/>
                  </a:lnTo>
                  <a:lnTo>
                    <a:pt x="54584" y="732790"/>
                  </a:lnTo>
                  <a:lnTo>
                    <a:pt x="81254" y="777240"/>
                  </a:lnTo>
                  <a:lnTo>
                    <a:pt x="111734" y="820420"/>
                  </a:lnTo>
                  <a:lnTo>
                    <a:pt x="147307" y="859790"/>
                  </a:lnTo>
                  <a:lnTo>
                    <a:pt x="206984" y="910590"/>
                  </a:lnTo>
                  <a:lnTo>
                    <a:pt x="251460" y="939800"/>
                  </a:lnTo>
                  <a:lnTo>
                    <a:pt x="298424" y="963930"/>
                  </a:lnTo>
                  <a:lnTo>
                    <a:pt x="347954" y="982980"/>
                  </a:lnTo>
                  <a:lnTo>
                    <a:pt x="398767" y="995680"/>
                  </a:lnTo>
                  <a:lnTo>
                    <a:pt x="450824" y="1004570"/>
                  </a:lnTo>
                  <a:lnTo>
                    <a:pt x="502920" y="1007110"/>
                  </a:lnTo>
                  <a:lnTo>
                    <a:pt x="529590" y="1007110"/>
                  </a:lnTo>
                  <a:lnTo>
                    <a:pt x="581647" y="1000760"/>
                  </a:lnTo>
                  <a:lnTo>
                    <a:pt x="633704" y="990600"/>
                  </a:lnTo>
                  <a:lnTo>
                    <a:pt x="683234" y="974090"/>
                  </a:lnTo>
                  <a:lnTo>
                    <a:pt x="731520" y="952500"/>
                  </a:lnTo>
                  <a:lnTo>
                    <a:pt x="777240" y="925830"/>
                  </a:lnTo>
                  <a:lnTo>
                    <a:pt x="820394" y="895350"/>
                  </a:lnTo>
                  <a:lnTo>
                    <a:pt x="858494" y="859790"/>
                  </a:lnTo>
                  <a:lnTo>
                    <a:pt x="910590" y="800100"/>
                  </a:lnTo>
                  <a:lnTo>
                    <a:pt x="938504" y="755650"/>
                  </a:lnTo>
                  <a:lnTo>
                    <a:pt x="962647" y="708660"/>
                  </a:lnTo>
                  <a:lnTo>
                    <a:pt x="981697" y="659130"/>
                  </a:lnTo>
                  <a:lnTo>
                    <a:pt x="995654" y="608330"/>
                  </a:lnTo>
                  <a:lnTo>
                    <a:pt x="1003274" y="556260"/>
                  </a:lnTo>
                  <a:lnTo>
                    <a:pt x="1005840" y="529590"/>
                  </a:lnTo>
                  <a:lnTo>
                    <a:pt x="1005840" y="504190"/>
                  </a:lnTo>
                  <a:lnTo>
                    <a:pt x="1007084" y="504190"/>
                  </a:lnTo>
                  <a:lnTo>
                    <a:pt x="1000747" y="425450"/>
                  </a:lnTo>
                  <a:lnTo>
                    <a:pt x="989317" y="373380"/>
                  </a:lnTo>
                  <a:lnTo>
                    <a:pt x="972794" y="323850"/>
                  </a:lnTo>
                  <a:lnTo>
                    <a:pt x="952500" y="275590"/>
                  </a:lnTo>
                  <a:lnTo>
                    <a:pt x="925830" y="229870"/>
                  </a:lnTo>
                  <a:lnTo>
                    <a:pt x="894067" y="186690"/>
                  </a:lnTo>
                  <a:lnTo>
                    <a:pt x="858494" y="147320"/>
                  </a:lnTo>
                  <a:lnTo>
                    <a:pt x="820394" y="111760"/>
                  </a:lnTo>
                  <a:lnTo>
                    <a:pt x="777240" y="81280"/>
                  </a:lnTo>
                  <a:lnTo>
                    <a:pt x="731520" y="54610"/>
                  </a:lnTo>
                  <a:lnTo>
                    <a:pt x="683234" y="33020"/>
                  </a:lnTo>
                  <a:lnTo>
                    <a:pt x="608317" y="11430"/>
                  </a:lnTo>
                  <a:lnTo>
                    <a:pt x="554977" y="2540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9ABA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44288" y="6020306"/>
            <a:ext cx="5772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ri</a:t>
            </a: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endParaRPr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98574" y="5947409"/>
            <a:ext cx="429259" cy="137160"/>
          </a:xfrm>
          <a:custGeom>
            <a:avLst/>
            <a:gdLst/>
            <a:ahLst/>
            <a:cxnLst/>
            <a:rect l="l" t="t" r="r" b="b"/>
            <a:pathLst>
              <a:path w="429259" h="137160">
                <a:moveTo>
                  <a:pt x="429247" y="0"/>
                </a:moveTo>
                <a:lnTo>
                  <a:pt x="0" y="0"/>
                </a:lnTo>
                <a:lnTo>
                  <a:pt x="0" y="137159"/>
                </a:lnTo>
                <a:lnTo>
                  <a:pt x="429247" y="137159"/>
                </a:lnTo>
                <a:lnTo>
                  <a:pt x="429247" y="0"/>
                </a:lnTo>
                <a:close/>
              </a:path>
            </a:pathLst>
          </a:custGeom>
          <a:solidFill>
            <a:srgbClr val="9ABA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98574" y="6154420"/>
            <a:ext cx="429259" cy="137160"/>
          </a:xfrm>
          <a:custGeom>
            <a:avLst/>
            <a:gdLst/>
            <a:ahLst/>
            <a:cxnLst/>
            <a:rect l="l" t="t" r="r" b="b"/>
            <a:pathLst>
              <a:path w="429259" h="137160">
                <a:moveTo>
                  <a:pt x="429247" y="0"/>
                </a:moveTo>
                <a:lnTo>
                  <a:pt x="0" y="0"/>
                </a:lnTo>
                <a:lnTo>
                  <a:pt x="0" y="137159"/>
                </a:lnTo>
                <a:lnTo>
                  <a:pt x="429247" y="137159"/>
                </a:lnTo>
                <a:lnTo>
                  <a:pt x="429247" y="0"/>
                </a:lnTo>
                <a:close/>
              </a:path>
            </a:pathLst>
          </a:custGeom>
          <a:solidFill>
            <a:srgbClr val="9ABA5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387837" y="5615941"/>
            <a:ext cx="1007744" cy="1029969"/>
            <a:chOff x="7863837" y="5615940"/>
            <a:chExt cx="1007744" cy="1029969"/>
          </a:xfrm>
        </p:grpSpPr>
        <p:sp>
          <p:nvSpPr>
            <p:cNvPr id="16" name="object 16"/>
            <p:cNvSpPr/>
            <p:nvPr/>
          </p:nvSpPr>
          <p:spPr>
            <a:xfrm>
              <a:off x="7863837" y="5638800"/>
              <a:ext cx="1007744" cy="1007110"/>
            </a:xfrm>
            <a:custGeom>
              <a:avLst/>
              <a:gdLst/>
              <a:ahLst/>
              <a:cxnLst/>
              <a:rect l="l" t="t" r="r" b="b"/>
              <a:pathLst>
                <a:path w="1007745" h="1007109">
                  <a:moveTo>
                    <a:pt x="504202" y="0"/>
                  </a:moveTo>
                  <a:lnTo>
                    <a:pt x="450862" y="2540"/>
                  </a:lnTo>
                  <a:lnTo>
                    <a:pt x="398767" y="11430"/>
                  </a:lnTo>
                  <a:lnTo>
                    <a:pt x="347992" y="24130"/>
                  </a:lnTo>
                  <a:lnTo>
                    <a:pt x="323850" y="34290"/>
                  </a:lnTo>
                  <a:lnTo>
                    <a:pt x="298462" y="43180"/>
                  </a:lnTo>
                  <a:lnTo>
                    <a:pt x="251460" y="67310"/>
                  </a:lnTo>
                  <a:lnTo>
                    <a:pt x="208267" y="96520"/>
                  </a:lnTo>
                  <a:lnTo>
                    <a:pt x="166357" y="129539"/>
                  </a:lnTo>
                  <a:lnTo>
                    <a:pt x="129540" y="166370"/>
                  </a:lnTo>
                  <a:lnTo>
                    <a:pt x="81292" y="229870"/>
                  </a:lnTo>
                  <a:lnTo>
                    <a:pt x="54622" y="275590"/>
                  </a:lnTo>
                  <a:lnTo>
                    <a:pt x="33007" y="323850"/>
                  </a:lnTo>
                  <a:lnTo>
                    <a:pt x="17767" y="373380"/>
                  </a:lnTo>
                  <a:lnTo>
                    <a:pt x="6337" y="425450"/>
                  </a:lnTo>
                  <a:lnTo>
                    <a:pt x="1282" y="477520"/>
                  </a:lnTo>
                  <a:lnTo>
                    <a:pt x="0" y="504190"/>
                  </a:lnTo>
                  <a:lnTo>
                    <a:pt x="2527" y="556260"/>
                  </a:lnTo>
                  <a:lnTo>
                    <a:pt x="17767" y="633730"/>
                  </a:lnTo>
                  <a:lnTo>
                    <a:pt x="33007" y="684530"/>
                  </a:lnTo>
                  <a:lnTo>
                    <a:pt x="54622" y="732790"/>
                  </a:lnTo>
                  <a:lnTo>
                    <a:pt x="81292" y="777240"/>
                  </a:lnTo>
                  <a:lnTo>
                    <a:pt x="111772" y="820419"/>
                  </a:lnTo>
                  <a:lnTo>
                    <a:pt x="147307" y="859790"/>
                  </a:lnTo>
                  <a:lnTo>
                    <a:pt x="186690" y="895350"/>
                  </a:lnTo>
                  <a:lnTo>
                    <a:pt x="229882" y="925830"/>
                  </a:lnTo>
                  <a:lnTo>
                    <a:pt x="275602" y="952500"/>
                  </a:lnTo>
                  <a:lnTo>
                    <a:pt x="323850" y="974090"/>
                  </a:lnTo>
                  <a:lnTo>
                    <a:pt x="398767" y="995680"/>
                  </a:lnTo>
                  <a:lnTo>
                    <a:pt x="450862" y="1004569"/>
                  </a:lnTo>
                  <a:lnTo>
                    <a:pt x="504202" y="1007110"/>
                  </a:lnTo>
                  <a:lnTo>
                    <a:pt x="529590" y="1007110"/>
                  </a:lnTo>
                  <a:lnTo>
                    <a:pt x="582930" y="1002030"/>
                  </a:lnTo>
                  <a:lnTo>
                    <a:pt x="633742" y="990600"/>
                  </a:lnTo>
                  <a:lnTo>
                    <a:pt x="684517" y="974090"/>
                  </a:lnTo>
                  <a:lnTo>
                    <a:pt x="732802" y="952500"/>
                  </a:lnTo>
                  <a:lnTo>
                    <a:pt x="777240" y="925830"/>
                  </a:lnTo>
                  <a:lnTo>
                    <a:pt x="820432" y="895350"/>
                  </a:lnTo>
                  <a:lnTo>
                    <a:pt x="859777" y="859790"/>
                  </a:lnTo>
                  <a:lnTo>
                    <a:pt x="910590" y="800100"/>
                  </a:lnTo>
                  <a:lnTo>
                    <a:pt x="939787" y="755650"/>
                  </a:lnTo>
                  <a:lnTo>
                    <a:pt x="963930" y="708660"/>
                  </a:lnTo>
                  <a:lnTo>
                    <a:pt x="972832" y="684530"/>
                  </a:lnTo>
                  <a:lnTo>
                    <a:pt x="982980" y="659130"/>
                  </a:lnTo>
                  <a:lnTo>
                    <a:pt x="995692" y="608330"/>
                  </a:lnTo>
                  <a:lnTo>
                    <a:pt x="1000747" y="582930"/>
                  </a:lnTo>
                  <a:lnTo>
                    <a:pt x="1004557" y="556260"/>
                  </a:lnTo>
                  <a:lnTo>
                    <a:pt x="1007122" y="504190"/>
                  </a:lnTo>
                  <a:lnTo>
                    <a:pt x="1007122" y="477520"/>
                  </a:lnTo>
                  <a:lnTo>
                    <a:pt x="995692" y="398780"/>
                  </a:lnTo>
                  <a:lnTo>
                    <a:pt x="982980" y="347980"/>
                  </a:lnTo>
                  <a:lnTo>
                    <a:pt x="963930" y="298450"/>
                  </a:lnTo>
                  <a:lnTo>
                    <a:pt x="939787" y="252729"/>
                  </a:lnTo>
                  <a:lnTo>
                    <a:pt x="895350" y="186690"/>
                  </a:lnTo>
                  <a:lnTo>
                    <a:pt x="859777" y="147320"/>
                  </a:lnTo>
                  <a:lnTo>
                    <a:pt x="800100" y="96520"/>
                  </a:lnTo>
                  <a:lnTo>
                    <a:pt x="755662" y="67310"/>
                  </a:lnTo>
                  <a:lnTo>
                    <a:pt x="708660" y="43180"/>
                  </a:lnTo>
                  <a:lnTo>
                    <a:pt x="684517" y="34290"/>
                  </a:lnTo>
                  <a:lnTo>
                    <a:pt x="659130" y="24130"/>
                  </a:lnTo>
                  <a:lnTo>
                    <a:pt x="608317" y="11430"/>
                  </a:lnTo>
                  <a:lnTo>
                    <a:pt x="582930" y="6350"/>
                  </a:lnTo>
                  <a:lnTo>
                    <a:pt x="556260" y="2540"/>
                  </a:lnTo>
                  <a:lnTo>
                    <a:pt x="504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63837" y="5615940"/>
              <a:ext cx="1007744" cy="1007110"/>
            </a:xfrm>
            <a:custGeom>
              <a:avLst/>
              <a:gdLst/>
              <a:ahLst/>
              <a:cxnLst/>
              <a:rect l="l" t="t" r="r" b="b"/>
              <a:pathLst>
                <a:path w="1007745" h="1007109">
                  <a:moveTo>
                    <a:pt x="504202" y="0"/>
                  </a:moveTo>
                  <a:lnTo>
                    <a:pt x="450862" y="2540"/>
                  </a:lnTo>
                  <a:lnTo>
                    <a:pt x="398767" y="11430"/>
                  </a:lnTo>
                  <a:lnTo>
                    <a:pt x="347992" y="24130"/>
                  </a:lnTo>
                  <a:lnTo>
                    <a:pt x="298462" y="43180"/>
                  </a:lnTo>
                  <a:lnTo>
                    <a:pt x="251460" y="67310"/>
                  </a:lnTo>
                  <a:lnTo>
                    <a:pt x="186690" y="111760"/>
                  </a:lnTo>
                  <a:lnTo>
                    <a:pt x="147307" y="147320"/>
                  </a:lnTo>
                  <a:lnTo>
                    <a:pt x="111772" y="186690"/>
                  </a:lnTo>
                  <a:lnTo>
                    <a:pt x="81292" y="229870"/>
                  </a:lnTo>
                  <a:lnTo>
                    <a:pt x="54622" y="275590"/>
                  </a:lnTo>
                  <a:lnTo>
                    <a:pt x="33007" y="323850"/>
                  </a:lnTo>
                  <a:lnTo>
                    <a:pt x="17767" y="373380"/>
                  </a:lnTo>
                  <a:lnTo>
                    <a:pt x="6337" y="425450"/>
                  </a:lnTo>
                  <a:lnTo>
                    <a:pt x="1282" y="477520"/>
                  </a:lnTo>
                  <a:lnTo>
                    <a:pt x="0" y="504190"/>
                  </a:lnTo>
                  <a:lnTo>
                    <a:pt x="2527" y="556260"/>
                  </a:lnTo>
                  <a:lnTo>
                    <a:pt x="17767" y="633730"/>
                  </a:lnTo>
                  <a:lnTo>
                    <a:pt x="33007" y="684530"/>
                  </a:lnTo>
                  <a:lnTo>
                    <a:pt x="54622" y="732790"/>
                  </a:lnTo>
                  <a:lnTo>
                    <a:pt x="81292" y="777240"/>
                  </a:lnTo>
                  <a:lnTo>
                    <a:pt x="111772" y="820420"/>
                  </a:lnTo>
                  <a:lnTo>
                    <a:pt x="147307" y="859790"/>
                  </a:lnTo>
                  <a:lnTo>
                    <a:pt x="186690" y="894080"/>
                  </a:lnTo>
                  <a:lnTo>
                    <a:pt x="229882" y="925830"/>
                  </a:lnTo>
                  <a:lnTo>
                    <a:pt x="275602" y="952500"/>
                  </a:lnTo>
                  <a:lnTo>
                    <a:pt x="323850" y="974090"/>
                  </a:lnTo>
                  <a:lnTo>
                    <a:pt x="398767" y="995680"/>
                  </a:lnTo>
                  <a:lnTo>
                    <a:pt x="450862" y="1004570"/>
                  </a:lnTo>
                  <a:lnTo>
                    <a:pt x="504202" y="1007110"/>
                  </a:lnTo>
                  <a:lnTo>
                    <a:pt x="529590" y="1007110"/>
                  </a:lnTo>
                  <a:lnTo>
                    <a:pt x="582930" y="1000760"/>
                  </a:lnTo>
                  <a:lnTo>
                    <a:pt x="633742" y="990600"/>
                  </a:lnTo>
                  <a:lnTo>
                    <a:pt x="684517" y="974090"/>
                  </a:lnTo>
                  <a:lnTo>
                    <a:pt x="732802" y="952500"/>
                  </a:lnTo>
                  <a:lnTo>
                    <a:pt x="777240" y="925830"/>
                  </a:lnTo>
                  <a:lnTo>
                    <a:pt x="820432" y="895350"/>
                  </a:lnTo>
                  <a:lnTo>
                    <a:pt x="859777" y="859790"/>
                  </a:lnTo>
                  <a:lnTo>
                    <a:pt x="910590" y="800100"/>
                  </a:lnTo>
                  <a:lnTo>
                    <a:pt x="939787" y="755650"/>
                  </a:lnTo>
                  <a:lnTo>
                    <a:pt x="963930" y="708660"/>
                  </a:lnTo>
                  <a:lnTo>
                    <a:pt x="972832" y="684530"/>
                  </a:lnTo>
                  <a:lnTo>
                    <a:pt x="982980" y="659130"/>
                  </a:lnTo>
                  <a:lnTo>
                    <a:pt x="995692" y="608330"/>
                  </a:lnTo>
                  <a:lnTo>
                    <a:pt x="1000747" y="582930"/>
                  </a:lnTo>
                  <a:lnTo>
                    <a:pt x="1004557" y="556260"/>
                  </a:lnTo>
                  <a:lnTo>
                    <a:pt x="1007122" y="504190"/>
                  </a:lnTo>
                  <a:lnTo>
                    <a:pt x="1007122" y="477520"/>
                  </a:lnTo>
                  <a:lnTo>
                    <a:pt x="995692" y="398780"/>
                  </a:lnTo>
                  <a:lnTo>
                    <a:pt x="982980" y="347980"/>
                  </a:lnTo>
                  <a:lnTo>
                    <a:pt x="963930" y="298450"/>
                  </a:lnTo>
                  <a:lnTo>
                    <a:pt x="939787" y="251460"/>
                  </a:lnTo>
                  <a:lnTo>
                    <a:pt x="895350" y="186690"/>
                  </a:lnTo>
                  <a:lnTo>
                    <a:pt x="859777" y="147320"/>
                  </a:lnTo>
                  <a:lnTo>
                    <a:pt x="820432" y="111760"/>
                  </a:lnTo>
                  <a:lnTo>
                    <a:pt x="778522" y="81280"/>
                  </a:lnTo>
                  <a:lnTo>
                    <a:pt x="732802" y="54610"/>
                  </a:lnTo>
                  <a:lnTo>
                    <a:pt x="684517" y="33020"/>
                  </a:lnTo>
                  <a:lnTo>
                    <a:pt x="608317" y="11430"/>
                  </a:lnTo>
                  <a:lnTo>
                    <a:pt x="556260" y="2540"/>
                  </a:lnTo>
                  <a:lnTo>
                    <a:pt x="504202" y="0"/>
                  </a:lnTo>
                  <a:close/>
                </a:path>
              </a:pathLst>
            </a:custGeom>
            <a:solidFill>
              <a:srgbClr val="7F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552438" y="6020306"/>
            <a:ext cx="6705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pc="1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pc="-3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0859" y="649992"/>
            <a:ext cx="5355721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latin typeface="Calibri"/>
                <a:cs typeface="Calibri"/>
              </a:rPr>
              <a:t>Qualidade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e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requisitos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859" y="1729733"/>
            <a:ext cx="8577580" cy="50711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953500" y="934732"/>
            <a:ext cx="1209040" cy="1231900"/>
            <a:chOff x="7429500" y="934732"/>
            <a:chExt cx="1209040" cy="12319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500" y="957592"/>
              <a:ext cx="1209040" cy="12090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9500" y="934732"/>
              <a:ext cx="1209040" cy="120776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184139" y="1307713"/>
            <a:ext cx="738505" cy="4572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26390" marR="5080" indent="-314325">
              <a:lnSpc>
                <a:spcPts val="1600"/>
              </a:lnSpc>
              <a:spcBef>
                <a:spcPts val="320"/>
              </a:spcBef>
            </a:pPr>
            <a:r>
              <a:rPr sz="1500" spc="-60" dirty="0">
                <a:latin typeface="Calibri"/>
                <a:cs typeface="Calibri"/>
              </a:rPr>
              <a:t>R</a:t>
            </a:r>
            <a:r>
              <a:rPr sz="1500" spc="-1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quisi</a:t>
            </a:r>
            <a:r>
              <a:rPr sz="1500" spc="-35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o  1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7879" y="1690365"/>
            <a:ext cx="2081530" cy="1230630"/>
            <a:chOff x="6993879" y="1690365"/>
            <a:chExt cx="2081530" cy="12306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66370" y="1713229"/>
              <a:ext cx="1209037" cy="120775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6369" y="1690365"/>
              <a:ext cx="1209043" cy="12090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3879" y="1713229"/>
              <a:ext cx="1207767" cy="120775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93879" y="1690369"/>
              <a:ext cx="1207767" cy="120903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47258" y="2063365"/>
            <a:ext cx="740410" cy="4572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26390" marR="5080" indent="-314325">
              <a:lnSpc>
                <a:spcPts val="1600"/>
              </a:lnSpc>
              <a:spcBef>
                <a:spcPts val="320"/>
              </a:spcBef>
            </a:pPr>
            <a:r>
              <a:rPr sz="1500" spc="-50" dirty="0">
                <a:latin typeface="Calibri"/>
                <a:cs typeface="Calibri"/>
              </a:rPr>
              <a:t>R</a:t>
            </a:r>
            <a:r>
              <a:rPr sz="1500" spc="-30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q</a:t>
            </a:r>
            <a:r>
              <a:rPr sz="1500" spc="15" dirty="0">
                <a:latin typeface="Calibri"/>
                <a:cs typeface="Calibri"/>
              </a:rPr>
              <a:t>u</a:t>
            </a:r>
            <a:r>
              <a:rPr sz="1500" dirty="0">
                <a:latin typeface="Calibri"/>
                <a:cs typeface="Calibri"/>
              </a:rPr>
              <a:t>isi</a:t>
            </a:r>
            <a:r>
              <a:rPr sz="1500" spc="-35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o  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20511" y="2063365"/>
            <a:ext cx="738505" cy="4572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27660" marR="5080" indent="-315595">
              <a:lnSpc>
                <a:spcPts val="1600"/>
              </a:lnSpc>
              <a:spcBef>
                <a:spcPts val="320"/>
              </a:spcBef>
            </a:pPr>
            <a:r>
              <a:rPr sz="1500" spc="-60" dirty="0">
                <a:latin typeface="Calibri"/>
                <a:cs typeface="Calibri"/>
              </a:rPr>
              <a:t>R</a:t>
            </a:r>
            <a:r>
              <a:rPr sz="1500" spc="-1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quisi</a:t>
            </a:r>
            <a:r>
              <a:rPr sz="1500" spc="-35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o  2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8817623" y="276859"/>
            <a:ext cx="1568450" cy="3327400"/>
            <a:chOff x="7293623" y="276859"/>
            <a:chExt cx="1568450" cy="332740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19060" y="276859"/>
              <a:ext cx="571497" cy="7518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90560" y="2852420"/>
              <a:ext cx="571497" cy="75183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93623" y="2852420"/>
              <a:ext cx="571495" cy="7518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0220" y="506794"/>
            <a:ext cx="6036441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libri"/>
                <a:cs typeface="Calibri"/>
              </a:rPr>
              <a:t>O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papel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da</a:t>
            </a:r>
            <a:r>
              <a:rPr sz="4000" spc="-3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subjetividade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575" y="1331367"/>
            <a:ext cx="132080" cy="8820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24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490"/>
              </a:spcBef>
            </a:pPr>
            <a:r>
              <a:rPr sz="24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5476" y="1431950"/>
            <a:ext cx="5671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propósito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qualidade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satisfazer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cliente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5475" y="1861718"/>
            <a:ext cx="7762240" cy="240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340"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Nenhum </a:t>
            </a:r>
            <a:r>
              <a:rPr sz="2400" spc="-20" dirty="0">
                <a:latin typeface="Calibri"/>
                <a:cs typeface="Calibri"/>
              </a:rPr>
              <a:t>cliente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compra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produto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pensando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exclusivamente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propriedades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mecânicas</a:t>
            </a:r>
            <a:endParaRPr sz="2400">
              <a:latin typeface="Calibri"/>
              <a:cs typeface="Calibri"/>
            </a:endParaRPr>
          </a:p>
          <a:p>
            <a:pPr marL="12700">
              <a:spcBef>
                <a:spcPts val="25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especificação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requisitos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vários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aspectos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incompleta</a:t>
            </a:r>
            <a:endParaRPr sz="2400">
              <a:latin typeface="Calibri"/>
              <a:cs typeface="Calibri"/>
            </a:endParaRPr>
          </a:p>
          <a:p>
            <a:pPr marL="12700">
              <a:spcBef>
                <a:spcPts val="455"/>
              </a:spcBef>
            </a:pPr>
            <a:r>
              <a:rPr sz="2400" spc="-5" dirty="0">
                <a:latin typeface="Calibri"/>
                <a:cs typeface="Calibri"/>
              </a:rPr>
              <a:t>Além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das</a:t>
            </a:r>
            <a:r>
              <a:rPr sz="2400" spc="-15" dirty="0">
                <a:latin typeface="Calibri"/>
                <a:cs typeface="Calibri"/>
              </a:rPr>
              <a:t> propriedades,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custo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fator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integrante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qualidade</a:t>
            </a:r>
            <a:endParaRPr sz="2400">
              <a:latin typeface="Calibri"/>
              <a:cs typeface="Calibri"/>
            </a:endParaRPr>
          </a:p>
          <a:p>
            <a:pPr marL="12700" marR="5080">
              <a:spcBef>
                <a:spcPts val="720"/>
              </a:spcBef>
            </a:pPr>
            <a:r>
              <a:rPr sz="2400" spc="-40" dirty="0">
                <a:latin typeface="Calibri"/>
                <a:cs typeface="Calibri"/>
              </a:rPr>
              <a:t>Logo,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para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satisfazer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uma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pessoa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preciso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saber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claramente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 ela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precisa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2575" y="2550566"/>
            <a:ext cx="132080" cy="131191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24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490"/>
              </a:spcBef>
            </a:pPr>
            <a:r>
              <a:rPr sz="24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505"/>
              </a:spcBef>
            </a:pPr>
            <a:r>
              <a:rPr sz="24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69441" y="4579620"/>
            <a:ext cx="8475345" cy="1728470"/>
            <a:chOff x="345440" y="4579620"/>
            <a:chExt cx="8475345" cy="17284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3888" y="4579620"/>
              <a:ext cx="3035297" cy="17284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722" y="4579620"/>
              <a:ext cx="2631434" cy="17030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440" y="4579620"/>
              <a:ext cx="2931158" cy="17030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8011" y="421253"/>
            <a:ext cx="3395979" cy="63500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Calibri"/>
                <a:cs typeface="Calibri"/>
              </a:rPr>
              <a:t>Causas</a:t>
            </a:r>
            <a:r>
              <a:rPr sz="4000" b="0" spc="-65" dirty="0">
                <a:latin typeface="Calibri"/>
                <a:cs typeface="Calibri"/>
              </a:rPr>
              <a:t> </a:t>
            </a:r>
            <a:r>
              <a:rPr sz="4000" b="0" spc="-15" dirty="0">
                <a:latin typeface="Calibri"/>
                <a:cs typeface="Calibri"/>
              </a:rPr>
              <a:t>de</a:t>
            </a:r>
            <a:r>
              <a:rPr sz="4000" b="0" spc="-90" dirty="0">
                <a:latin typeface="Calibri"/>
                <a:cs typeface="Calibri"/>
              </a:rPr>
              <a:t> </a:t>
            </a:r>
            <a:r>
              <a:rPr sz="4000" b="0" spc="-20" dirty="0">
                <a:latin typeface="Calibri"/>
                <a:cs typeface="Calibri"/>
              </a:rPr>
              <a:t>falhas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432" y="1453328"/>
            <a:ext cx="161988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spcBef>
                <a:spcPts val="100"/>
              </a:spcBef>
              <a:buClr>
                <a:srgbClr val="9ABA59"/>
              </a:buClr>
              <a:buFont typeface="Arial MT"/>
              <a:buChar char="•"/>
              <a:tabLst>
                <a:tab pos="266700" algn="l"/>
                <a:tab pos="267335" algn="l"/>
              </a:tabLst>
            </a:pPr>
            <a:r>
              <a:rPr sz="2350" spc="-25" dirty="0">
                <a:latin typeface="Calibri"/>
                <a:cs typeface="Calibri"/>
              </a:rPr>
              <a:t>Alterações: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431" y="1866017"/>
            <a:ext cx="9267932" cy="425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 marR="295275" indent="-211454">
              <a:spcBef>
                <a:spcPts val="100"/>
              </a:spcBef>
            </a:pPr>
            <a:r>
              <a:rPr sz="3075" baseline="2710" dirty="0">
                <a:solidFill>
                  <a:srgbClr val="FF0000"/>
                </a:solidFill>
                <a:latin typeface="Arial MT"/>
                <a:cs typeface="Arial MT"/>
              </a:rPr>
              <a:t>– </a:t>
            </a:r>
            <a:r>
              <a:rPr sz="2050" dirty="0">
                <a:latin typeface="Calibri"/>
                <a:cs typeface="Calibri"/>
              </a:rPr>
              <a:t>As </a:t>
            </a:r>
            <a:r>
              <a:rPr sz="2050" spc="-10" dirty="0">
                <a:latin typeface="Calibri"/>
                <a:cs typeface="Calibri"/>
              </a:rPr>
              <a:t>mudanças </a:t>
            </a:r>
            <a:r>
              <a:rPr sz="2050" spc="-30" dirty="0">
                <a:latin typeface="Calibri"/>
                <a:cs typeface="Calibri"/>
              </a:rPr>
              <a:t>alteram </a:t>
            </a:r>
            <a:r>
              <a:rPr sz="2050" dirty="0">
                <a:latin typeface="Calibri"/>
                <a:cs typeface="Calibri"/>
              </a:rPr>
              <a:t>a </a:t>
            </a:r>
            <a:r>
              <a:rPr sz="2050" spc="-20" dirty="0">
                <a:latin typeface="Calibri"/>
                <a:cs typeface="Calibri"/>
              </a:rPr>
              <a:t>estrutura </a:t>
            </a:r>
            <a:r>
              <a:rPr sz="2050" dirty="0">
                <a:latin typeface="Calibri"/>
                <a:cs typeface="Calibri"/>
              </a:rPr>
              <a:t>do </a:t>
            </a:r>
            <a:r>
              <a:rPr sz="2050" spc="-20" dirty="0">
                <a:latin typeface="Calibri"/>
                <a:cs typeface="Calibri"/>
              </a:rPr>
              <a:t>software </a:t>
            </a:r>
            <a:r>
              <a:rPr sz="2050" spc="-10" dirty="0">
                <a:latin typeface="Calibri"/>
                <a:cs typeface="Calibri"/>
              </a:rPr>
              <a:t>tornando-o cada </a:t>
            </a:r>
            <a:r>
              <a:rPr sz="2050" spc="-35" dirty="0">
                <a:latin typeface="Calibri"/>
                <a:cs typeface="Calibri"/>
              </a:rPr>
              <a:t>vez </a:t>
            </a:r>
            <a:r>
              <a:rPr sz="2050" spc="-4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mais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difícil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 </a:t>
            </a:r>
            <a:r>
              <a:rPr sz="2050" spc="-30" dirty="0">
                <a:latin typeface="Calibri"/>
                <a:cs typeface="Calibri"/>
              </a:rPr>
              <a:t>alterar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 </a:t>
            </a:r>
            <a:r>
              <a:rPr sz="2050" spc="-5" dirty="0">
                <a:latin typeface="Calibri"/>
                <a:cs typeface="Calibri"/>
              </a:rPr>
              <a:t>podem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introduzir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novas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falhas</a:t>
            </a:r>
            <a:endParaRPr sz="2050" dirty="0">
              <a:latin typeface="Calibri"/>
              <a:cs typeface="Calibri"/>
            </a:endParaRPr>
          </a:p>
          <a:p>
            <a:pPr marL="266700" indent="-254635">
              <a:spcBef>
                <a:spcPts val="470"/>
              </a:spcBef>
              <a:buClr>
                <a:srgbClr val="9ABA59"/>
              </a:buClr>
              <a:buFont typeface="Arial MT"/>
              <a:buChar char="•"/>
              <a:tabLst>
                <a:tab pos="266700" algn="l"/>
                <a:tab pos="267335" algn="l"/>
              </a:tabLst>
            </a:pPr>
            <a:r>
              <a:rPr sz="2350" spc="-75" dirty="0">
                <a:latin typeface="Calibri"/>
                <a:cs typeface="Calibri"/>
              </a:rPr>
              <a:t>Tempo:</a:t>
            </a:r>
            <a:endParaRPr sz="2350" dirty="0">
              <a:latin typeface="Calibri"/>
              <a:cs typeface="Calibri"/>
            </a:endParaRPr>
          </a:p>
          <a:p>
            <a:pPr marL="560705" marR="178435" lvl="1" indent="-210185">
              <a:lnSpc>
                <a:spcPct val="101000"/>
              </a:lnSpc>
              <a:spcBef>
                <a:spcPts val="334"/>
              </a:spcBef>
              <a:buClr>
                <a:srgbClr val="FF0000"/>
              </a:buClr>
              <a:buFont typeface="Arial MT"/>
              <a:buChar char="–"/>
              <a:tabLst>
                <a:tab pos="563245" algn="l"/>
              </a:tabLst>
            </a:pPr>
            <a:r>
              <a:rPr sz="2050" dirty="0">
                <a:latin typeface="Calibri"/>
                <a:cs typeface="Calibri"/>
              </a:rPr>
              <a:t>Com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tempo</a:t>
            </a:r>
            <a:r>
              <a:rPr sz="2050" dirty="0">
                <a:latin typeface="Calibri"/>
                <a:cs typeface="Calibri"/>
              </a:rPr>
              <a:t> o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custo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implementação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alterações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aumenta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 a </a:t>
            </a:r>
            <a:r>
              <a:rPr sz="2050" spc="-44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capacidade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do </a:t>
            </a:r>
            <a:r>
              <a:rPr sz="2050" spc="-20" dirty="0">
                <a:latin typeface="Calibri"/>
                <a:cs typeface="Calibri"/>
              </a:rPr>
              <a:t>sistema </a:t>
            </a:r>
            <a:r>
              <a:rPr sz="2050" dirty="0">
                <a:latin typeface="Calibri"/>
                <a:cs typeface="Calibri"/>
              </a:rPr>
              <a:t>de </a:t>
            </a:r>
            <a:r>
              <a:rPr sz="2050" spc="-25" dirty="0">
                <a:latin typeface="Calibri"/>
                <a:cs typeface="Calibri"/>
              </a:rPr>
              <a:t>prestar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os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serviços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esperados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diminui</a:t>
            </a:r>
            <a:endParaRPr sz="2050" dirty="0">
              <a:latin typeface="Calibri"/>
              <a:cs typeface="Calibri"/>
            </a:endParaRPr>
          </a:p>
          <a:p>
            <a:pPr marL="266700" indent="-254635">
              <a:spcBef>
                <a:spcPts val="560"/>
              </a:spcBef>
              <a:buClr>
                <a:srgbClr val="9ABA59"/>
              </a:buClr>
              <a:buFont typeface="Arial MT"/>
              <a:buChar char="•"/>
              <a:tabLst>
                <a:tab pos="266700" algn="l"/>
                <a:tab pos="267335" algn="l"/>
              </a:tabLst>
            </a:pPr>
            <a:r>
              <a:rPr sz="2350" spc="-10" dirty="0">
                <a:latin typeface="Calibri"/>
                <a:cs typeface="Calibri"/>
              </a:rPr>
              <a:t>Complexidade:</a:t>
            </a:r>
            <a:endParaRPr sz="2350" dirty="0">
              <a:latin typeface="Calibri"/>
              <a:cs typeface="Calibri"/>
            </a:endParaRPr>
          </a:p>
          <a:p>
            <a:pPr marL="561340" marR="422275" lvl="1" indent="-210820">
              <a:spcBef>
                <a:spcPts val="434"/>
              </a:spcBef>
              <a:buClr>
                <a:srgbClr val="FF0000"/>
              </a:buClr>
              <a:buFont typeface="Arial MT"/>
              <a:buChar char="–"/>
              <a:tabLst>
                <a:tab pos="563245" algn="l"/>
              </a:tabLst>
            </a:pPr>
            <a:r>
              <a:rPr sz="2050" dirty="0">
                <a:latin typeface="Calibri"/>
                <a:cs typeface="Calibri"/>
              </a:rPr>
              <a:t>O </a:t>
            </a:r>
            <a:r>
              <a:rPr sz="2050" spc="-25" dirty="0">
                <a:latin typeface="Calibri"/>
                <a:cs typeface="Calibri"/>
              </a:rPr>
              <a:t>desenvolvimento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é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complexo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e,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normalmente,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um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único 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desenvolvedor </a:t>
            </a:r>
            <a:r>
              <a:rPr sz="2050" spc="-5" dirty="0">
                <a:latin typeface="Calibri"/>
                <a:cs typeface="Calibri"/>
              </a:rPr>
              <a:t>não</a:t>
            </a:r>
            <a:r>
              <a:rPr sz="2050" dirty="0">
                <a:latin typeface="Calibri"/>
                <a:cs typeface="Calibri"/>
              </a:rPr>
              <a:t> é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capaz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entender</a:t>
            </a:r>
            <a:r>
              <a:rPr sz="2050" dirty="0">
                <a:latin typeface="Calibri"/>
                <a:cs typeface="Calibri"/>
              </a:rPr>
              <a:t> o </a:t>
            </a:r>
            <a:r>
              <a:rPr sz="2050" spc="-20" dirty="0">
                <a:latin typeface="Calibri"/>
                <a:cs typeface="Calibri"/>
              </a:rPr>
              <a:t>sistema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como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um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todo</a:t>
            </a:r>
            <a:endParaRPr sz="2050" dirty="0">
              <a:latin typeface="Calibri"/>
              <a:cs typeface="Calibri"/>
            </a:endParaRPr>
          </a:p>
          <a:p>
            <a:pPr marL="562610" marR="5080" lvl="1" indent="-212090">
              <a:spcBef>
                <a:spcPts val="395"/>
              </a:spcBef>
              <a:buClr>
                <a:srgbClr val="FF0000"/>
              </a:buClr>
              <a:buFont typeface="Arial MT"/>
              <a:buChar char="–"/>
              <a:tabLst>
                <a:tab pos="563245" algn="l"/>
              </a:tabLst>
            </a:pPr>
            <a:r>
              <a:rPr sz="2050" spc="-5" dirty="0">
                <a:latin typeface="Calibri"/>
                <a:cs typeface="Calibri"/>
              </a:rPr>
              <a:t>Os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softwares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estão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cada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vez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mais </a:t>
            </a:r>
            <a:r>
              <a:rPr sz="2050" spc="-15" dirty="0">
                <a:latin typeface="Calibri"/>
                <a:cs typeface="Calibri"/>
              </a:rPr>
              <a:t>difíceis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utilizar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(janelas, </a:t>
            </a:r>
            <a:r>
              <a:rPr sz="2050" spc="-30" dirty="0">
                <a:latin typeface="Calibri"/>
                <a:cs typeface="Calibri"/>
              </a:rPr>
              <a:t>eventos, </a:t>
            </a:r>
            <a:r>
              <a:rPr sz="2050" spc="-45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leis,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necessidades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conflitantes,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etc.)</a:t>
            </a:r>
            <a:endParaRPr sz="2050" dirty="0">
              <a:latin typeface="Calibri"/>
              <a:cs typeface="Calibri"/>
            </a:endParaRPr>
          </a:p>
          <a:p>
            <a:pPr marL="562610" marR="684530" lvl="1" indent="-212090">
              <a:lnSpc>
                <a:spcPct val="115999"/>
              </a:lnSpc>
              <a:spcBef>
                <a:spcPts val="15"/>
              </a:spcBef>
              <a:buClr>
                <a:srgbClr val="FF0000"/>
              </a:buClr>
              <a:buFont typeface="Arial MT"/>
              <a:buChar char="–"/>
              <a:tabLst>
                <a:tab pos="563245" algn="l"/>
              </a:tabLst>
            </a:pPr>
            <a:r>
              <a:rPr sz="2050" spc="-5" dirty="0">
                <a:latin typeface="Calibri"/>
                <a:cs typeface="Calibri"/>
              </a:rPr>
              <a:t>Os</a:t>
            </a:r>
            <a:r>
              <a:rPr sz="2050" spc="-20" dirty="0">
                <a:latin typeface="Calibri"/>
                <a:cs typeface="Calibri"/>
              </a:rPr>
              <a:t> softwares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estão</a:t>
            </a:r>
            <a:r>
              <a:rPr sz="2050" spc="-10" dirty="0">
                <a:latin typeface="Calibri"/>
                <a:cs typeface="Calibri"/>
              </a:rPr>
              <a:t> cada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vez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mais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difíceis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 </a:t>
            </a:r>
            <a:r>
              <a:rPr sz="2050" spc="-15" dirty="0">
                <a:latin typeface="Calibri"/>
                <a:cs typeface="Calibri"/>
              </a:rPr>
              <a:t>entender </a:t>
            </a:r>
            <a:r>
              <a:rPr sz="2050" spc="-10" dirty="0">
                <a:latin typeface="Calibri"/>
                <a:cs typeface="Calibri"/>
              </a:rPr>
              <a:t>devido</a:t>
            </a:r>
            <a:r>
              <a:rPr sz="2050" spc="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 </a:t>
            </a:r>
            <a:r>
              <a:rPr sz="2050" spc="-45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códigos</a:t>
            </a:r>
            <a:r>
              <a:rPr sz="2050" spc="-10" dirty="0">
                <a:latin typeface="Calibri"/>
                <a:cs typeface="Calibri"/>
              </a:rPr>
              <a:t> mal</a:t>
            </a:r>
            <a:r>
              <a:rPr sz="2050" spc="-15" dirty="0">
                <a:latin typeface="Calibri"/>
                <a:cs typeface="Calibri"/>
              </a:rPr>
              <a:t> documentados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ou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incompreensíveis</a:t>
            </a:r>
            <a:endParaRPr sz="2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6865" y="515444"/>
            <a:ext cx="5057775" cy="63500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65" dirty="0">
                <a:latin typeface="Calibri"/>
                <a:cs typeface="Calibri"/>
              </a:rPr>
              <a:t>Catástrofes </a:t>
            </a:r>
            <a:r>
              <a:rPr sz="4000" b="0" spc="-5" dirty="0">
                <a:latin typeface="Calibri"/>
                <a:cs typeface="Calibri"/>
              </a:rPr>
              <a:t>da</a:t>
            </a:r>
            <a:r>
              <a:rPr sz="4000" b="0" spc="-3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qualidade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612" y="2039620"/>
            <a:ext cx="2476496" cy="18478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5612" y="4283711"/>
            <a:ext cx="2476496" cy="18364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865" y="1571568"/>
            <a:ext cx="5955030" cy="46367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55904" marR="1005840" indent="-243840" algn="just">
              <a:lnSpc>
                <a:spcPct val="101400"/>
              </a:lnSpc>
              <a:spcBef>
                <a:spcPts val="65"/>
              </a:spcBef>
              <a:buClr>
                <a:srgbClr val="9ABA59"/>
              </a:buClr>
              <a:buFont typeface="Arial MT"/>
              <a:buChar char="•"/>
              <a:tabLst>
                <a:tab pos="256540" algn="l"/>
              </a:tabLst>
            </a:pPr>
            <a:r>
              <a:rPr sz="2250" spc="-30" dirty="0">
                <a:latin typeface="Calibri"/>
                <a:cs typeface="Calibri"/>
              </a:rPr>
              <a:t>Defeitos </a:t>
            </a:r>
            <a:r>
              <a:rPr sz="2250" dirty="0">
                <a:latin typeface="Calibri"/>
                <a:cs typeface="Calibri"/>
              </a:rPr>
              <a:t>não </a:t>
            </a:r>
            <a:r>
              <a:rPr sz="2250" spc="-15" dirty="0">
                <a:latin typeface="Calibri"/>
                <a:cs typeface="Calibri"/>
              </a:rPr>
              <a:t>constituem </a:t>
            </a:r>
            <a:r>
              <a:rPr sz="2250" dirty="0">
                <a:latin typeface="Calibri"/>
                <a:cs typeface="Calibri"/>
              </a:rPr>
              <a:t>o </a:t>
            </a:r>
            <a:r>
              <a:rPr sz="2250" spc="-10" dirty="0">
                <a:latin typeface="Calibri"/>
                <a:cs typeface="Calibri"/>
              </a:rPr>
              <a:t>único </a:t>
            </a:r>
            <a:r>
              <a:rPr sz="2250" spc="-45" dirty="0">
                <a:latin typeface="Calibri"/>
                <a:cs typeface="Calibri"/>
              </a:rPr>
              <a:t>fator </a:t>
            </a:r>
            <a:r>
              <a:rPr sz="2250" dirty="0">
                <a:latin typeface="Calibri"/>
                <a:cs typeface="Calibri"/>
              </a:rPr>
              <a:t>de </a:t>
            </a:r>
            <a:r>
              <a:rPr sz="2250" spc="-495" dirty="0">
                <a:latin typeface="Calibri"/>
                <a:cs typeface="Calibri"/>
              </a:rPr>
              <a:t> </a:t>
            </a:r>
            <a:r>
              <a:rPr sz="2250" spc="-5" dirty="0">
                <a:latin typeface="Calibri"/>
                <a:cs typeface="Calibri"/>
              </a:rPr>
              <a:t>qualidade</a:t>
            </a:r>
            <a:endParaRPr sz="2250" dirty="0">
              <a:latin typeface="Calibri"/>
              <a:cs typeface="Calibri"/>
            </a:endParaRPr>
          </a:p>
          <a:p>
            <a:pPr marL="255904" marR="1009650" indent="-243840" algn="just">
              <a:lnSpc>
                <a:spcPct val="100899"/>
              </a:lnSpc>
              <a:spcBef>
                <a:spcPts val="505"/>
              </a:spcBef>
              <a:buClr>
                <a:srgbClr val="9ABA59"/>
              </a:buClr>
              <a:buFont typeface="Arial MT"/>
              <a:buChar char="•"/>
              <a:tabLst>
                <a:tab pos="256540" algn="l"/>
              </a:tabLst>
            </a:pPr>
            <a:r>
              <a:rPr sz="2250" dirty="0">
                <a:latin typeface="Calibri"/>
                <a:cs typeface="Calibri"/>
              </a:rPr>
              <a:t>O </a:t>
            </a:r>
            <a:r>
              <a:rPr sz="2250" spc="-5" dirty="0">
                <a:latin typeface="Calibri"/>
                <a:cs typeface="Calibri"/>
              </a:rPr>
              <a:t>usuário pode </a:t>
            </a:r>
            <a:r>
              <a:rPr sz="2250" spc="-30" dirty="0">
                <a:latin typeface="Calibri"/>
                <a:cs typeface="Calibri"/>
              </a:rPr>
              <a:t>conviver </a:t>
            </a:r>
            <a:r>
              <a:rPr sz="2250" spc="-20" dirty="0">
                <a:latin typeface="Calibri"/>
                <a:cs typeface="Calibri"/>
              </a:rPr>
              <a:t>com </a:t>
            </a:r>
            <a:r>
              <a:rPr sz="2250" dirty="0">
                <a:latin typeface="Calibri"/>
                <a:cs typeface="Calibri"/>
              </a:rPr>
              <a:t>a </a:t>
            </a:r>
            <a:r>
              <a:rPr sz="2250" spc="-20" dirty="0">
                <a:latin typeface="Calibri"/>
                <a:cs typeface="Calibri"/>
              </a:rPr>
              <a:t>falha </a:t>
            </a:r>
            <a:r>
              <a:rPr sz="2250" dirty="0">
                <a:latin typeface="Calibri"/>
                <a:cs typeface="Calibri"/>
              </a:rPr>
              <a:t>e o 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programa </a:t>
            </a:r>
            <a:r>
              <a:rPr sz="2250" spc="-5" dirty="0">
                <a:latin typeface="Calibri"/>
                <a:cs typeface="Calibri"/>
              </a:rPr>
              <a:t>ser </a:t>
            </a:r>
            <a:r>
              <a:rPr sz="2250" dirty="0">
                <a:latin typeface="Calibri"/>
                <a:cs typeface="Calibri"/>
              </a:rPr>
              <a:t>um </a:t>
            </a:r>
            <a:r>
              <a:rPr sz="2250" spc="-10" dirty="0">
                <a:latin typeface="Calibri"/>
                <a:cs typeface="Calibri"/>
              </a:rPr>
              <a:t>sucesso </a:t>
            </a:r>
            <a:r>
              <a:rPr sz="2250" dirty="0">
                <a:latin typeface="Calibri"/>
                <a:cs typeface="Calibri"/>
              </a:rPr>
              <a:t>ou </a:t>
            </a:r>
            <a:r>
              <a:rPr sz="2250" spc="-10" dirty="0">
                <a:latin typeface="Calibri"/>
                <a:cs typeface="Calibri"/>
              </a:rPr>
              <a:t>causar </a:t>
            </a:r>
            <a:r>
              <a:rPr sz="2250" spc="-5" dirty="0">
                <a:latin typeface="Calibri"/>
                <a:cs typeface="Calibri"/>
              </a:rPr>
              <a:t>um 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completo</a:t>
            </a:r>
            <a:r>
              <a:rPr sz="2250" spc="-40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fracasso </a:t>
            </a:r>
            <a:r>
              <a:rPr sz="2250" spc="-15" dirty="0">
                <a:latin typeface="Calibri"/>
                <a:cs typeface="Calibri"/>
              </a:rPr>
              <a:t>comercial</a:t>
            </a:r>
            <a:endParaRPr sz="2250" dirty="0">
              <a:latin typeface="Calibri"/>
              <a:cs typeface="Calibri"/>
            </a:endParaRPr>
          </a:p>
          <a:p>
            <a:pPr marL="256540" indent="-243840" algn="just">
              <a:spcBef>
                <a:spcPts val="600"/>
              </a:spcBef>
              <a:buClr>
                <a:srgbClr val="9ABA59"/>
              </a:buClr>
              <a:buFont typeface="Arial MT"/>
              <a:buChar char="•"/>
              <a:tabLst>
                <a:tab pos="256540" algn="l"/>
              </a:tabLst>
            </a:pPr>
            <a:r>
              <a:rPr sz="2250" dirty="0">
                <a:latin typeface="Calibri"/>
                <a:cs typeface="Calibri"/>
              </a:rPr>
              <a:t>Ariane</a:t>
            </a:r>
            <a:r>
              <a:rPr sz="2250" spc="-60" dirty="0">
                <a:latin typeface="Calibri"/>
                <a:cs typeface="Calibri"/>
              </a:rPr>
              <a:t> </a:t>
            </a:r>
            <a:r>
              <a:rPr sz="2250" spc="-5" dirty="0">
                <a:latin typeface="Calibri"/>
                <a:cs typeface="Calibri"/>
              </a:rPr>
              <a:t>501:</a:t>
            </a:r>
            <a:endParaRPr sz="2250" dirty="0">
              <a:latin typeface="Calibri"/>
              <a:cs typeface="Calibri"/>
            </a:endParaRPr>
          </a:p>
          <a:p>
            <a:pPr marL="541655" marR="431800" lvl="1" indent="-203200">
              <a:lnSpc>
                <a:spcPts val="2390"/>
              </a:lnSpc>
              <a:spcBef>
                <a:spcPts val="605"/>
              </a:spcBef>
              <a:buClr>
                <a:srgbClr val="FF0000"/>
              </a:buClr>
              <a:buFont typeface="Arial MT"/>
              <a:buChar char="–"/>
              <a:tabLst>
                <a:tab pos="541655" algn="l"/>
              </a:tabLst>
            </a:pPr>
            <a:r>
              <a:rPr sz="2000" spc="-35" dirty="0">
                <a:latin typeface="Calibri"/>
                <a:cs typeface="Calibri"/>
              </a:rPr>
              <a:t>Foguete </a:t>
            </a:r>
            <a:r>
              <a:rPr sz="2000" spc="-20" dirty="0">
                <a:latin typeface="Calibri"/>
                <a:cs typeface="Calibri"/>
              </a:rPr>
              <a:t>lançado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1996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explodiu </a:t>
            </a:r>
            <a:r>
              <a:rPr sz="2000" spc="-5" dirty="0">
                <a:latin typeface="Calibri"/>
                <a:cs typeface="Calibri"/>
              </a:rPr>
              <a:t>40s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depois</a:t>
            </a:r>
            <a:r>
              <a:rPr sz="2000" spc="-15" dirty="0">
                <a:latin typeface="Calibri"/>
                <a:cs typeface="Calibri"/>
              </a:rPr>
              <a:t> de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decolar</a:t>
            </a:r>
            <a:endParaRPr sz="2000" dirty="0">
              <a:latin typeface="Calibri"/>
              <a:cs typeface="Calibri"/>
            </a:endParaRPr>
          </a:p>
          <a:p>
            <a:pPr marL="541020" lvl="1" indent="-203200">
              <a:spcBef>
                <a:spcPts val="229"/>
              </a:spcBef>
              <a:buClr>
                <a:srgbClr val="FF0000"/>
              </a:buClr>
              <a:buFont typeface="Arial MT"/>
              <a:buChar char="–"/>
              <a:tabLst>
                <a:tab pos="541655" algn="l"/>
              </a:tabLst>
            </a:pPr>
            <a:r>
              <a:rPr sz="2000" spc="-30" dirty="0">
                <a:latin typeface="Calibri"/>
                <a:cs typeface="Calibri"/>
              </a:rPr>
              <a:t>Falha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software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foi</a:t>
            </a:r>
            <a:r>
              <a:rPr sz="2000" spc="-35" dirty="0">
                <a:latin typeface="Calibri"/>
                <a:cs typeface="Calibri"/>
              </a:rPr>
              <a:t> interpretada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como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comando</a:t>
            </a:r>
            <a:endParaRPr sz="2000" dirty="0">
              <a:latin typeface="Calibri"/>
              <a:cs typeface="Calibri"/>
            </a:endParaRPr>
          </a:p>
          <a:p>
            <a:pPr marL="256540" indent="-243840">
              <a:spcBef>
                <a:spcPts val="470"/>
              </a:spcBef>
              <a:buClr>
                <a:srgbClr val="9ABA59"/>
              </a:buClr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250" spc="-15" dirty="0">
                <a:latin typeface="Calibri"/>
                <a:cs typeface="Calibri"/>
              </a:rPr>
              <a:t>Therac-25:</a:t>
            </a:r>
            <a:endParaRPr sz="2250" dirty="0">
              <a:latin typeface="Calibri"/>
              <a:cs typeface="Calibri"/>
            </a:endParaRPr>
          </a:p>
          <a:p>
            <a:pPr marL="541020" marR="694055" lvl="1" indent="-203200">
              <a:lnSpc>
                <a:spcPts val="2390"/>
              </a:lnSpc>
              <a:spcBef>
                <a:spcPts val="625"/>
              </a:spcBef>
              <a:buClr>
                <a:srgbClr val="FF0000"/>
              </a:buClr>
              <a:buFont typeface="Arial MT"/>
              <a:buChar char="–"/>
              <a:tabLst>
                <a:tab pos="541655" algn="l"/>
              </a:tabLst>
            </a:pPr>
            <a:r>
              <a:rPr sz="2000" spc="-80" dirty="0">
                <a:latin typeface="Calibri"/>
                <a:cs typeface="Calibri"/>
              </a:rPr>
              <a:t>Terapia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radiológica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controlada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computador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(software)</a:t>
            </a:r>
            <a:endParaRPr sz="2000" dirty="0">
              <a:latin typeface="Calibri"/>
              <a:cs typeface="Calibri"/>
            </a:endParaRPr>
          </a:p>
          <a:p>
            <a:pPr marL="539115" lvl="1" indent="-202565">
              <a:lnSpc>
                <a:spcPts val="2300"/>
              </a:lnSpc>
              <a:buClr>
                <a:srgbClr val="FF0000"/>
              </a:buClr>
              <a:buFont typeface="Arial MT"/>
              <a:buChar char="–"/>
              <a:tabLst>
                <a:tab pos="539750" algn="l"/>
              </a:tabLst>
            </a:pPr>
            <a:r>
              <a:rPr sz="2000" spc="-30" dirty="0">
                <a:latin typeface="Calibri"/>
                <a:cs typeface="Calibri"/>
              </a:rPr>
              <a:t>Erros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software </a:t>
            </a:r>
            <a:r>
              <a:rPr sz="2000" spc="-40" dirty="0">
                <a:latin typeface="Calibri"/>
                <a:cs typeface="Calibri"/>
              </a:rPr>
              <a:t>provocaram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morte </a:t>
            </a:r>
            <a:r>
              <a:rPr sz="2000" spc="-15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6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pacientes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4370" y="942221"/>
            <a:ext cx="6911785" cy="44820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2656205" marR="5080" indent="-2644140">
              <a:lnSpc>
                <a:spcPct val="100000"/>
              </a:lnSpc>
              <a:spcBef>
                <a:spcPts val="95"/>
              </a:spcBef>
            </a:pPr>
            <a:r>
              <a:rPr sz="2750" spc="-5" dirty="0">
                <a:latin typeface="Calibri"/>
                <a:cs typeface="Calibri"/>
              </a:rPr>
              <a:t>O que </a:t>
            </a:r>
            <a:r>
              <a:rPr sz="2750" spc="-30" dirty="0">
                <a:latin typeface="Calibri"/>
                <a:cs typeface="Calibri"/>
              </a:rPr>
              <a:t>fazer </a:t>
            </a:r>
            <a:r>
              <a:rPr sz="2750" spc="-10" dirty="0">
                <a:latin typeface="Calibri"/>
                <a:cs typeface="Calibri"/>
              </a:rPr>
              <a:t>diante </a:t>
            </a:r>
            <a:r>
              <a:rPr sz="2750" spc="-5" dirty="0">
                <a:latin typeface="Calibri"/>
                <a:cs typeface="Calibri"/>
              </a:rPr>
              <a:t>de um </a:t>
            </a:r>
            <a:r>
              <a:rPr sz="2750" spc="-25" dirty="0">
                <a:latin typeface="Calibri"/>
                <a:cs typeface="Calibri"/>
              </a:rPr>
              <a:t>defeito, </a:t>
            </a:r>
            <a:r>
              <a:rPr sz="2750" spc="-15" dirty="0">
                <a:latin typeface="Calibri"/>
                <a:cs typeface="Calibri"/>
              </a:rPr>
              <a:t>falha </a:t>
            </a:r>
            <a:r>
              <a:rPr sz="2750" spc="-10" dirty="0">
                <a:latin typeface="Calibri"/>
                <a:cs typeface="Calibri"/>
              </a:rPr>
              <a:t>ou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bug?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5425" y="1807234"/>
            <a:ext cx="2138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indent="-227329">
              <a:spcBef>
                <a:spcPts val="100"/>
              </a:spcBef>
              <a:buClr>
                <a:srgbClr val="9ABA59"/>
              </a:buClr>
              <a:buFont typeface="Arial MT"/>
              <a:buChar char="•"/>
              <a:tabLst>
                <a:tab pos="239395" algn="l"/>
                <a:tab pos="240029" algn="l"/>
              </a:tabLst>
            </a:pPr>
            <a:r>
              <a:rPr sz="2100" spc="-10" dirty="0">
                <a:latin typeface="Calibri"/>
                <a:cs typeface="Calibri"/>
              </a:rPr>
              <a:t>Isolar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um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defeito: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6416" y="2121215"/>
            <a:ext cx="4624705" cy="12998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03200" indent="-190500">
              <a:spcBef>
                <a:spcPts val="505"/>
              </a:spcBef>
              <a:buClr>
                <a:srgbClr val="FF0000"/>
              </a:buClr>
              <a:buFont typeface="Arial MT"/>
              <a:buChar char="–"/>
              <a:tabLst>
                <a:tab pos="203200" algn="l"/>
              </a:tabLst>
            </a:pPr>
            <a:r>
              <a:rPr sz="1850" spc="-20" dirty="0">
                <a:latin typeface="Calibri"/>
                <a:cs typeface="Calibri"/>
              </a:rPr>
              <a:t>Determinar</a:t>
            </a:r>
            <a:r>
              <a:rPr sz="1850" spc="-10" dirty="0">
                <a:latin typeface="Calibri"/>
                <a:cs typeface="Calibri"/>
              </a:rPr>
              <a:t> sob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quais </a:t>
            </a:r>
            <a:r>
              <a:rPr sz="1850" spc="-20" dirty="0">
                <a:latin typeface="Calibri"/>
                <a:cs typeface="Calibri"/>
              </a:rPr>
              <a:t>condições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falha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ocorre</a:t>
            </a:r>
            <a:endParaRPr sz="1850">
              <a:latin typeface="Calibri"/>
              <a:cs typeface="Calibri"/>
            </a:endParaRPr>
          </a:p>
          <a:p>
            <a:pPr marL="203200" indent="-190500">
              <a:spcBef>
                <a:spcPts val="409"/>
              </a:spcBef>
              <a:buClr>
                <a:srgbClr val="FF0000"/>
              </a:buClr>
              <a:buFont typeface="Arial MT"/>
              <a:buChar char="–"/>
              <a:tabLst>
                <a:tab pos="203200" algn="l"/>
              </a:tabLst>
            </a:pPr>
            <a:r>
              <a:rPr sz="1850" spc="-20" dirty="0">
                <a:latin typeface="Calibri"/>
                <a:cs typeface="Calibri"/>
              </a:rPr>
              <a:t>Descobrir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qual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linha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de </a:t>
            </a:r>
            <a:r>
              <a:rPr sz="1850" spc="-25" dirty="0">
                <a:latin typeface="Calibri"/>
                <a:cs typeface="Calibri"/>
              </a:rPr>
              <a:t>código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spc="-30" dirty="0">
                <a:latin typeface="Calibri"/>
                <a:cs typeface="Calibri"/>
              </a:rPr>
              <a:t>provoca</a:t>
            </a:r>
            <a:r>
              <a:rPr sz="1850" spc="-5" dirty="0">
                <a:latin typeface="Calibri"/>
                <a:cs typeface="Calibri"/>
              </a:rPr>
              <a:t> a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falha:</a:t>
            </a:r>
            <a:endParaRPr sz="1850">
              <a:latin typeface="Calibri"/>
              <a:cs typeface="Calibri"/>
            </a:endParaRPr>
          </a:p>
          <a:p>
            <a:pPr marL="466725" lvl="1" indent="-151765">
              <a:spcBef>
                <a:spcPts val="310"/>
              </a:spcBef>
              <a:buClr>
                <a:srgbClr val="9ABA59"/>
              </a:buClr>
              <a:buFont typeface="Arial MT"/>
              <a:buChar char="•"/>
              <a:tabLst>
                <a:tab pos="467359" algn="l"/>
              </a:tabLst>
            </a:pPr>
            <a:r>
              <a:rPr sz="1550" spc="-20" dirty="0">
                <a:latin typeface="Calibri"/>
                <a:cs typeface="Calibri"/>
              </a:rPr>
              <a:t>Pode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ser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bastante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difícil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(depuração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do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código)</a:t>
            </a:r>
            <a:endParaRPr sz="1550">
              <a:latin typeface="Calibri"/>
              <a:cs typeface="Calibri"/>
            </a:endParaRPr>
          </a:p>
          <a:p>
            <a:pPr marL="203200" indent="-190500">
              <a:spcBef>
                <a:spcPts val="385"/>
              </a:spcBef>
              <a:buClr>
                <a:srgbClr val="FF0000"/>
              </a:buClr>
              <a:buFont typeface="Arial MT"/>
              <a:buChar char="–"/>
              <a:tabLst>
                <a:tab pos="203200" algn="l"/>
              </a:tabLst>
            </a:pPr>
            <a:r>
              <a:rPr sz="1850" spc="-10" dirty="0">
                <a:latin typeface="Calibri"/>
                <a:cs typeface="Calibri"/>
              </a:rPr>
              <a:t>Identificar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causa </a:t>
            </a:r>
            <a:r>
              <a:rPr sz="1850" spc="-5" dirty="0">
                <a:latin typeface="Calibri"/>
                <a:cs typeface="Calibri"/>
              </a:rPr>
              <a:t>do</a:t>
            </a:r>
            <a:r>
              <a:rPr sz="1850" spc="-25" dirty="0">
                <a:latin typeface="Calibri"/>
                <a:cs typeface="Calibri"/>
              </a:rPr>
              <a:t> </a:t>
            </a:r>
            <a:r>
              <a:rPr sz="1850" spc="-30" dirty="0">
                <a:latin typeface="Calibri"/>
                <a:cs typeface="Calibri"/>
              </a:rPr>
              <a:t>defeito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5424" y="3706234"/>
            <a:ext cx="4758690" cy="107378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39395" indent="-227329">
              <a:spcBef>
                <a:spcPts val="575"/>
              </a:spcBef>
              <a:buClr>
                <a:srgbClr val="9ABA59"/>
              </a:buClr>
              <a:buFont typeface="Arial MT"/>
              <a:buChar char="•"/>
              <a:tabLst>
                <a:tab pos="239395" algn="l"/>
                <a:tab pos="240029" algn="l"/>
              </a:tabLst>
            </a:pPr>
            <a:r>
              <a:rPr sz="2100" spc="-10" dirty="0">
                <a:latin typeface="Calibri"/>
                <a:cs typeface="Calibri"/>
              </a:rPr>
              <a:t>Corrigir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defeito:</a:t>
            </a:r>
            <a:endParaRPr sz="2100">
              <a:latin typeface="Calibri"/>
              <a:cs typeface="Calibri"/>
            </a:endParaRPr>
          </a:p>
          <a:p>
            <a:pPr marL="502920" lvl="1" indent="-189230">
              <a:spcBef>
                <a:spcPts val="420"/>
              </a:spcBef>
              <a:buClr>
                <a:srgbClr val="FF0000"/>
              </a:buClr>
              <a:buFont typeface="Arial MT"/>
              <a:buChar char="–"/>
              <a:tabLst>
                <a:tab pos="503555" algn="l"/>
              </a:tabLst>
            </a:pPr>
            <a:r>
              <a:rPr sz="1850" spc="-15" dirty="0">
                <a:latin typeface="Calibri"/>
                <a:cs typeface="Calibri"/>
              </a:rPr>
              <a:t>Corrigir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 </a:t>
            </a:r>
            <a:r>
              <a:rPr sz="1850" spc="-30" dirty="0">
                <a:latin typeface="Calibri"/>
                <a:cs typeface="Calibri"/>
              </a:rPr>
              <a:t>defeito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35" dirty="0">
                <a:latin typeface="Calibri"/>
                <a:cs typeface="Calibri"/>
              </a:rPr>
              <a:t>testar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0" dirty="0">
                <a:latin typeface="Calibri"/>
                <a:cs typeface="Calibri"/>
              </a:rPr>
              <a:t>fora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de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produção</a:t>
            </a:r>
            <a:endParaRPr sz="1850">
              <a:latin typeface="Calibri"/>
              <a:cs typeface="Calibri"/>
            </a:endParaRPr>
          </a:p>
          <a:p>
            <a:pPr marL="502920" lvl="1" indent="-189230">
              <a:spcBef>
                <a:spcPts val="395"/>
              </a:spcBef>
              <a:buClr>
                <a:srgbClr val="FF0000"/>
              </a:buClr>
              <a:buFont typeface="Arial MT"/>
              <a:buChar char="–"/>
              <a:tabLst>
                <a:tab pos="503555" algn="l"/>
              </a:tabLst>
            </a:pPr>
            <a:r>
              <a:rPr sz="1850" spc="-15" dirty="0">
                <a:latin typeface="Calibri"/>
                <a:cs typeface="Calibri"/>
              </a:rPr>
              <a:t>Aplicar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 </a:t>
            </a:r>
            <a:r>
              <a:rPr sz="1850" spc="-10" dirty="0">
                <a:latin typeface="Calibri"/>
                <a:cs typeface="Calibri"/>
              </a:rPr>
              <a:t>mudança </a:t>
            </a:r>
            <a:r>
              <a:rPr sz="1850" spc="-5" dirty="0">
                <a:latin typeface="Calibri"/>
                <a:cs typeface="Calibri"/>
              </a:rPr>
              <a:t>no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ambiente</a:t>
            </a:r>
            <a:r>
              <a:rPr sz="1850" spc="-2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de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produção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5425" y="5056366"/>
            <a:ext cx="5798185" cy="7410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39395" indent="-227329">
              <a:spcBef>
                <a:spcPts val="575"/>
              </a:spcBef>
              <a:buClr>
                <a:srgbClr val="9ABA59"/>
              </a:buClr>
              <a:buFont typeface="Arial MT"/>
              <a:buChar char="•"/>
              <a:tabLst>
                <a:tab pos="239395" algn="l"/>
                <a:tab pos="240029" algn="l"/>
              </a:tabLst>
            </a:pPr>
            <a:r>
              <a:rPr sz="2100" spc="-25" dirty="0">
                <a:latin typeface="Calibri"/>
                <a:cs typeface="Calibri"/>
              </a:rPr>
              <a:t>Estabilizar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um</a:t>
            </a:r>
            <a:r>
              <a:rPr sz="2100" spc="-25" dirty="0">
                <a:latin typeface="Calibri"/>
                <a:cs typeface="Calibri"/>
              </a:rPr>
              <a:t> programa:</a:t>
            </a:r>
            <a:endParaRPr sz="2100">
              <a:latin typeface="Calibri"/>
              <a:cs typeface="Calibri"/>
            </a:endParaRPr>
          </a:p>
          <a:p>
            <a:pPr marL="314325">
              <a:spcBef>
                <a:spcPts val="415"/>
              </a:spcBef>
            </a:pPr>
            <a:r>
              <a:rPr sz="2775" spc="-7" baseline="3003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775" spc="-89" baseline="300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40" dirty="0">
                <a:latin typeface="Calibri"/>
                <a:cs typeface="Calibri"/>
              </a:rPr>
              <a:t>Fazer</a:t>
            </a:r>
            <a:r>
              <a:rPr sz="1850" spc="-20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correções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para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diminuição </a:t>
            </a:r>
            <a:r>
              <a:rPr sz="1850" spc="-5" dirty="0">
                <a:latin typeface="Calibri"/>
                <a:cs typeface="Calibri"/>
              </a:rPr>
              <a:t>da</a:t>
            </a:r>
            <a:r>
              <a:rPr sz="1850" spc="-10" dirty="0">
                <a:latin typeface="Calibri"/>
                <a:cs typeface="Calibri"/>
              </a:rPr>
              <a:t> frequência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de</a:t>
            </a:r>
            <a:r>
              <a:rPr sz="1850" spc="-2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falhas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421" y="1943101"/>
            <a:ext cx="2376157" cy="35521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39868" y="2200653"/>
            <a:ext cx="5886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Isolar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6415" y="5789076"/>
            <a:ext cx="67906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8000"/>
              </a:lnSpc>
              <a:spcBef>
                <a:spcPts val="100"/>
              </a:spcBef>
            </a:pPr>
            <a:r>
              <a:rPr sz="2775" spc="-7" baseline="3003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775" spc="-75" baseline="300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latin typeface="Calibri"/>
                <a:cs typeface="Calibri"/>
              </a:rPr>
              <a:t>Mais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tempo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de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uso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significa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mais </a:t>
            </a:r>
            <a:r>
              <a:rPr sz="1850" spc="-5" dirty="0">
                <a:latin typeface="Calibri"/>
                <a:cs typeface="Calibri"/>
              </a:rPr>
              <a:t>possibilidade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de </a:t>
            </a:r>
            <a:r>
              <a:rPr sz="1850" spc="-25" dirty="0">
                <a:latin typeface="Calibri"/>
                <a:cs typeface="Calibri"/>
              </a:rPr>
              <a:t>encontrar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corrigir </a:t>
            </a:r>
            <a:r>
              <a:rPr sz="1850" spc="-40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problemas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9888" y="3117593"/>
            <a:ext cx="7918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Corrigir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6155" y="4035858"/>
            <a:ext cx="7391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15987" y="4952850"/>
            <a:ext cx="1053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Estabilizar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335" y="632193"/>
            <a:ext cx="6691827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latin typeface="Calibri"/>
                <a:cs typeface="Calibri"/>
              </a:rPr>
              <a:t>Qualidade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x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Tipo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de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Software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4036" y="1773542"/>
            <a:ext cx="7934325" cy="16764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73050" indent="-260985">
              <a:spcBef>
                <a:spcPts val="530"/>
              </a:spcBef>
              <a:buClr>
                <a:srgbClr val="9ABA59"/>
              </a:buClr>
              <a:buFont typeface="Arial MT"/>
              <a:buChar char="•"/>
              <a:tabLst>
                <a:tab pos="273050" algn="l"/>
                <a:tab pos="273685" algn="l"/>
              </a:tabLst>
            </a:pPr>
            <a:r>
              <a:rPr sz="2400" spc="5" dirty="0">
                <a:latin typeface="Calibri"/>
                <a:cs typeface="Calibri"/>
              </a:rPr>
              <a:t>Cada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tipo </a:t>
            </a:r>
            <a:r>
              <a:rPr sz="2400" spc="10" dirty="0">
                <a:latin typeface="Calibri"/>
                <a:cs typeface="Calibri"/>
              </a:rPr>
              <a:t>de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software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tem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próprio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requisito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qualidade</a:t>
            </a:r>
            <a:endParaRPr sz="2400">
              <a:latin typeface="Calibri"/>
              <a:cs typeface="Calibri"/>
            </a:endParaRPr>
          </a:p>
          <a:p>
            <a:pPr marL="273050" marR="652145" indent="-260985">
              <a:lnSpc>
                <a:spcPct val="100800"/>
              </a:lnSpc>
              <a:spcBef>
                <a:spcPts val="409"/>
              </a:spcBef>
              <a:buClr>
                <a:srgbClr val="9ABA59"/>
              </a:buClr>
              <a:buFont typeface="Arial MT"/>
              <a:buChar char="•"/>
              <a:tabLst>
                <a:tab pos="273050" algn="l"/>
                <a:tab pos="27368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importância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cada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característica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depende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do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tipo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software</a:t>
            </a:r>
            <a:endParaRPr sz="2400">
              <a:latin typeface="Calibri"/>
              <a:cs typeface="Calibri"/>
            </a:endParaRPr>
          </a:p>
          <a:p>
            <a:pPr marL="273050" indent="-260985">
              <a:spcBef>
                <a:spcPts val="585"/>
              </a:spcBef>
              <a:buClr>
                <a:srgbClr val="9ABA59"/>
              </a:buClr>
              <a:buFont typeface="Arial MT"/>
              <a:buChar char="•"/>
              <a:tabLst>
                <a:tab pos="273050" algn="l"/>
                <a:tab pos="273685" algn="l"/>
              </a:tabLst>
            </a:pPr>
            <a:r>
              <a:rPr sz="2400" spc="-10" dirty="0">
                <a:latin typeface="Calibri"/>
                <a:cs typeface="Calibri"/>
              </a:rPr>
              <a:t>Exemplos: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4981" y="3928520"/>
            <a:ext cx="1953895" cy="1613535"/>
            <a:chOff x="750980" y="3928519"/>
            <a:chExt cx="1953895" cy="16135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653" y="3953510"/>
              <a:ext cx="1943096" cy="1583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5653" y="3952247"/>
              <a:ext cx="1944370" cy="1584960"/>
            </a:xfrm>
            <a:custGeom>
              <a:avLst/>
              <a:gdLst/>
              <a:ahLst/>
              <a:cxnLst/>
              <a:rect l="l" t="t" r="r" b="b"/>
              <a:pathLst>
                <a:path w="1944370" h="1584960">
                  <a:moveTo>
                    <a:pt x="0" y="264147"/>
                  </a:moveTo>
                  <a:lnTo>
                    <a:pt x="0" y="250177"/>
                  </a:lnTo>
                  <a:lnTo>
                    <a:pt x="1257" y="236219"/>
                  </a:lnTo>
                  <a:lnTo>
                    <a:pt x="3810" y="223507"/>
                  </a:lnTo>
                  <a:lnTo>
                    <a:pt x="6350" y="209549"/>
                  </a:lnTo>
                  <a:lnTo>
                    <a:pt x="8877" y="195567"/>
                  </a:lnTo>
                  <a:lnTo>
                    <a:pt x="12687" y="182879"/>
                  </a:lnTo>
                  <a:lnTo>
                    <a:pt x="17780" y="170167"/>
                  </a:lnTo>
                  <a:lnTo>
                    <a:pt x="22860" y="157467"/>
                  </a:lnTo>
                  <a:lnTo>
                    <a:pt x="29209" y="144779"/>
                  </a:lnTo>
                  <a:lnTo>
                    <a:pt x="35547" y="132067"/>
                  </a:lnTo>
                  <a:lnTo>
                    <a:pt x="41910" y="120637"/>
                  </a:lnTo>
                  <a:lnTo>
                    <a:pt x="50787" y="109207"/>
                  </a:lnTo>
                  <a:lnTo>
                    <a:pt x="58407" y="99059"/>
                  </a:lnTo>
                  <a:lnTo>
                    <a:pt x="67310" y="87629"/>
                  </a:lnTo>
                  <a:lnTo>
                    <a:pt x="77457" y="77457"/>
                  </a:lnTo>
                  <a:lnTo>
                    <a:pt x="87630" y="68579"/>
                  </a:lnTo>
                  <a:lnTo>
                    <a:pt x="97790" y="59677"/>
                  </a:lnTo>
                  <a:lnTo>
                    <a:pt x="109220" y="50787"/>
                  </a:lnTo>
                  <a:lnTo>
                    <a:pt x="120650" y="43167"/>
                  </a:lnTo>
                  <a:lnTo>
                    <a:pt x="132080" y="35547"/>
                  </a:lnTo>
                  <a:lnTo>
                    <a:pt x="168897" y="17767"/>
                  </a:lnTo>
                  <a:lnTo>
                    <a:pt x="209550" y="6337"/>
                  </a:lnTo>
                  <a:lnTo>
                    <a:pt x="250190" y="1257"/>
                  </a:lnTo>
                  <a:lnTo>
                    <a:pt x="264147" y="0"/>
                  </a:lnTo>
                  <a:lnTo>
                    <a:pt x="1680210" y="0"/>
                  </a:lnTo>
                  <a:lnTo>
                    <a:pt x="1722120" y="3809"/>
                  </a:lnTo>
                  <a:lnTo>
                    <a:pt x="1761477" y="13957"/>
                  </a:lnTo>
                  <a:lnTo>
                    <a:pt x="1774189" y="17767"/>
                  </a:lnTo>
                  <a:lnTo>
                    <a:pt x="1786889" y="22859"/>
                  </a:lnTo>
                  <a:lnTo>
                    <a:pt x="1799577" y="29197"/>
                  </a:lnTo>
                  <a:lnTo>
                    <a:pt x="1812289" y="35547"/>
                  </a:lnTo>
                  <a:lnTo>
                    <a:pt x="1823720" y="43167"/>
                  </a:lnTo>
                  <a:lnTo>
                    <a:pt x="1835150" y="50787"/>
                  </a:lnTo>
                  <a:lnTo>
                    <a:pt x="1846580" y="59677"/>
                  </a:lnTo>
                  <a:lnTo>
                    <a:pt x="1856727" y="68579"/>
                  </a:lnTo>
                  <a:lnTo>
                    <a:pt x="1866900" y="77457"/>
                  </a:lnTo>
                  <a:lnTo>
                    <a:pt x="1875777" y="87629"/>
                  </a:lnTo>
                  <a:lnTo>
                    <a:pt x="1884680" y="99059"/>
                  </a:lnTo>
                  <a:lnTo>
                    <a:pt x="1893570" y="109207"/>
                  </a:lnTo>
                  <a:lnTo>
                    <a:pt x="1901189" y="120637"/>
                  </a:lnTo>
                  <a:lnTo>
                    <a:pt x="1908810" y="132067"/>
                  </a:lnTo>
                  <a:lnTo>
                    <a:pt x="1915160" y="144779"/>
                  </a:lnTo>
                  <a:lnTo>
                    <a:pt x="1921497" y="157467"/>
                  </a:lnTo>
                  <a:lnTo>
                    <a:pt x="1926589" y="170167"/>
                  </a:lnTo>
                  <a:lnTo>
                    <a:pt x="1930400" y="182879"/>
                  </a:lnTo>
                  <a:lnTo>
                    <a:pt x="1935480" y="195567"/>
                  </a:lnTo>
                  <a:lnTo>
                    <a:pt x="1938020" y="209549"/>
                  </a:lnTo>
                  <a:lnTo>
                    <a:pt x="1940547" y="223507"/>
                  </a:lnTo>
                  <a:lnTo>
                    <a:pt x="1943100" y="236219"/>
                  </a:lnTo>
                  <a:lnTo>
                    <a:pt x="1943100" y="250177"/>
                  </a:lnTo>
                  <a:lnTo>
                    <a:pt x="1944357" y="264147"/>
                  </a:lnTo>
                  <a:lnTo>
                    <a:pt x="1944357" y="1320787"/>
                  </a:lnTo>
                  <a:lnTo>
                    <a:pt x="1944357" y="1333499"/>
                  </a:lnTo>
                  <a:lnTo>
                    <a:pt x="1943100" y="1347457"/>
                  </a:lnTo>
                  <a:lnTo>
                    <a:pt x="1940547" y="1361427"/>
                  </a:lnTo>
                  <a:lnTo>
                    <a:pt x="1938020" y="1375409"/>
                  </a:lnTo>
                  <a:lnTo>
                    <a:pt x="1926589" y="1414767"/>
                  </a:lnTo>
                  <a:lnTo>
                    <a:pt x="1908810" y="1451609"/>
                  </a:lnTo>
                  <a:lnTo>
                    <a:pt x="1902447" y="1464297"/>
                  </a:lnTo>
                  <a:lnTo>
                    <a:pt x="1893570" y="1475727"/>
                  </a:lnTo>
                  <a:lnTo>
                    <a:pt x="1885950" y="1485899"/>
                  </a:lnTo>
                  <a:lnTo>
                    <a:pt x="1877060" y="1497329"/>
                  </a:lnTo>
                  <a:lnTo>
                    <a:pt x="1866900" y="1506207"/>
                  </a:lnTo>
                  <a:lnTo>
                    <a:pt x="1856727" y="1516379"/>
                  </a:lnTo>
                  <a:lnTo>
                    <a:pt x="1846580" y="1525257"/>
                  </a:lnTo>
                  <a:lnTo>
                    <a:pt x="1835150" y="1534147"/>
                  </a:lnTo>
                  <a:lnTo>
                    <a:pt x="1823720" y="1541767"/>
                  </a:lnTo>
                  <a:lnTo>
                    <a:pt x="1812289" y="1549387"/>
                  </a:lnTo>
                  <a:lnTo>
                    <a:pt x="1775460" y="1567167"/>
                  </a:lnTo>
                  <a:lnTo>
                    <a:pt x="1734807" y="1578597"/>
                  </a:lnTo>
                  <a:lnTo>
                    <a:pt x="1708137" y="1582407"/>
                  </a:lnTo>
                  <a:lnTo>
                    <a:pt x="1694180" y="1583677"/>
                  </a:lnTo>
                  <a:lnTo>
                    <a:pt x="1680210" y="1583677"/>
                  </a:lnTo>
                  <a:lnTo>
                    <a:pt x="264147" y="1584959"/>
                  </a:lnTo>
                  <a:lnTo>
                    <a:pt x="250190" y="1583677"/>
                  </a:lnTo>
                  <a:lnTo>
                    <a:pt x="236220" y="1583677"/>
                  </a:lnTo>
                  <a:lnTo>
                    <a:pt x="222237" y="1581149"/>
                  </a:lnTo>
                  <a:lnTo>
                    <a:pt x="209550" y="1578597"/>
                  </a:lnTo>
                  <a:lnTo>
                    <a:pt x="195567" y="1576057"/>
                  </a:lnTo>
                  <a:lnTo>
                    <a:pt x="181610" y="1570977"/>
                  </a:lnTo>
                  <a:lnTo>
                    <a:pt x="143510" y="1555737"/>
                  </a:lnTo>
                  <a:lnTo>
                    <a:pt x="109220" y="1534147"/>
                  </a:lnTo>
                  <a:lnTo>
                    <a:pt x="77457" y="1507477"/>
                  </a:lnTo>
                  <a:lnTo>
                    <a:pt x="50787" y="1475727"/>
                  </a:lnTo>
                  <a:lnTo>
                    <a:pt x="29209" y="1440179"/>
                  </a:lnTo>
                  <a:lnTo>
                    <a:pt x="22860" y="1427467"/>
                  </a:lnTo>
                  <a:lnTo>
                    <a:pt x="17780" y="1414767"/>
                  </a:lnTo>
                  <a:lnTo>
                    <a:pt x="12687" y="1402079"/>
                  </a:lnTo>
                  <a:lnTo>
                    <a:pt x="8877" y="1389367"/>
                  </a:lnTo>
                  <a:lnTo>
                    <a:pt x="6350" y="1375409"/>
                  </a:lnTo>
                  <a:lnTo>
                    <a:pt x="3810" y="1362697"/>
                  </a:lnTo>
                  <a:lnTo>
                    <a:pt x="1257" y="1348739"/>
                  </a:lnTo>
                  <a:lnTo>
                    <a:pt x="0" y="1334757"/>
                  </a:lnTo>
                  <a:lnTo>
                    <a:pt x="0" y="1320787"/>
                  </a:lnTo>
                  <a:lnTo>
                    <a:pt x="0" y="264147"/>
                  </a:lnTo>
                  <a:close/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5653" y="39522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00014" y="553720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654" y="3933193"/>
              <a:ext cx="1943095" cy="15836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5653" y="3933192"/>
              <a:ext cx="1944370" cy="1583690"/>
            </a:xfrm>
            <a:custGeom>
              <a:avLst/>
              <a:gdLst/>
              <a:ahLst/>
              <a:cxnLst/>
              <a:rect l="l" t="t" r="r" b="b"/>
              <a:pathLst>
                <a:path w="1944370" h="1583689">
                  <a:moveTo>
                    <a:pt x="0" y="262890"/>
                  </a:moveTo>
                  <a:lnTo>
                    <a:pt x="0" y="250190"/>
                  </a:lnTo>
                  <a:lnTo>
                    <a:pt x="1257" y="236220"/>
                  </a:lnTo>
                  <a:lnTo>
                    <a:pt x="3810" y="222237"/>
                  </a:lnTo>
                  <a:lnTo>
                    <a:pt x="6350" y="208280"/>
                  </a:lnTo>
                  <a:lnTo>
                    <a:pt x="8877" y="194310"/>
                  </a:lnTo>
                  <a:lnTo>
                    <a:pt x="12687" y="181610"/>
                  </a:lnTo>
                  <a:lnTo>
                    <a:pt x="17780" y="168897"/>
                  </a:lnTo>
                  <a:lnTo>
                    <a:pt x="22860" y="156210"/>
                  </a:lnTo>
                  <a:lnTo>
                    <a:pt x="29209" y="143510"/>
                  </a:lnTo>
                  <a:lnTo>
                    <a:pt x="35547" y="130797"/>
                  </a:lnTo>
                  <a:lnTo>
                    <a:pt x="41910" y="119367"/>
                  </a:lnTo>
                  <a:lnTo>
                    <a:pt x="50787" y="107937"/>
                  </a:lnTo>
                  <a:lnTo>
                    <a:pt x="58407" y="97790"/>
                  </a:lnTo>
                  <a:lnTo>
                    <a:pt x="67310" y="86360"/>
                  </a:lnTo>
                  <a:lnTo>
                    <a:pt x="77457" y="77457"/>
                  </a:lnTo>
                  <a:lnTo>
                    <a:pt x="87630" y="67310"/>
                  </a:lnTo>
                  <a:lnTo>
                    <a:pt x="97790" y="58407"/>
                  </a:lnTo>
                  <a:lnTo>
                    <a:pt x="109220" y="49530"/>
                  </a:lnTo>
                  <a:lnTo>
                    <a:pt x="120650" y="41910"/>
                  </a:lnTo>
                  <a:lnTo>
                    <a:pt x="132080" y="34290"/>
                  </a:lnTo>
                  <a:lnTo>
                    <a:pt x="168897" y="16497"/>
                  </a:lnTo>
                  <a:lnTo>
                    <a:pt x="209550" y="5067"/>
                  </a:lnTo>
                  <a:lnTo>
                    <a:pt x="250190" y="0"/>
                  </a:lnTo>
                  <a:lnTo>
                    <a:pt x="264147" y="0"/>
                  </a:lnTo>
                  <a:lnTo>
                    <a:pt x="1680210" y="0"/>
                  </a:lnTo>
                  <a:lnTo>
                    <a:pt x="1694180" y="0"/>
                  </a:lnTo>
                  <a:lnTo>
                    <a:pt x="1708137" y="1257"/>
                  </a:lnTo>
                  <a:lnTo>
                    <a:pt x="1722120" y="2540"/>
                  </a:lnTo>
                  <a:lnTo>
                    <a:pt x="1734807" y="5067"/>
                  </a:lnTo>
                  <a:lnTo>
                    <a:pt x="1748789" y="8877"/>
                  </a:lnTo>
                  <a:lnTo>
                    <a:pt x="1761477" y="12687"/>
                  </a:lnTo>
                  <a:lnTo>
                    <a:pt x="1774189" y="16497"/>
                  </a:lnTo>
                  <a:lnTo>
                    <a:pt x="1786889" y="21590"/>
                  </a:lnTo>
                  <a:lnTo>
                    <a:pt x="1799577" y="27927"/>
                  </a:lnTo>
                  <a:lnTo>
                    <a:pt x="1812289" y="34290"/>
                  </a:lnTo>
                  <a:lnTo>
                    <a:pt x="1823720" y="41910"/>
                  </a:lnTo>
                  <a:lnTo>
                    <a:pt x="1835150" y="49530"/>
                  </a:lnTo>
                  <a:lnTo>
                    <a:pt x="1866900" y="77457"/>
                  </a:lnTo>
                  <a:lnTo>
                    <a:pt x="1884680" y="97790"/>
                  </a:lnTo>
                  <a:lnTo>
                    <a:pt x="1893570" y="107937"/>
                  </a:lnTo>
                  <a:lnTo>
                    <a:pt x="1915160" y="143510"/>
                  </a:lnTo>
                  <a:lnTo>
                    <a:pt x="1930400" y="181610"/>
                  </a:lnTo>
                  <a:lnTo>
                    <a:pt x="1935480" y="194310"/>
                  </a:lnTo>
                  <a:lnTo>
                    <a:pt x="1938020" y="208280"/>
                  </a:lnTo>
                  <a:lnTo>
                    <a:pt x="1940547" y="222237"/>
                  </a:lnTo>
                  <a:lnTo>
                    <a:pt x="1943100" y="236220"/>
                  </a:lnTo>
                  <a:lnTo>
                    <a:pt x="1943100" y="250190"/>
                  </a:lnTo>
                  <a:lnTo>
                    <a:pt x="1944357" y="262890"/>
                  </a:lnTo>
                  <a:lnTo>
                    <a:pt x="1944357" y="1319517"/>
                  </a:lnTo>
                  <a:lnTo>
                    <a:pt x="1944357" y="1333500"/>
                  </a:lnTo>
                  <a:lnTo>
                    <a:pt x="1943100" y="1347470"/>
                  </a:lnTo>
                  <a:lnTo>
                    <a:pt x="1940547" y="1360170"/>
                  </a:lnTo>
                  <a:lnTo>
                    <a:pt x="1938020" y="1374140"/>
                  </a:lnTo>
                  <a:lnTo>
                    <a:pt x="1935480" y="1388097"/>
                  </a:lnTo>
                  <a:lnTo>
                    <a:pt x="1921497" y="1426197"/>
                  </a:lnTo>
                  <a:lnTo>
                    <a:pt x="1908810" y="1450340"/>
                  </a:lnTo>
                  <a:lnTo>
                    <a:pt x="1902447" y="1463040"/>
                  </a:lnTo>
                  <a:lnTo>
                    <a:pt x="1893570" y="1474470"/>
                  </a:lnTo>
                  <a:lnTo>
                    <a:pt x="1885950" y="1484630"/>
                  </a:lnTo>
                  <a:lnTo>
                    <a:pt x="1877060" y="1496060"/>
                  </a:lnTo>
                  <a:lnTo>
                    <a:pt x="1866900" y="1506207"/>
                  </a:lnTo>
                  <a:lnTo>
                    <a:pt x="1856727" y="1515110"/>
                  </a:lnTo>
                  <a:lnTo>
                    <a:pt x="1846580" y="1524000"/>
                  </a:lnTo>
                  <a:lnTo>
                    <a:pt x="1812289" y="1548117"/>
                  </a:lnTo>
                  <a:lnTo>
                    <a:pt x="1775460" y="1565910"/>
                  </a:lnTo>
                  <a:lnTo>
                    <a:pt x="1734807" y="1577340"/>
                  </a:lnTo>
                  <a:lnTo>
                    <a:pt x="1694180" y="1582407"/>
                  </a:lnTo>
                  <a:lnTo>
                    <a:pt x="1680210" y="1583690"/>
                  </a:lnTo>
                  <a:lnTo>
                    <a:pt x="264147" y="1583690"/>
                  </a:lnTo>
                  <a:lnTo>
                    <a:pt x="250190" y="1583690"/>
                  </a:lnTo>
                  <a:lnTo>
                    <a:pt x="236220" y="1582407"/>
                  </a:lnTo>
                  <a:lnTo>
                    <a:pt x="222237" y="1579880"/>
                  </a:lnTo>
                  <a:lnTo>
                    <a:pt x="209550" y="1577340"/>
                  </a:lnTo>
                  <a:lnTo>
                    <a:pt x="195567" y="1574787"/>
                  </a:lnTo>
                  <a:lnTo>
                    <a:pt x="156210" y="1560830"/>
                  </a:lnTo>
                  <a:lnTo>
                    <a:pt x="120650" y="1540497"/>
                  </a:lnTo>
                  <a:lnTo>
                    <a:pt x="109220" y="1532877"/>
                  </a:lnTo>
                  <a:lnTo>
                    <a:pt x="97790" y="1525257"/>
                  </a:lnTo>
                  <a:lnTo>
                    <a:pt x="67310" y="1496060"/>
                  </a:lnTo>
                  <a:lnTo>
                    <a:pt x="50787" y="1474470"/>
                  </a:lnTo>
                  <a:lnTo>
                    <a:pt x="41910" y="1463040"/>
                  </a:lnTo>
                  <a:lnTo>
                    <a:pt x="35547" y="1451610"/>
                  </a:lnTo>
                  <a:lnTo>
                    <a:pt x="29209" y="1438910"/>
                  </a:lnTo>
                  <a:lnTo>
                    <a:pt x="22860" y="1427480"/>
                  </a:lnTo>
                  <a:lnTo>
                    <a:pt x="17780" y="1414767"/>
                  </a:lnTo>
                  <a:lnTo>
                    <a:pt x="12687" y="1400810"/>
                  </a:lnTo>
                  <a:lnTo>
                    <a:pt x="8877" y="1388097"/>
                  </a:lnTo>
                  <a:lnTo>
                    <a:pt x="6350" y="1374140"/>
                  </a:lnTo>
                  <a:lnTo>
                    <a:pt x="3810" y="1361427"/>
                  </a:lnTo>
                  <a:lnTo>
                    <a:pt x="1257" y="1347470"/>
                  </a:lnTo>
                  <a:lnTo>
                    <a:pt x="0" y="1333500"/>
                  </a:lnTo>
                  <a:lnTo>
                    <a:pt x="0" y="1319517"/>
                  </a:lnTo>
                  <a:lnTo>
                    <a:pt x="0" y="262890"/>
                  </a:lnTo>
                  <a:close/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5653" y="393319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00014" y="551687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179206" y="3928521"/>
            <a:ext cx="1953895" cy="1613535"/>
            <a:chOff x="6655205" y="3928520"/>
            <a:chExt cx="1953895" cy="161353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9880" y="3953510"/>
              <a:ext cx="1944370" cy="15836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604252" y="4216339"/>
              <a:ext cx="0" cy="1071245"/>
            </a:xfrm>
            <a:custGeom>
              <a:avLst/>
              <a:gdLst/>
              <a:ahLst/>
              <a:cxnLst/>
              <a:rect l="l" t="t" r="r" b="b"/>
              <a:pathLst>
                <a:path h="1071245">
                  <a:moveTo>
                    <a:pt x="0" y="10707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59879" y="3952247"/>
              <a:ext cx="1945005" cy="1584960"/>
            </a:xfrm>
            <a:custGeom>
              <a:avLst/>
              <a:gdLst/>
              <a:ahLst/>
              <a:cxnLst/>
              <a:rect l="l" t="t" r="r" b="b"/>
              <a:pathLst>
                <a:path w="1945004" h="1584960">
                  <a:moveTo>
                    <a:pt x="0" y="264147"/>
                  </a:moveTo>
                  <a:lnTo>
                    <a:pt x="1282" y="250177"/>
                  </a:lnTo>
                  <a:lnTo>
                    <a:pt x="2527" y="236219"/>
                  </a:lnTo>
                  <a:lnTo>
                    <a:pt x="3810" y="223507"/>
                  </a:lnTo>
                  <a:lnTo>
                    <a:pt x="6337" y="209549"/>
                  </a:lnTo>
                  <a:lnTo>
                    <a:pt x="8902" y="195567"/>
                  </a:lnTo>
                  <a:lnTo>
                    <a:pt x="13957" y="182879"/>
                  </a:lnTo>
                  <a:lnTo>
                    <a:pt x="17767" y="170167"/>
                  </a:lnTo>
                  <a:lnTo>
                    <a:pt x="35572" y="132067"/>
                  </a:lnTo>
                  <a:lnTo>
                    <a:pt x="59677" y="99059"/>
                  </a:lnTo>
                  <a:lnTo>
                    <a:pt x="68580" y="87629"/>
                  </a:lnTo>
                  <a:lnTo>
                    <a:pt x="77482" y="77457"/>
                  </a:lnTo>
                  <a:lnTo>
                    <a:pt x="87630" y="68579"/>
                  </a:lnTo>
                  <a:lnTo>
                    <a:pt x="97777" y="59677"/>
                  </a:lnTo>
                  <a:lnTo>
                    <a:pt x="109207" y="50787"/>
                  </a:lnTo>
                  <a:lnTo>
                    <a:pt x="120637" y="43167"/>
                  </a:lnTo>
                  <a:lnTo>
                    <a:pt x="132067" y="35547"/>
                  </a:lnTo>
                  <a:lnTo>
                    <a:pt x="144780" y="29197"/>
                  </a:lnTo>
                  <a:lnTo>
                    <a:pt x="157492" y="22859"/>
                  </a:lnTo>
                  <a:lnTo>
                    <a:pt x="170167" y="17767"/>
                  </a:lnTo>
                  <a:lnTo>
                    <a:pt x="182880" y="13957"/>
                  </a:lnTo>
                  <a:lnTo>
                    <a:pt x="195592" y="10147"/>
                  </a:lnTo>
                  <a:lnTo>
                    <a:pt x="236220" y="2527"/>
                  </a:lnTo>
                  <a:lnTo>
                    <a:pt x="264172" y="0"/>
                  </a:lnTo>
                  <a:lnTo>
                    <a:pt x="1680210" y="0"/>
                  </a:lnTo>
                  <a:lnTo>
                    <a:pt x="1722120" y="3809"/>
                  </a:lnTo>
                  <a:lnTo>
                    <a:pt x="1762747" y="13957"/>
                  </a:lnTo>
                  <a:lnTo>
                    <a:pt x="1800847" y="29197"/>
                  </a:lnTo>
                  <a:lnTo>
                    <a:pt x="1835137" y="50787"/>
                  </a:lnTo>
                  <a:lnTo>
                    <a:pt x="1866900" y="77457"/>
                  </a:lnTo>
                  <a:lnTo>
                    <a:pt x="1893570" y="109207"/>
                  </a:lnTo>
                  <a:lnTo>
                    <a:pt x="1915147" y="144779"/>
                  </a:lnTo>
                  <a:lnTo>
                    <a:pt x="1921522" y="157467"/>
                  </a:lnTo>
                  <a:lnTo>
                    <a:pt x="1926577" y="170167"/>
                  </a:lnTo>
                  <a:lnTo>
                    <a:pt x="1931670" y="182879"/>
                  </a:lnTo>
                  <a:lnTo>
                    <a:pt x="1935480" y="195567"/>
                  </a:lnTo>
                  <a:lnTo>
                    <a:pt x="1939289" y="209549"/>
                  </a:lnTo>
                  <a:lnTo>
                    <a:pt x="1941817" y="223507"/>
                  </a:lnTo>
                  <a:lnTo>
                    <a:pt x="1943100" y="236219"/>
                  </a:lnTo>
                  <a:lnTo>
                    <a:pt x="1944382" y="250177"/>
                  </a:lnTo>
                  <a:lnTo>
                    <a:pt x="1944382" y="264147"/>
                  </a:lnTo>
                  <a:lnTo>
                    <a:pt x="1944382" y="1320787"/>
                  </a:lnTo>
                  <a:lnTo>
                    <a:pt x="1944382" y="1333499"/>
                  </a:lnTo>
                  <a:lnTo>
                    <a:pt x="1943100" y="1347457"/>
                  </a:lnTo>
                  <a:lnTo>
                    <a:pt x="1941817" y="1361427"/>
                  </a:lnTo>
                  <a:lnTo>
                    <a:pt x="1939289" y="1375409"/>
                  </a:lnTo>
                  <a:lnTo>
                    <a:pt x="1935480" y="1388097"/>
                  </a:lnTo>
                  <a:lnTo>
                    <a:pt x="1931670" y="1402079"/>
                  </a:lnTo>
                  <a:lnTo>
                    <a:pt x="1926577" y="1414767"/>
                  </a:lnTo>
                  <a:lnTo>
                    <a:pt x="1922767" y="1427467"/>
                  </a:lnTo>
                  <a:lnTo>
                    <a:pt x="1916430" y="1440179"/>
                  </a:lnTo>
                  <a:lnTo>
                    <a:pt x="1910092" y="1451609"/>
                  </a:lnTo>
                  <a:lnTo>
                    <a:pt x="1902472" y="1464297"/>
                  </a:lnTo>
                  <a:lnTo>
                    <a:pt x="1894852" y="1475727"/>
                  </a:lnTo>
                  <a:lnTo>
                    <a:pt x="1885950" y="1485899"/>
                  </a:lnTo>
                  <a:lnTo>
                    <a:pt x="1877047" y="1497329"/>
                  </a:lnTo>
                  <a:lnTo>
                    <a:pt x="1866900" y="1506207"/>
                  </a:lnTo>
                  <a:lnTo>
                    <a:pt x="1856752" y="1516379"/>
                  </a:lnTo>
                  <a:lnTo>
                    <a:pt x="1846567" y="1525257"/>
                  </a:lnTo>
                  <a:lnTo>
                    <a:pt x="1836420" y="1534147"/>
                  </a:lnTo>
                  <a:lnTo>
                    <a:pt x="1824989" y="1541767"/>
                  </a:lnTo>
                  <a:lnTo>
                    <a:pt x="1813560" y="1549387"/>
                  </a:lnTo>
                  <a:lnTo>
                    <a:pt x="1800847" y="1555737"/>
                  </a:lnTo>
                  <a:lnTo>
                    <a:pt x="1788172" y="1562099"/>
                  </a:lnTo>
                  <a:lnTo>
                    <a:pt x="1775460" y="1567167"/>
                  </a:lnTo>
                  <a:lnTo>
                    <a:pt x="1762747" y="1570977"/>
                  </a:lnTo>
                  <a:lnTo>
                    <a:pt x="1748789" y="1574787"/>
                  </a:lnTo>
                  <a:lnTo>
                    <a:pt x="1736077" y="1578597"/>
                  </a:lnTo>
                  <a:lnTo>
                    <a:pt x="1722120" y="1581149"/>
                  </a:lnTo>
                  <a:lnTo>
                    <a:pt x="1708162" y="1582407"/>
                  </a:lnTo>
                  <a:lnTo>
                    <a:pt x="1694167" y="1583677"/>
                  </a:lnTo>
                  <a:lnTo>
                    <a:pt x="1681492" y="1583677"/>
                  </a:lnTo>
                  <a:lnTo>
                    <a:pt x="264172" y="1584959"/>
                  </a:lnTo>
                  <a:lnTo>
                    <a:pt x="250177" y="1583677"/>
                  </a:lnTo>
                  <a:lnTo>
                    <a:pt x="236220" y="1583677"/>
                  </a:lnTo>
                  <a:lnTo>
                    <a:pt x="223507" y="1581149"/>
                  </a:lnTo>
                  <a:lnTo>
                    <a:pt x="209550" y="1578597"/>
                  </a:lnTo>
                  <a:lnTo>
                    <a:pt x="195592" y="1576057"/>
                  </a:lnTo>
                  <a:lnTo>
                    <a:pt x="182880" y="1570977"/>
                  </a:lnTo>
                  <a:lnTo>
                    <a:pt x="170167" y="1567167"/>
                  </a:lnTo>
                  <a:lnTo>
                    <a:pt x="157492" y="1562099"/>
                  </a:lnTo>
                  <a:lnTo>
                    <a:pt x="144780" y="1555737"/>
                  </a:lnTo>
                  <a:lnTo>
                    <a:pt x="132067" y="1549387"/>
                  </a:lnTo>
                  <a:lnTo>
                    <a:pt x="120637" y="1541767"/>
                  </a:lnTo>
                  <a:lnTo>
                    <a:pt x="109207" y="1534147"/>
                  </a:lnTo>
                  <a:lnTo>
                    <a:pt x="97777" y="1525257"/>
                  </a:lnTo>
                  <a:lnTo>
                    <a:pt x="68580" y="1497329"/>
                  </a:lnTo>
                  <a:lnTo>
                    <a:pt x="43192" y="1464297"/>
                  </a:lnTo>
                  <a:lnTo>
                    <a:pt x="22860" y="1427467"/>
                  </a:lnTo>
                  <a:lnTo>
                    <a:pt x="13957" y="1402079"/>
                  </a:lnTo>
                  <a:lnTo>
                    <a:pt x="8902" y="1389367"/>
                  </a:lnTo>
                  <a:lnTo>
                    <a:pt x="6337" y="1375409"/>
                  </a:lnTo>
                  <a:lnTo>
                    <a:pt x="3810" y="1362697"/>
                  </a:lnTo>
                  <a:lnTo>
                    <a:pt x="2527" y="1348739"/>
                  </a:lnTo>
                  <a:lnTo>
                    <a:pt x="1282" y="1334757"/>
                  </a:lnTo>
                  <a:lnTo>
                    <a:pt x="0" y="1320787"/>
                  </a:lnTo>
                  <a:lnTo>
                    <a:pt x="0" y="264147"/>
                  </a:lnTo>
                  <a:close/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59879" y="39522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04260" y="553720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59880" y="3933194"/>
              <a:ext cx="1944370" cy="158368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04252" y="4197285"/>
              <a:ext cx="0" cy="1069975"/>
            </a:xfrm>
            <a:custGeom>
              <a:avLst/>
              <a:gdLst/>
              <a:ahLst/>
              <a:cxnLst/>
              <a:rect l="l" t="t" r="r" b="b"/>
              <a:pathLst>
                <a:path h="1069975">
                  <a:moveTo>
                    <a:pt x="0" y="10694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9879" y="3933193"/>
              <a:ext cx="1945005" cy="1583690"/>
            </a:xfrm>
            <a:custGeom>
              <a:avLst/>
              <a:gdLst/>
              <a:ahLst/>
              <a:cxnLst/>
              <a:rect l="l" t="t" r="r" b="b"/>
              <a:pathLst>
                <a:path w="1945004" h="1583689">
                  <a:moveTo>
                    <a:pt x="0" y="262890"/>
                  </a:moveTo>
                  <a:lnTo>
                    <a:pt x="1282" y="250190"/>
                  </a:lnTo>
                  <a:lnTo>
                    <a:pt x="2527" y="236220"/>
                  </a:lnTo>
                  <a:lnTo>
                    <a:pt x="3810" y="222237"/>
                  </a:lnTo>
                  <a:lnTo>
                    <a:pt x="6337" y="208280"/>
                  </a:lnTo>
                  <a:lnTo>
                    <a:pt x="8902" y="194310"/>
                  </a:lnTo>
                  <a:lnTo>
                    <a:pt x="13957" y="181610"/>
                  </a:lnTo>
                  <a:lnTo>
                    <a:pt x="17767" y="168897"/>
                  </a:lnTo>
                  <a:lnTo>
                    <a:pt x="35572" y="130797"/>
                  </a:lnTo>
                  <a:lnTo>
                    <a:pt x="59677" y="97790"/>
                  </a:lnTo>
                  <a:lnTo>
                    <a:pt x="68580" y="86360"/>
                  </a:lnTo>
                  <a:lnTo>
                    <a:pt x="77482" y="77457"/>
                  </a:lnTo>
                  <a:lnTo>
                    <a:pt x="87630" y="67310"/>
                  </a:lnTo>
                  <a:lnTo>
                    <a:pt x="97777" y="58407"/>
                  </a:lnTo>
                  <a:lnTo>
                    <a:pt x="109207" y="49530"/>
                  </a:lnTo>
                  <a:lnTo>
                    <a:pt x="120637" y="41910"/>
                  </a:lnTo>
                  <a:lnTo>
                    <a:pt x="132067" y="34290"/>
                  </a:lnTo>
                  <a:lnTo>
                    <a:pt x="144780" y="27927"/>
                  </a:lnTo>
                  <a:lnTo>
                    <a:pt x="157492" y="21590"/>
                  </a:lnTo>
                  <a:lnTo>
                    <a:pt x="170167" y="16497"/>
                  </a:lnTo>
                  <a:lnTo>
                    <a:pt x="182880" y="12687"/>
                  </a:lnTo>
                  <a:lnTo>
                    <a:pt x="195592" y="8877"/>
                  </a:lnTo>
                  <a:lnTo>
                    <a:pt x="209550" y="5067"/>
                  </a:lnTo>
                  <a:lnTo>
                    <a:pt x="223507" y="2540"/>
                  </a:lnTo>
                  <a:lnTo>
                    <a:pt x="236220" y="1257"/>
                  </a:lnTo>
                  <a:lnTo>
                    <a:pt x="250177" y="0"/>
                  </a:lnTo>
                  <a:lnTo>
                    <a:pt x="264172" y="0"/>
                  </a:lnTo>
                  <a:lnTo>
                    <a:pt x="1680210" y="0"/>
                  </a:lnTo>
                  <a:lnTo>
                    <a:pt x="1694167" y="0"/>
                  </a:lnTo>
                  <a:lnTo>
                    <a:pt x="1708162" y="1257"/>
                  </a:lnTo>
                  <a:lnTo>
                    <a:pt x="1722120" y="2540"/>
                  </a:lnTo>
                  <a:lnTo>
                    <a:pt x="1734832" y="5067"/>
                  </a:lnTo>
                  <a:lnTo>
                    <a:pt x="1748789" y="8877"/>
                  </a:lnTo>
                  <a:lnTo>
                    <a:pt x="1762747" y="12687"/>
                  </a:lnTo>
                  <a:lnTo>
                    <a:pt x="1800847" y="27927"/>
                  </a:lnTo>
                  <a:lnTo>
                    <a:pt x="1835137" y="49530"/>
                  </a:lnTo>
                  <a:lnTo>
                    <a:pt x="1866900" y="77457"/>
                  </a:lnTo>
                  <a:lnTo>
                    <a:pt x="1877047" y="86360"/>
                  </a:lnTo>
                  <a:lnTo>
                    <a:pt x="1885950" y="97790"/>
                  </a:lnTo>
                  <a:lnTo>
                    <a:pt x="1893570" y="107937"/>
                  </a:lnTo>
                  <a:lnTo>
                    <a:pt x="1902472" y="119367"/>
                  </a:lnTo>
                  <a:lnTo>
                    <a:pt x="1908810" y="132080"/>
                  </a:lnTo>
                  <a:lnTo>
                    <a:pt x="1915147" y="143510"/>
                  </a:lnTo>
                  <a:lnTo>
                    <a:pt x="1921522" y="156210"/>
                  </a:lnTo>
                  <a:lnTo>
                    <a:pt x="1926577" y="168897"/>
                  </a:lnTo>
                  <a:lnTo>
                    <a:pt x="1931670" y="181610"/>
                  </a:lnTo>
                  <a:lnTo>
                    <a:pt x="1935480" y="194310"/>
                  </a:lnTo>
                  <a:lnTo>
                    <a:pt x="1939289" y="208280"/>
                  </a:lnTo>
                  <a:lnTo>
                    <a:pt x="1941817" y="222237"/>
                  </a:lnTo>
                  <a:lnTo>
                    <a:pt x="1943100" y="236220"/>
                  </a:lnTo>
                  <a:lnTo>
                    <a:pt x="1944382" y="250190"/>
                  </a:lnTo>
                  <a:lnTo>
                    <a:pt x="1944382" y="262890"/>
                  </a:lnTo>
                  <a:lnTo>
                    <a:pt x="1944382" y="1319517"/>
                  </a:lnTo>
                  <a:lnTo>
                    <a:pt x="1944382" y="1333500"/>
                  </a:lnTo>
                  <a:lnTo>
                    <a:pt x="1943100" y="1347470"/>
                  </a:lnTo>
                  <a:lnTo>
                    <a:pt x="1935480" y="1388097"/>
                  </a:lnTo>
                  <a:lnTo>
                    <a:pt x="1926577" y="1413510"/>
                  </a:lnTo>
                  <a:lnTo>
                    <a:pt x="1922767" y="1426197"/>
                  </a:lnTo>
                  <a:lnTo>
                    <a:pt x="1902472" y="1463040"/>
                  </a:lnTo>
                  <a:lnTo>
                    <a:pt x="1877047" y="1496060"/>
                  </a:lnTo>
                  <a:lnTo>
                    <a:pt x="1846567" y="1524000"/>
                  </a:lnTo>
                  <a:lnTo>
                    <a:pt x="1836420" y="1532877"/>
                  </a:lnTo>
                  <a:lnTo>
                    <a:pt x="1824989" y="1540497"/>
                  </a:lnTo>
                  <a:lnTo>
                    <a:pt x="1813560" y="1548117"/>
                  </a:lnTo>
                  <a:lnTo>
                    <a:pt x="1800847" y="1554480"/>
                  </a:lnTo>
                  <a:lnTo>
                    <a:pt x="1788172" y="1560830"/>
                  </a:lnTo>
                  <a:lnTo>
                    <a:pt x="1775460" y="1565910"/>
                  </a:lnTo>
                  <a:lnTo>
                    <a:pt x="1762747" y="1569720"/>
                  </a:lnTo>
                  <a:lnTo>
                    <a:pt x="1748789" y="1573530"/>
                  </a:lnTo>
                  <a:lnTo>
                    <a:pt x="1736077" y="1577340"/>
                  </a:lnTo>
                  <a:lnTo>
                    <a:pt x="1722120" y="1579880"/>
                  </a:lnTo>
                  <a:lnTo>
                    <a:pt x="1708162" y="1581150"/>
                  </a:lnTo>
                  <a:lnTo>
                    <a:pt x="1694167" y="1582407"/>
                  </a:lnTo>
                  <a:lnTo>
                    <a:pt x="1681492" y="1583690"/>
                  </a:lnTo>
                  <a:lnTo>
                    <a:pt x="264172" y="1583690"/>
                  </a:lnTo>
                  <a:lnTo>
                    <a:pt x="250177" y="1583690"/>
                  </a:lnTo>
                  <a:lnTo>
                    <a:pt x="236220" y="1582407"/>
                  </a:lnTo>
                  <a:lnTo>
                    <a:pt x="223507" y="1579880"/>
                  </a:lnTo>
                  <a:lnTo>
                    <a:pt x="209550" y="1577340"/>
                  </a:lnTo>
                  <a:lnTo>
                    <a:pt x="195592" y="1574787"/>
                  </a:lnTo>
                  <a:lnTo>
                    <a:pt x="157492" y="1560830"/>
                  </a:lnTo>
                  <a:lnTo>
                    <a:pt x="120637" y="1540497"/>
                  </a:lnTo>
                  <a:lnTo>
                    <a:pt x="109207" y="1532877"/>
                  </a:lnTo>
                  <a:lnTo>
                    <a:pt x="97777" y="1525257"/>
                  </a:lnTo>
                  <a:lnTo>
                    <a:pt x="68580" y="1496060"/>
                  </a:lnTo>
                  <a:lnTo>
                    <a:pt x="43192" y="1463040"/>
                  </a:lnTo>
                  <a:lnTo>
                    <a:pt x="29197" y="1438910"/>
                  </a:lnTo>
                  <a:lnTo>
                    <a:pt x="22860" y="1427480"/>
                  </a:lnTo>
                  <a:lnTo>
                    <a:pt x="17767" y="1414767"/>
                  </a:lnTo>
                  <a:lnTo>
                    <a:pt x="13957" y="1400810"/>
                  </a:lnTo>
                  <a:lnTo>
                    <a:pt x="8902" y="1388097"/>
                  </a:lnTo>
                  <a:lnTo>
                    <a:pt x="6337" y="1374140"/>
                  </a:lnTo>
                  <a:lnTo>
                    <a:pt x="3810" y="1361427"/>
                  </a:lnTo>
                  <a:lnTo>
                    <a:pt x="2527" y="1347470"/>
                  </a:lnTo>
                  <a:lnTo>
                    <a:pt x="1282" y="1333500"/>
                  </a:lnTo>
                  <a:lnTo>
                    <a:pt x="0" y="1319517"/>
                  </a:lnTo>
                  <a:lnTo>
                    <a:pt x="0" y="262890"/>
                  </a:lnTo>
                  <a:close/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59879" y="393319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04260" y="551687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362857" y="3668166"/>
            <a:ext cx="441325" cy="2169795"/>
            <a:chOff x="2838856" y="3668165"/>
            <a:chExt cx="441325" cy="2169795"/>
          </a:xfrm>
        </p:grpSpPr>
        <p:sp>
          <p:nvSpPr>
            <p:cNvPr id="25" name="object 25"/>
            <p:cNvSpPr/>
            <p:nvPr/>
          </p:nvSpPr>
          <p:spPr>
            <a:xfrm>
              <a:off x="2843529" y="3672838"/>
              <a:ext cx="431800" cy="2160270"/>
            </a:xfrm>
            <a:custGeom>
              <a:avLst/>
              <a:gdLst/>
              <a:ahLst/>
              <a:cxnLst/>
              <a:rect l="l" t="t" r="r" b="b"/>
              <a:pathLst>
                <a:path w="431800" h="2160270">
                  <a:moveTo>
                    <a:pt x="431787" y="2160269"/>
                  </a:moveTo>
                  <a:lnTo>
                    <a:pt x="398779" y="2160269"/>
                  </a:lnTo>
                  <a:lnTo>
                    <a:pt x="387349" y="2158999"/>
                  </a:lnTo>
                  <a:lnTo>
                    <a:pt x="375919" y="2158999"/>
                  </a:lnTo>
                  <a:lnTo>
                    <a:pt x="365772" y="2158999"/>
                  </a:lnTo>
                  <a:lnTo>
                    <a:pt x="354342" y="2157729"/>
                  </a:lnTo>
                  <a:lnTo>
                    <a:pt x="344157" y="2157729"/>
                  </a:lnTo>
                  <a:lnTo>
                    <a:pt x="334009" y="2156459"/>
                  </a:lnTo>
                  <a:lnTo>
                    <a:pt x="323862" y="2155189"/>
                  </a:lnTo>
                  <a:lnTo>
                    <a:pt x="314959" y="2153919"/>
                  </a:lnTo>
                  <a:lnTo>
                    <a:pt x="304812" y="2153919"/>
                  </a:lnTo>
                  <a:lnTo>
                    <a:pt x="295909" y="2152649"/>
                  </a:lnTo>
                  <a:lnTo>
                    <a:pt x="288289" y="2151379"/>
                  </a:lnTo>
                  <a:lnTo>
                    <a:pt x="279387" y="2150109"/>
                  </a:lnTo>
                  <a:lnTo>
                    <a:pt x="271767" y="2148839"/>
                  </a:lnTo>
                  <a:lnTo>
                    <a:pt x="264147" y="2147569"/>
                  </a:lnTo>
                  <a:lnTo>
                    <a:pt x="257809" y="2146299"/>
                  </a:lnTo>
                  <a:lnTo>
                    <a:pt x="251472" y="2143759"/>
                  </a:lnTo>
                  <a:lnTo>
                    <a:pt x="245097" y="2142489"/>
                  </a:lnTo>
                  <a:lnTo>
                    <a:pt x="240042" y="2141219"/>
                  </a:lnTo>
                  <a:lnTo>
                    <a:pt x="234949" y="2139949"/>
                  </a:lnTo>
                  <a:lnTo>
                    <a:pt x="231139" y="2137409"/>
                  </a:lnTo>
                  <a:lnTo>
                    <a:pt x="227329" y="2136139"/>
                  </a:lnTo>
                  <a:lnTo>
                    <a:pt x="223519" y="2133599"/>
                  </a:lnTo>
                  <a:lnTo>
                    <a:pt x="220992" y="2132329"/>
                  </a:lnTo>
                  <a:lnTo>
                    <a:pt x="218427" y="2129789"/>
                  </a:lnTo>
                  <a:lnTo>
                    <a:pt x="217182" y="2128519"/>
                  </a:lnTo>
                  <a:lnTo>
                    <a:pt x="215899" y="2127249"/>
                  </a:lnTo>
                  <a:lnTo>
                    <a:pt x="215899" y="2124709"/>
                  </a:lnTo>
                  <a:lnTo>
                    <a:pt x="215899" y="1116329"/>
                  </a:lnTo>
                  <a:lnTo>
                    <a:pt x="215899" y="1115059"/>
                  </a:lnTo>
                  <a:lnTo>
                    <a:pt x="214617" y="1112519"/>
                  </a:lnTo>
                  <a:lnTo>
                    <a:pt x="213372" y="1111249"/>
                  </a:lnTo>
                  <a:lnTo>
                    <a:pt x="210807" y="1108709"/>
                  </a:lnTo>
                  <a:lnTo>
                    <a:pt x="208279" y="1107439"/>
                  </a:lnTo>
                  <a:lnTo>
                    <a:pt x="205752" y="1104899"/>
                  </a:lnTo>
                  <a:lnTo>
                    <a:pt x="201929" y="1103629"/>
                  </a:lnTo>
                  <a:lnTo>
                    <a:pt x="196849" y="1102359"/>
                  </a:lnTo>
                  <a:lnTo>
                    <a:pt x="191757" y="1099819"/>
                  </a:lnTo>
                  <a:lnTo>
                    <a:pt x="186689" y="1098549"/>
                  </a:lnTo>
                  <a:lnTo>
                    <a:pt x="180327" y="1097279"/>
                  </a:lnTo>
                  <a:lnTo>
                    <a:pt x="175259" y="1094739"/>
                  </a:lnTo>
                  <a:lnTo>
                    <a:pt x="167639" y="1093469"/>
                  </a:lnTo>
                  <a:lnTo>
                    <a:pt x="160019" y="1092199"/>
                  </a:lnTo>
                  <a:lnTo>
                    <a:pt x="152399" y="1090929"/>
                  </a:lnTo>
                  <a:lnTo>
                    <a:pt x="144779" y="1089659"/>
                  </a:lnTo>
                  <a:lnTo>
                    <a:pt x="135889" y="1088389"/>
                  </a:lnTo>
                  <a:lnTo>
                    <a:pt x="126987" y="1087119"/>
                  </a:lnTo>
                  <a:lnTo>
                    <a:pt x="116839" y="1085849"/>
                  </a:lnTo>
                  <a:lnTo>
                    <a:pt x="107937" y="1085849"/>
                  </a:lnTo>
                  <a:lnTo>
                    <a:pt x="97789" y="1084579"/>
                  </a:lnTo>
                  <a:lnTo>
                    <a:pt x="87629" y="1083309"/>
                  </a:lnTo>
                  <a:lnTo>
                    <a:pt x="77457" y="1083309"/>
                  </a:lnTo>
                  <a:lnTo>
                    <a:pt x="67309" y="1082039"/>
                  </a:lnTo>
                  <a:lnTo>
                    <a:pt x="55879" y="1082039"/>
                  </a:lnTo>
                  <a:lnTo>
                    <a:pt x="45719" y="1080769"/>
                  </a:lnTo>
                  <a:lnTo>
                    <a:pt x="34289" y="1080769"/>
                  </a:lnTo>
                  <a:lnTo>
                    <a:pt x="22859" y="1080769"/>
                  </a:lnTo>
                  <a:lnTo>
                    <a:pt x="11429" y="1080769"/>
                  </a:lnTo>
                  <a:lnTo>
                    <a:pt x="0" y="1080769"/>
                  </a:lnTo>
                  <a:lnTo>
                    <a:pt x="11429" y="1080769"/>
                  </a:lnTo>
                  <a:lnTo>
                    <a:pt x="22859" y="1079499"/>
                  </a:lnTo>
                  <a:lnTo>
                    <a:pt x="33019" y="1079499"/>
                  </a:lnTo>
                  <a:lnTo>
                    <a:pt x="44449" y="1079499"/>
                  </a:lnTo>
                  <a:lnTo>
                    <a:pt x="55879" y="1079499"/>
                  </a:lnTo>
                  <a:lnTo>
                    <a:pt x="66027" y="1078229"/>
                  </a:lnTo>
                  <a:lnTo>
                    <a:pt x="77457" y="1078229"/>
                  </a:lnTo>
                  <a:lnTo>
                    <a:pt x="87629" y="1076959"/>
                  </a:lnTo>
                  <a:lnTo>
                    <a:pt x="97789" y="1075689"/>
                  </a:lnTo>
                  <a:lnTo>
                    <a:pt x="107937" y="1075689"/>
                  </a:lnTo>
                  <a:lnTo>
                    <a:pt x="116839" y="1074419"/>
                  </a:lnTo>
                  <a:lnTo>
                    <a:pt x="126987" y="1073149"/>
                  </a:lnTo>
                  <a:lnTo>
                    <a:pt x="135889" y="1071879"/>
                  </a:lnTo>
                  <a:lnTo>
                    <a:pt x="143509" y="1070609"/>
                  </a:lnTo>
                  <a:lnTo>
                    <a:pt x="152399" y="1069339"/>
                  </a:lnTo>
                  <a:lnTo>
                    <a:pt x="160019" y="1069339"/>
                  </a:lnTo>
                  <a:lnTo>
                    <a:pt x="167639" y="1066799"/>
                  </a:lnTo>
                  <a:lnTo>
                    <a:pt x="173989" y="1065529"/>
                  </a:lnTo>
                  <a:lnTo>
                    <a:pt x="180327" y="1064259"/>
                  </a:lnTo>
                  <a:lnTo>
                    <a:pt x="186689" y="1062989"/>
                  </a:lnTo>
                  <a:lnTo>
                    <a:pt x="191757" y="1061719"/>
                  </a:lnTo>
                  <a:lnTo>
                    <a:pt x="196849" y="1059179"/>
                  </a:lnTo>
                  <a:lnTo>
                    <a:pt x="200659" y="1057909"/>
                  </a:lnTo>
                  <a:lnTo>
                    <a:pt x="204469" y="1055369"/>
                  </a:lnTo>
                  <a:lnTo>
                    <a:pt x="208279" y="1054099"/>
                  </a:lnTo>
                  <a:lnTo>
                    <a:pt x="210807" y="1051559"/>
                  </a:lnTo>
                  <a:lnTo>
                    <a:pt x="213372" y="1050289"/>
                  </a:lnTo>
                  <a:lnTo>
                    <a:pt x="214617" y="1049019"/>
                  </a:lnTo>
                  <a:lnTo>
                    <a:pt x="215899" y="1046479"/>
                  </a:lnTo>
                  <a:lnTo>
                    <a:pt x="215899" y="1045209"/>
                  </a:lnTo>
                  <a:lnTo>
                    <a:pt x="215899" y="35572"/>
                  </a:lnTo>
                  <a:lnTo>
                    <a:pt x="215899" y="34289"/>
                  </a:lnTo>
                  <a:lnTo>
                    <a:pt x="217182" y="31762"/>
                  </a:lnTo>
                  <a:lnTo>
                    <a:pt x="218427" y="30479"/>
                  </a:lnTo>
                  <a:lnTo>
                    <a:pt x="220992" y="27952"/>
                  </a:lnTo>
                  <a:lnTo>
                    <a:pt x="223519" y="26669"/>
                  </a:lnTo>
                  <a:lnTo>
                    <a:pt x="226047" y="24142"/>
                  </a:lnTo>
                  <a:lnTo>
                    <a:pt x="229857" y="22859"/>
                  </a:lnTo>
                  <a:lnTo>
                    <a:pt x="234949" y="21577"/>
                  </a:lnTo>
                  <a:lnTo>
                    <a:pt x="238759" y="19049"/>
                  </a:lnTo>
                  <a:lnTo>
                    <a:pt x="245097" y="17767"/>
                  </a:lnTo>
                  <a:lnTo>
                    <a:pt x="250189" y="16522"/>
                  </a:lnTo>
                  <a:lnTo>
                    <a:pt x="256527" y="15239"/>
                  </a:lnTo>
                  <a:lnTo>
                    <a:pt x="264147" y="13957"/>
                  </a:lnTo>
                  <a:lnTo>
                    <a:pt x="271767" y="12712"/>
                  </a:lnTo>
                  <a:lnTo>
                    <a:pt x="279387" y="10147"/>
                  </a:lnTo>
                  <a:lnTo>
                    <a:pt x="287007" y="8902"/>
                  </a:lnTo>
                  <a:lnTo>
                    <a:pt x="295909" y="7619"/>
                  </a:lnTo>
                  <a:lnTo>
                    <a:pt x="304812" y="7619"/>
                  </a:lnTo>
                  <a:lnTo>
                    <a:pt x="313677" y="6337"/>
                  </a:lnTo>
                  <a:lnTo>
                    <a:pt x="323862" y="5092"/>
                  </a:lnTo>
                  <a:lnTo>
                    <a:pt x="334009" y="3809"/>
                  </a:lnTo>
                  <a:lnTo>
                    <a:pt x="344157" y="3809"/>
                  </a:lnTo>
                  <a:lnTo>
                    <a:pt x="354342" y="2527"/>
                  </a:lnTo>
                  <a:lnTo>
                    <a:pt x="365772" y="2527"/>
                  </a:lnTo>
                  <a:lnTo>
                    <a:pt x="375919" y="1282"/>
                  </a:lnTo>
                  <a:lnTo>
                    <a:pt x="387349" y="1282"/>
                  </a:lnTo>
                  <a:lnTo>
                    <a:pt x="397497" y="0"/>
                  </a:lnTo>
                  <a:lnTo>
                    <a:pt x="408927" y="0"/>
                  </a:lnTo>
                  <a:lnTo>
                    <a:pt x="420357" y="0"/>
                  </a:lnTo>
                  <a:lnTo>
                    <a:pt x="431787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43532" y="36728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600085" y="3682125"/>
            <a:ext cx="441325" cy="2169795"/>
            <a:chOff x="6076084" y="3682124"/>
            <a:chExt cx="441325" cy="2169795"/>
          </a:xfrm>
        </p:grpSpPr>
        <p:sp>
          <p:nvSpPr>
            <p:cNvPr id="28" name="object 28"/>
            <p:cNvSpPr/>
            <p:nvPr/>
          </p:nvSpPr>
          <p:spPr>
            <a:xfrm>
              <a:off x="6080758" y="3686804"/>
              <a:ext cx="432434" cy="2160270"/>
            </a:xfrm>
            <a:custGeom>
              <a:avLst/>
              <a:gdLst/>
              <a:ahLst/>
              <a:cxnLst/>
              <a:rect l="l" t="t" r="r" b="b"/>
              <a:pathLst>
                <a:path w="432434" h="2160270">
                  <a:moveTo>
                    <a:pt x="0" y="2160270"/>
                  </a:moveTo>
                  <a:lnTo>
                    <a:pt x="33007" y="2160270"/>
                  </a:lnTo>
                  <a:lnTo>
                    <a:pt x="44437" y="2159012"/>
                  </a:lnTo>
                  <a:lnTo>
                    <a:pt x="54622" y="2159012"/>
                  </a:lnTo>
                  <a:lnTo>
                    <a:pt x="66052" y="2159012"/>
                  </a:lnTo>
                  <a:lnTo>
                    <a:pt x="76200" y="2157730"/>
                  </a:lnTo>
                  <a:lnTo>
                    <a:pt x="87630" y="2157730"/>
                  </a:lnTo>
                  <a:lnTo>
                    <a:pt x="97777" y="2156460"/>
                  </a:lnTo>
                  <a:lnTo>
                    <a:pt x="106680" y="2155202"/>
                  </a:lnTo>
                  <a:lnTo>
                    <a:pt x="116827" y="2153920"/>
                  </a:lnTo>
                  <a:lnTo>
                    <a:pt x="125730" y="2153920"/>
                  </a:lnTo>
                  <a:lnTo>
                    <a:pt x="134632" y="2152650"/>
                  </a:lnTo>
                  <a:lnTo>
                    <a:pt x="143497" y="2151392"/>
                  </a:lnTo>
                  <a:lnTo>
                    <a:pt x="151117" y="2150110"/>
                  </a:lnTo>
                  <a:lnTo>
                    <a:pt x="160020" y="2148840"/>
                  </a:lnTo>
                  <a:lnTo>
                    <a:pt x="166357" y="2147582"/>
                  </a:lnTo>
                  <a:lnTo>
                    <a:pt x="173977" y="2146300"/>
                  </a:lnTo>
                  <a:lnTo>
                    <a:pt x="180352" y="2143772"/>
                  </a:lnTo>
                  <a:lnTo>
                    <a:pt x="186690" y="2142490"/>
                  </a:lnTo>
                  <a:lnTo>
                    <a:pt x="191782" y="2141220"/>
                  </a:lnTo>
                  <a:lnTo>
                    <a:pt x="195592" y="2139962"/>
                  </a:lnTo>
                  <a:lnTo>
                    <a:pt x="200647" y="2137410"/>
                  </a:lnTo>
                  <a:lnTo>
                    <a:pt x="204457" y="2136152"/>
                  </a:lnTo>
                  <a:lnTo>
                    <a:pt x="208267" y="2133600"/>
                  </a:lnTo>
                  <a:lnTo>
                    <a:pt x="210832" y="2132342"/>
                  </a:lnTo>
                  <a:lnTo>
                    <a:pt x="213360" y="2131060"/>
                  </a:lnTo>
                  <a:lnTo>
                    <a:pt x="214642" y="2128532"/>
                  </a:lnTo>
                  <a:lnTo>
                    <a:pt x="215887" y="2127250"/>
                  </a:lnTo>
                  <a:lnTo>
                    <a:pt x="215887" y="2124722"/>
                  </a:lnTo>
                  <a:lnTo>
                    <a:pt x="215887" y="1116330"/>
                  </a:lnTo>
                  <a:lnTo>
                    <a:pt x="215887" y="1115072"/>
                  </a:lnTo>
                  <a:lnTo>
                    <a:pt x="217170" y="1112520"/>
                  </a:lnTo>
                  <a:lnTo>
                    <a:pt x="218452" y="1111262"/>
                  </a:lnTo>
                  <a:lnTo>
                    <a:pt x="219697" y="1108710"/>
                  </a:lnTo>
                  <a:lnTo>
                    <a:pt x="222262" y="1107452"/>
                  </a:lnTo>
                  <a:lnTo>
                    <a:pt x="226072" y="1104900"/>
                  </a:lnTo>
                  <a:lnTo>
                    <a:pt x="229882" y="1103642"/>
                  </a:lnTo>
                  <a:lnTo>
                    <a:pt x="234937" y="1102360"/>
                  </a:lnTo>
                  <a:lnTo>
                    <a:pt x="238747" y="1099832"/>
                  </a:lnTo>
                  <a:lnTo>
                    <a:pt x="243840" y="1098550"/>
                  </a:lnTo>
                  <a:lnTo>
                    <a:pt x="250177" y="1097280"/>
                  </a:lnTo>
                  <a:lnTo>
                    <a:pt x="256552" y="1096022"/>
                  </a:lnTo>
                  <a:lnTo>
                    <a:pt x="262890" y="1093470"/>
                  </a:lnTo>
                  <a:lnTo>
                    <a:pt x="270510" y="1092212"/>
                  </a:lnTo>
                  <a:lnTo>
                    <a:pt x="278130" y="1090930"/>
                  </a:lnTo>
                  <a:lnTo>
                    <a:pt x="287032" y="1089660"/>
                  </a:lnTo>
                  <a:lnTo>
                    <a:pt x="295897" y="1088402"/>
                  </a:lnTo>
                  <a:lnTo>
                    <a:pt x="304800" y="1087120"/>
                  </a:lnTo>
                  <a:lnTo>
                    <a:pt x="313702" y="1085850"/>
                  </a:lnTo>
                  <a:lnTo>
                    <a:pt x="323850" y="1085850"/>
                  </a:lnTo>
                  <a:lnTo>
                    <a:pt x="332752" y="1084592"/>
                  </a:lnTo>
                  <a:lnTo>
                    <a:pt x="342900" y="1083310"/>
                  </a:lnTo>
                  <a:lnTo>
                    <a:pt x="354330" y="1083310"/>
                  </a:lnTo>
                  <a:lnTo>
                    <a:pt x="364477" y="1082040"/>
                  </a:lnTo>
                  <a:lnTo>
                    <a:pt x="375907" y="1082040"/>
                  </a:lnTo>
                  <a:lnTo>
                    <a:pt x="386092" y="1080782"/>
                  </a:lnTo>
                  <a:lnTo>
                    <a:pt x="397522" y="1080782"/>
                  </a:lnTo>
                  <a:lnTo>
                    <a:pt x="408952" y="1080782"/>
                  </a:lnTo>
                  <a:lnTo>
                    <a:pt x="420382" y="1080782"/>
                  </a:lnTo>
                  <a:lnTo>
                    <a:pt x="431812" y="1080782"/>
                  </a:lnTo>
                  <a:lnTo>
                    <a:pt x="420382" y="1080782"/>
                  </a:lnTo>
                  <a:lnTo>
                    <a:pt x="408952" y="1079500"/>
                  </a:lnTo>
                  <a:lnTo>
                    <a:pt x="397522" y="1079500"/>
                  </a:lnTo>
                  <a:lnTo>
                    <a:pt x="386092" y="1079500"/>
                  </a:lnTo>
                  <a:lnTo>
                    <a:pt x="375907" y="1079500"/>
                  </a:lnTo>
                  <a:lnTo>
                    <a:pt x="364477" y="1078230"/>
                  </a:lnTo>
                  <a:lnTo>
                    <a:pt x="354330" y="1078230"/>
                  </a:lnTo>
                  <a:lnTo>
                    <a:pt x="344182" y="1076972"/>
                  </a:lnTo>
                  <a:lnTo>
                    <a:pt x="333997" y="1076972"/>
                  </a:lnTo>
                  <a:lnTo>
                    <a:pt x="323850" y="1075690"/>
                  </a:lnTo>
                  <a:lnTo>
                    <a:pt x="313702" y="1074420"/>
                  </a:lnTo>
                  <a:lnTo>
                    <a:pt x="304800" y="1073162"/>
                  </a:lnTo>
                  <a:lnTo>
                    <a:pt x="295897" y="1071880"/>
                  </a:lnTo>
                  <a:lnTo>
                    <a:pt x="287032" y="1071880"/>
                  </a:lnTo>
                  <a:lnTo>
                    <a:pt x="279412" y="1069352"/>
                  </a:lnTo>
                  <a:lnTo>
                    <a:pt x="271792" y="1069352"/>
                  </a:lnTo>
                  <a:lnTo>
                    <a:pt x="264172" y="1066800"/>
                  </a:lnTo>
                  <a:lnTo>
                    <a:pt x="257797" y="1065542"/>
                  </a:lnTo>
                  <a:lnTo>
                    <a:pt x="251460" y="1064260"/>
                  </a:lnTo>
                  <a:lnTo>
                    <a:pt x="245122" y="1062990"/>
                  </a:lnTo>
                  <a:lnTo>
                    <a:pt x="240029" y="1061732"/>
                  </a:lnTo>
                  <a:lnTo>
                    <a:pt x="234937" y="1059180"/>
                  </a:lnTo>
                  <a:lnTo>
                    <a:pt x="229882" y="1057922"/>
                  </a:lnTo>
                  <a:lnTo>
                    <a:pt x="226072" y="1055370"/>
                  </a:lnTo>
                  <a:lnTo>
                    <a:pt x="223507" y="1054112"/>
                  </a:lnTo>
                  <a:lnTo>
                    <a:pt x="219697" y="1052830"/>
                  </a:lnTo>
                  <a:lnTo>
                    <a:pt x="218452" y="1050302"/>
                  </a:lnTo>
                  <a:lnTo>
                    <a:pt x="217170" y="1049020"/>
                  </a:lnTo>
                  <a:lnTo>
                    <a:pt x="215887" y="1046492"/>
                  </a:lnTo>
                  <a:lnTo>
                    <a:pt x="215887" y="1045210"/>
                  </a:lnTo>
                  <a:lnTo>
                    <a:pt x="215887" y="35560"/>
                  </a:lnTo>
                  <a:lnTo>
                    <a:pt x="215887" y="34277"/>
                  </a:lnTo>
                  <a:lnTo>
                    <a:pt x="214642" y="31750"/>
                  </a:lnTo>
                  <a:lnTo>
                    <a:pt x="213360" y="30467"/>
                  </a:lnTo>
                  <a:lnTo>
                    <a:pt x="210832" y="27940"/>
                  </a:lnTo>
                  <a:lnTo>
                    <a:pt x="208267" y="26657"/>
                  </a:lnTo>
                  <a:lnTo>
                    <a:pt x="205740" y="25412"/>
                  </a:lnTo>
                  <a:lnTo>
                    <a:pt x="200647" y="22847"/>
                  </a:lnTo>
                  <a:lnTo>
                    <a:pt x="196837" y="21602"/>
                  </a:lnTo>
                  <a:lnTo>
                    <a:pt x="191782" y="20320"/>
                  </a:lnTo>
                  <a:lnTo>
                    <a:pt x="186690" y="17792"/>
                  </a:lnTo>
                  <a:lnTo>
                    <a:pt x="180352" y="16510"/>
                  </a:lnTo>
                  <a:lnTo>
                    <a:pt x="173977" y="15227"/>
                  </a:lnTo>
                  <a:lnTo>
                    <a:pt x="167640" y="13982"/>
                  </a:lnTo>
                  <a:lnTo>
                    <a:pt x="160020" y="12700"/>
                  </a:lnTo>
                  <a:lnTo>
                    <a:pt x="152400" y="10172"/>
                  </a:lnTo>
                  <a:lnTo>
                    <a:pt x="143497" y="8890"/>
                  </a:lnTo>
                  <a:lnTo>
                    <a:pt x="135877" y="7607"/>
                  </a:lnTo>
                  <a:lnTo>
                    <a:pt x="127012" y="7607"/>
                  </a:lnTo>
                  <a:lnTo>
                    <a:pt x="116827" y="6362"/>
                  </a:lnTo>
                  <a:lnTo>
                    <a:pt x="107962" y="5080"/>
                  </a:lnTo>
                  <a:lnTo>
                    <a:pt x="97777" y="3797"/>
                  </a:lnTo>
                  <a:lnTo>
                    <a:pt x="87630" y="3797"/>
                  </a:lnTo>
                  <a:lnTo>
                    <a:pt x="77482" y="2552"/>
                  </a:lnTo>
                  <a:lnTo>
                    <a:pt x="66052" y="2552"/>
                  </a:lnTo>
                  <a:lnTo>
                    <a:pt x="55867" y="1270"/>
                  </a:lnTo>
                  <a:lnTo>
                    <a:pt x="44437" y="1270"/>
                  </a:lnTo>
                  <a:lnTo>
                    <a:pt x="33007" y="1270"/>
                  </a:lnTo>
                  <a:lnTo>
                    <a:pt x="22860" y="1270"/>
                  </a:lnTo>
                  <a:lnTo>
                    <a:pt x="11430" y="0"/>
                  </a:ln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12568" y="36867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582600" y="4468111"/>
            <a:ext cx="1323975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60960">
              <a:lnSpc>
                <a:spcPts val="2150"/>
              </a:lnSpc>
              <a:spcBef>
                <a:spcPts val="180"/>
              </a:spcBef>
            </a:pPr>
            <a:r>
              <a:rPr sz="1800" spc="-25" dirty="0">
                <a:latin typeface="Calibri"/>
                <a:cs typeface="Calibri"/>
              </a:rPr>
              <a:t>Sistema </a:t>
            </a:r>
            <a:r>
              <a:rPr sz="1800" spc="-30" dirty="0">
                <a:latin typeface="Calibri"/>
                <a:cs typeface="Calibri"/>
              </a:rPr>
              <a:t>para 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spc="-20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olo</a:t>
            </a:r>
            <a:r>
              <a:rPr sz="1800" spc="-4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ad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9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98870" y="4193791"/>
            <a:ext cx="1520825" cy="1121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800"/>
              </a:lnSpc>
              <a:spcBef>
                <a:spcPts val="105"/>
              </a:spcBef>
            </a:pPr>
            <a:r>
              <a:rPr sz="1800" spc="-25" dirty="0">
                <a:latin typeface="Calibri"/>
                <a:cs typeface="Calibri"/>
              </a:rPr>
              <a:t>Sistema </a:t>
            </a:r>
            <a:r>
              <a:rPr sz="1800" spc="-20" dirty="0">
                <a:latin typeface="Calibri"/>
                <a:cs typeface="Calibri"/>
              </a:rPr>
              <a:t> embarcado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para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dispositivo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móvel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749792" y="3639178"/>
          <a:ext cx="2872105" cy="22250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7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28575">
                      <a:solidFill>
                        <a:srgbClr val="97B754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039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Funcionalidade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9ABA59"/>
                      </a:solidFill>
                      <a:prstDash val="solid"/>
                    </a:lnT>
                    <a:lnB w="12700">
                      <a:solidFill>
                        <a:srgbClr val="9ABA59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28575">
                      <a:solidFill>
                        <a:srgbClr val="97B75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29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719" marB="0">
                    <a:lnL w="28575">
                      <a:solidFill>
                        <a:srgbClr val="97B754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203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Confiabilidade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9ABA59"/>
                      </a:solidFill>
                      <a:prstDash val="solid"/>
                    </a:lnT>
                    <a:lnB w="12700">
                      <a:solidFill>
                        <a:srgbClr val="9ABA59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28575">
                      <a:solidFill>
                        <a:srgbClr val="97B75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3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719" marB="0">
                    <a:lnL w="28575">
                      <a:solidFill>
                        <a:srgbClr val="97B754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039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Usabilidade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9ABA59"/>
                      </a:solidFill>
                      <a:prstDash val="solid"/>
                    </a:lnT>
                    <a:lnB w="12700">
                      <a:solidFill>
                        <a:srgbClr val="9ABA59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28575">
                      <a:solidFill>
                        <a:srgbClr val="97B75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3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97B754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039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Eficiência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9ABA59"/>
                      </a:solidFill>
                      <a:prstDash val="solid"/>
                    </a:lnT>
                    <a:lnB w="12700">
                      <a:solidFill>
                        <a:srgbClr val="9ABA59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28575">
                      <a:solidFill>
                        <a:srgbClr val="97B75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29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97B754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03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Manutenibilidade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9ABA59"/>
                      </a:solidFill>
                      <a:prstDash val="solid"/>
                    </a:lnT>
                    <a:lnB w="12700">
                      <a:solidFill>
                        <a:srgbClr val="9ABA59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28575">
                      <a:solidFill>
                        <a:srgbClr val="97B75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2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7F63A1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97B754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035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Portabilidade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12700">
                      <a:solidFill>
                        <a:srgbClr val="9ABA59"/>
                      </a:solidFill>
                      <a:prstDash val="solid"/>
                    </a:lnR>
                    <a:lnT w="12700">
                      <a:solidFill>
                        <a:srgbClr val="9ABA59"/>
                      </a:solidFill>
                      <a:prstDash val="solid"/>
                    </a:lnT>
                    <a:lnB w="12700">
                      <a:solidFill>
                        <a:srgbClr val="9ABA59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9ABA59"/>
                      </a:solidFill>
                      <a:prstDash val="solid"/>
                    </a:lnL>
                    <a:lnR w="28575">
                      <a:solidFill>
                        <a:srgbClr val="97B75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9E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348474" y="6488174"/>
            <a:ext cx="2286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27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D19FECA-08AB-DF70-D785-F4B1472E6E32}"/>
              </a:ext>
            </a:extLst>
          </p:cNvPr>
          <p:cNvSpPr txBox="1"/>
          <p:nvPr/>
        </p:nvSpPr>
        <p:spPr>
          <a:xfrm>
            <a:off x="2189532" y="1076132"/>
            <a:ext cx="4391660" cy="2506980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spcBef>
                <a:spcPts val="1450"/>
              </a:spcBef>
            </a:pPr>
            <a:r>
              <a:rPr sz="2800" b="1" spc="-30" dirty="0">
                <a:latin typeface="Calibri"/>
                <a:cs typeface="Calibri"/>
              </a:rPr>
              <a:t>Pilares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Qualidade</a:t>
            </a:r>
            <a:endParaRPr sz="2800" dirty="0">
              <a:latin typeface="Calibri"/>
              <a:cs typeface="Calibri"/>
            </a:endParaRPr>
          </a:p>
          <a:p>
            <a:pPr marL="412750" indent="-287020">
              <a:spcBef>
                <a:spcPts val="1350"/>
              </a:spcBef>
              <a:buClr>
                <a:srgbClr val="FF0000"/>
              </a:buClr>
              <a:buFont typeface="Arial MT"/>
              <a:buChar char="–"/>
              <a:tabLst>
                <a:tab pos="413384" algn="l"/>
              </a:tabLst>
            </a:pPr>
            <a:r>
              <a:rPr sz="2800" spc="-20" dirty="0">
                <a:latin typeface="Calibri"/>
                <a:cs typeface="Calibri"/>
              </a:rPr>
              <a:t>Planejamento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Qualidade</a:t>
            </a:r>
            <a:endParaRPr sz="2800" dirty="0">
              <a:latin typeface="Calibri"/>
              <a:cs typeface="Calibri"/>
            </a:endParaRPr>
          </a:p>
          <a:p>
            <a:pPr marL="412750" indent="-287020">
              <a:spcBef>
                <a:spcPts val="1705"/>
              </a:spcBef>
              <a:buClr>
                <a:srgbClr val="FF0000"/>
              </a:buClr>
              <a:buFont typeface="Arial MT"/>
              <a:buChar char="–"/>
              <a:tabLst>
                <a:tab pos="413384" algn="l"/>
              </a:tabLst>
            </a:pPr>
            <a:r>
              <a:rPr sz="2800" spc="-40" dirty="0">
                <a:latin typeface="Calibri"/>
                <a:cs typeface="Calibri"/>
              </a:rPr>
              <a:t>Garantia</a:t>
            </a:r>
            <a:r>
              <a:rPr sz="2800" spc="-15" dirty="0">
                <a:latin typeface="Calibri"/>
                <a:cs typeface="Calibri"/>
              </a:rPr>
              <a:t> da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Qualidade</a:t>
            </a:r>
            <a:endParaRPr sz="2800" dirty="0">
              <a:latin typeface="Calibri"/>
              <a:cs typeface="Calibri"/>
            </a:endParaRPr>
          </a:p>
          <a:p>
            <a:pPr marL="412750" indent="-287020">
              <a:spcBef>
                <a:spcPts val="1689"/>
              </a:spcBef>
              <a:buClr>
                <a:srgbClr val="FF0000"/>
              </a:buClr>
              <a:buFont typeface="Arial MT"/>
              <a:buChar char="–"/>
              <a:tabLst>
                <a:tab pos="413384" algn="l"/>
              </a:tabLst>
            </a:pPr>
            <a:r>
              <a:rPr sz="2800" spc="-35" dirty="0">
                <a:latin typeface="Calibri"/>
                <a:cs typeface="Calibri"/>
              </a:rPr>
              <a:t>Controle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Qualidade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C02BE893-9E0E-877B-E7B1-B77237FE0D52}"/>
              </a:ext>
            </a:extLst>
          </p:cNvPr>
          <p:cNvGrpSpPr/>
          <p:nvPr/>
        </p:nvGrpSpPr>
        <p:grpSpPr>
          <a:xfrm>
            <a:off x="7234402" y="1345248"/>
            <a:ext cx="2889885" cy="4167504"/>
            <a:chOff x="5439813" y="1840993"/>
            <a:chExt cx="2889885" cy="4167504"/>
          </a:xfrm>
        </p:grpSpPr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DF47A893-C22D-02EF-16EB-4CDE4012D2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9007" y="2627376"/>
              <a:ext cx="576069" cy="3377182"/>
            </a:xfrm>
            <a:prstGeom prst="rect">
              <a:avLst/>
            </a:prstGeom>
          </p:spPr>
        </p:pic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1662F442-90BE-7FF0-0453-FC41CA4ABAD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6376" y="2606040"/>
              <a:ext cx="584657" cy="3401918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95A0E7A1-BC32-FB1D-8B40-A4604CC954C8}"/>
                </a:ext>
              </a:extLst>
            </p:cNvPr>
            <p:cNvSpPr/>
            <p:nvPr/>
          </p:nvSpPr>
          <p:spPr>
            <a:xfrm>
              <a:off x="5781049" y="2607325"/>
              <a:ext cx="575310" cy="3375660"/>
            </a:xfrm>
            <a:custGeom>
              <a:avLst/>
              <a:gdLst/>
              <a:ahLst/>
              <a:cxnLst/>
              <a:rect l="l" t="t" r="r" b="b"/>
              <a:pathLst>
                <a:path w="575310" h="3375660">
                  <a:moveTo>
                    <a:pt x="288277" y="3375647"/>
                  </a:moveTo>
                  <a:lnTo>
                    <a:pt x="0" y="3375647"/>
                  </a:lnTo>
                  <a:lnTo>
                    <a:pt x="0" y="0"/>
                  </a:lnTo>
                  <a:lnTo>
                    <a:pt x="575310" y="0"/>
                  </a:lnTo>
                  <a:lnTo>
                    <a:pt x="575310" y="3375647"/>
                  </a:lnTo>
                  <a:lnTo>
                    <a:pt x="288277" y="3375647"/>
                  </a:lnTo>
                  <a:close/>
                </a:path>
              </a:pathLst>
            </a:custGeom>
            <a:ln w="9347">
              <a:solidFill>
                <a:srgbClr val="97B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94F6C502-0579-6B57-64A5-16EC2B38B4B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3727" y="1862328"/>
              <a:ext cx="2880357" cy="728470"/>
            </a:xfrm>
            <a:prstGeom prst="rect">
              <a:avLst/>
            </a:prstGeom>
          </p:spPr>
        </p:pic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20DDED80-E3CD-FB8F-771E-EDBF756DE16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9813" y="1840993"/>
              <a:ext cx="2889707" cy="753200"/>
            </a:xfrm>
            <a:prstGeom prst="rect">
              <a:avLst/>
            </a:prstGeom>
          </p:spPr>
        </p:pic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AAD43020-7E86-2563-B30F-45B731B44A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5016" y="2621280"/>
              <a:ext cx="576070" cy="3377182"/>
            </a:xfrm>
            <a:prstGeom prst="rect">
              <a:avLst/>
            </a:prstGeom>
          </p:spPr>
        </p:pic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86587CDB-DA8C-AB22-75BD-C8A18B6C441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1868" y="2599944"/>
              <a:ext cx="584657" cy="3401667"/>
            </a:xfrm>
            <a:prstGeom prst="rect">
              <a:avLst/>
            </a:prstGeom>
          </p:spPr>
        </p:pic>
        <p:pic>
          <p:nvPicPr>
            <p:cNvPr id="17" name="object 13">
              <a:extLst>
                <a:ext uri="{FF2B5EF4-FFF2-40B4-BE49-F238E27FC236}">
                  <a16:creationId xmlns:a16="http://schemas.microsoft.com/office/drawing/2014/main" id="{F25B9EF3-8F81-66D1-8093-FBEB900A97D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7975" y="2621280"/>
              <a:ext cx="579118" cy="3377182"/>
            </a:xfrm>
            <a:prstGeom prst="rect">
              <a:avLst/>
            </a:prstGeom>
          </p:spPr>
        </p:pic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DFFCF28C-96C7-7768-00A5-935FA2289C6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3541" y="2599944"/>
              <a:ext cx="585939" cy="3401667"/>
            </a:xfrm>
            <a:prstGeom prst="rect">
              <a:avLst/>
            </a:prstGeom>
          </p:spPr>
        </p:pic>
      </p:grpSp>
      <p:sp>
        <p:nvSpPr>
          <p:cNvPr id="19" name="object 2">
            <a:extLst>
              <a:ext uri="{FF2B5EF4-FFF2-40B4-BE49-F238E27FC236}">
                <a16:creationId xmlns:a16="http://schemas.microsoft.com/office/drawing/2014/main" id="{DF75829E-7ABC-718D-8D60-F1A838CD1FAA}"/>
              </a:ext>
            </a:extLst>
          </p:cNvPr>
          <p:cNvSpPr txBox="1"/>
          <p:nvPr/>
        </p:nvSpPr>
        <p:spPr>
          <a:xfrm>
            <a:off x="1959098" y="121908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26798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3215" y="1062688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48474" y="6488174"/>
            <a:ext cx="2286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28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9463" y="1030024"/>
            <a:ext cx="4259957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Pilares</a:t>
            </a:r>
            <a:r>
              <a:rPr spc="-5" dirty="0"/>
              <a:t> </a:t>
            </a:r>
            <a:r>
              <a:rPr spc="-10" dirty="0"/>
              <a:t>da</a:t>
            </a:r>
            <a:r>
              <a:rPr spc="-55" dirty="0"/>
              <a:t> </a:t>
            </a:r>
            <a:r>
              <a:rPr spc="-25" dirty="0"/>
              <a:t>Qualidade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2020" y="1747934"/>
            <a:ext cx="8385054" cy="279019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299085" indent="-287020">
              <a:spcBef>
                <a:spcPts val="175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800" spc="-20" dirty="0">
                <a:latin typeface="Calibri"/>
                <a:cs typeface="Calibri"/>
              </a:rPr>
              <a:t>Planejamento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</a:t>
            </a:r>
            <a:r>
              <a:rPr sz="2800" spc="-15" dirty="0">
                <a:latin typeface="Calibri"/>
                <a:cs typeface="Calibri"/>
              </a:rPr>
              <a:t> Qualidade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1420"/>
              </a:spcBef>
              <a:buClr>
                <a:srgbClr val="9ABA59"/>
              </a:buClr>
              <a:buFont typeface="Arial MT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Estabelece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metas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qualidade;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spcBef>
                <a:spcPts val="1405"/>
              </a:spcBef>
              <a:buClr>
                <a:srgbClr val="9ABA59"/>
              </a:buClr>
              <a:buFont typeface="Arial MT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Identifica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clientes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necessidades;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spcBef>
                <a:spcPts val="969"/>
              </a:spcBef>
              <a:buClr>
                <a:srgbClr val="9ABA59"/>
              </a:buClr>
              <a:buFont typeface="Arial MT"/>
              <a:buChar char="•"/>
              <a:tabLst>
                <a:tab pos="698500" algn="l"/>
                <a:tab pos="1732914" algn="l"/>
                <a:tab pos="3112135" algn="l"/>
                <a:tab pos="4223385" algn="l"/>
                <a:tab pos="4528185" algn="l"/>
                <a:tab pos="5572125" algn="l"/>
                <a:tab pos="6042660" algn="l"/>
                <a:tab pos="7322820" algn="l"/>
              </a:tabLst>
            </a:pPr>
            <a:r>
              <a:rPr sz="2400" spc="-30" dirty="0">
                <a:latin typeface="Calibri"/>
                <a:cs typeface="Calibri"/>
              </a:rPr>
              <a:t>U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ili</a:t>
            </a:r>
            <a:r>
              <a:rPr sz="2400" spc="-75" dirty="0">
                <a:latin typeface="Calibri"/>
                <a:cs typeface="Calibri"/>
              </a:rPr>
              <a:t>z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r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ce</a:t>
            </a:r>
            <a:r>
              <a:rPr sz="2400" spc="-5" dirty="0">
                <a:latin typeface="Calibri"/>
                <a:cs typeface="Calibri"/>
              </a:rPr>
              <a:t>ss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3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o	a	</a:t>
            </a:r>
            <a:r>
              <a:rPr sz="2400" spc="-10" dirty="0">
                <a:latin typeface="Calibri"/>
                <a:cs typeface="Calibri"/>
              </a:rPr>
              <a:t>cr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ç</a:t>
            </a:r>
            <a:r>
              <a:rPr sz="2400" dirty="0">
                <a:latin typeface="Calibri"/>
                <a:cs typeface="Calibri"/>
              </a:rPr>
              <a:t>ão	</a:t>
            </a:r>
            <a:r>
              <a:rPr sz="2400" spc="-2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u</a:t>
            </a:r>
            <a:r>
              <a:rPr sz="2400" spc="-5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que</a:t>
            </a:r>
            <a:endParaRPr sz="2400" dirty="0">
              <a:latin typeface="Calibri"/>
              <a:cs typeface="Calibri"/>
            </a:endParaRPr>
          </a:p>
          <a:p>
            <a:pPr marL="698500">
              <a:spcBef>
                <a:spcPts val="1440"/>
              </a:spcBef>
            </a:pPr>
            <a:r>
              <a:rPr sz="2400" spc="-20" dirty="0">
                <a:latin typeface="Calibri"/>
                <a:cs typeface="Calibri"/>
              </a:rPr>
              <a:t>atendam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necessidades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clientes.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8461" y="116320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48474" y="6488174"/>
            <a:ext cx="2286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29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6587" y="1097874"/>
            <a:ext cx="5201920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Pilares</a:t>
            </a:r>
            <a:r>
              <a:rPr spc="5" dirty="0"/>
              <a:t> </a:t>
            </a:r>
            <a:r>
              <a:rPr spc="-15" dirty="0"/>
              <a:t>da </a:t>
            </a:r>
            <a:r>
              <a:rPr spc="-25" dirty="0"/>
              <a:t>Qualidade...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75572" y="1805182"/>
            <a:ext cx="5201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200" spc="-7" baseline="2976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4200" spc="-142" baseline="2976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latin typeface="Calibri"/>
                <a:cs typeface="Calibri"/>
              </a:rPr>
              <a:t>Garantia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 </a:t>
            </a:r>
            <a:r>
              <a:rPr sz="2800" spc="-15" dirty="0">
                <a:latin typeface="Calibri"/>
                <a:cs typeface="Calibri"/>
              </a:rPr>
              <a:t>Qualidade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(Processos)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2863" y="2396389"/>
            <a:ext cx="91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Clr>
                <a:srgbClr val="9ABA59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ui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1972" y="2434184"/>
            <a:ext cx="6252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98475" algn="l"/>
                <a:tab pos="1923414" algn="l"/>
                <a:tab pos="3470275" algn="l"/>
                <a:tab pos="4229100" algn="l"/>
                <a:tab pos="5399405" algn="l"/>
                <a:tab pos="6077585" algn="l"/>
              </a:tabLst>
            </a:pP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ce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7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110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0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ir	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e	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1462" y="2924913"/>
            <a:ext cx="8181925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produto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irá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satisfazer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necessidades </a:t>
            </a:r>
            <a:r>
              <a:rPr sz="2400" spc="-30" dirty="0">
                <a:latin typeface="Calibri"/>
                <a:cs typeface="Calibri"/>
              </a:rPr>
              <a:t>para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quais ele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foi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empreendido;</a:t>
            </a:r>
            <a:endParaRPr sz="2400" dirty="0">
              <a:latin typeface="Calibri"/>
              <a:cs typeface="Calibri"/>
            </a:endParaRPr>
          </a:p>
          <a:p>
            <a:pPr marL="469900" indent="-229235">
              <a:spcBef>
                <a:spcPts val="1680"/>
              </a:spcBef>
              <a:buClr>
                <a:srgbClr val="FF0000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Ajuda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estabelecer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processos;</a:t>
            </a:r>
            <a:endParaRPr sz="2000" dirty="0">
              <a:latin typeface="Calibri"/>
              <a:cs typeface="Calibri"/>
            </a:endParaRPr>
          </a:p>
          <a:p>
            <a:pPr marL="469900" indent="-229235">
              <a:spcBef>
                <a:spcPts val="1200"/>
              </a:spcBef>
              <a:buClr>
                <a:srgbClr val="FF0000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spc="-25" dirty="0">
                <a:latin typeface="Calibri"/>
                <a:cs typeface="Calibri"/>
              </a:rPr>
              <a:t>Determina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programas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medida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para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avaliar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processos;</a:t>
            </a:r>
            <a:endParaRPr sz="2000" dirty="0">
              <a:latin typeface="Calibri"/>
              <a:cs typeface="Calibri"/>
            </a:endParaRPr>
          </a:p>
          <a:p>
            <a:pPr marL="469900" indent="-229235">
              <a:spcBef>
                <a:spcPts val="1200"/>
              </a:spcBef>
              <a:buClr>
                <a:srgbClr val="FF0000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spc="-15" dirty="0">
                <a:latin typeface="Calibri"/>
                <a:cs typeface="Calibri"/>
              </a:rPr>
              <a:t>Identifica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fraquezas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processo 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5" dirty="0">
                <a:latin typeface="Calibri"/>
                <a:cs typeface="Calibri"/>
              </a:rPr>
              <a:t>os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aperfeiçoa;</a:t>
            </a:r>
            <a:endParaRPr sz="2000" dirty="0">
              <a:latin typeface="Calibri"/>
              <a:cs typeface="Calibri"/>
            </a:endParaRPr>
          </a:p>
          <a:p>
            <a:pPr marL="469900" indent="-229235">
              <a:spcBef>
                <a:spcPts val="1200"/>
              </a:spcBef>
              <a:buClr>
                <a:srgbClr val="FF0000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spc="-30" dirty="0">
                <a:latin typeface="Calibri"/>
                <a:cs typeface="Calibri"/>
              </a:rPr>
              <a:t>Avalia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 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controle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qualidade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está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funcionando.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8461" y="1191143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48474" y="6488174"/>
            <a:ext cx="2286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FFFFFF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30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9564" y="1125814"/>
            <a:ext cx="6893767" cy="517449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Pilares</a:t>
            </a:r>
            <a:r>
              <a:rPr spc="5" dirty="0"/>
              <a:t> </a:t>
            </a:r>
            <a:r>
              <a:rPr spc="-15" dirty="0"/>
              <a:t>da </a:t>
            </a:r>
            <a:r>
              <a:rPr spc="-25" dirty="0"/>
              <a:t>Qualidade...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1627" y="1643263"/>
            <a:ext cx="8951132" cy="453771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99085" indent="-287020">
              <a:spcBef>
                <a:spcPts val="1260"/>
              </a:spcBef>
              <a:buClr>
                <a:srgbClr val="FF0000"/>
              </a:buClr>
              <a:buFont typeface="Arial MT"/>
              <a:buChar char="–"/>
              <a:tabLst>
                <a:tab pos="299720" algn="l"/>
              </a:tabLst>
            </a:pPr>
            <a:r>
              <a:rPr sz="2800" spc="-35" dirty="0">
                <a:latin typeface="Calibri"/>
                <a:cs typeface="Calibri"/>
              </a:rPr>
              <a:t>Controle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Qualidade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(Produto)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spcBef>
                <a:spcPts val="1000"/>
              </a:spcBef>
              <a:buClr>
                <a:srgbClr val="9ABA59"/>
              </a:buClr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processo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monitoramento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registro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resultados</a:t>
            </a:r>
            <a:endParaRPr sz="2400" dirty="0">
              <a:latin typeface="Calibri"/>
              <a:cs typeface="Calibri"/>
            </a:endParaRPr>
          </a:p>
          <a:p>
            <a:pPr marL="698500" marR="5715">
              <a:lnSpc>
                <a:spcPct val="150000"/>
              </a:lnSpc>
            </a:pP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execução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das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atividades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qualidade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para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avaliar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desempenho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recomendar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mudanças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necessárias.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spcBef>
                <a:spcPts val="1685"/>
              </a:spcBef>
              <a:buClr>
                <a:srgbClr val="FF0000"/>
              </a:buClr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-30" dirty="0">
                <a:latin typeface="Calibri"/>
                <a:cs typeface="Calibri"/>
              </a:rPr>
              <a:t>Está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relacionado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 </a:t>
            </a:r>
            <a:r>
              <a:rPr sz="2000" spc="-20" dirty="0">
                <a:latin typeface="Calibri"/>
                <a:cs typeface="Calibri"/>
              </a:rPr>
              <a:t>produto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serviço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específico;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spcBef>
                <a:spcPts val="815"/>
              </a:spcBef>
              <a:buClr>
                <a:srgbClr val="FF0000"/>
              </a:buClr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-35" dirty="0">
                <a:latin typeface="Calibri"/>
                <a:cs typeface="Calibri"/>
              </a:rPr>
              <a:t>Verifica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produto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serviço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específico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tem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atributo</a:t>
            </a:r>
            <a:endParaRPr sz="2000" dirty="0">
              <a:latin typeface="Calibri"/>
              <a:cs typeface="Calibri"/>
            </a:endParaRPr>
          </a:p>
          <a:p>
            <a:pPr marL="1154430">
              <a:spcBef>
                <a:spcPts val="1200"/>
              </a:spcBef>
            </a:pPr>
            <a:r>
              <a:rPr sz="2000" spc="-10" dirty="0">
                <a:latin typeface="Calibri"/>
                <a:cs typeface="Calibri"/>
              </a:rPr>
              <a:t>específico;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spcBef>
                <a:spcPts val="1585"/>
              </a:spcBef>
              <a:buClr>
                <a:srgbClr val="FF0000"/>
              </a:buClr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-15" dirty="0">
                <a:latin typeface="Calibri"/>
                <a:cs typeface="Calibri"/>
              </a:rPr>
              <a:t>Identifica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defeitos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propósito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principal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corrigi-los;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spcBef>
                <a:spcPts val="1200"/>
              </a:spcBef>
              <a:buClr>
                <a:srgbClr val="FF0000"/>
              </a:buClr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É </a:t>
            </a:r>
            <a:r>
              <a:rPr sz="2000" spc="-10" dirty="0">
                <a:latin typeface="Calibri"/>
                <a:cs typeface="Calibri"/>
              </a:rPr>
              <a:t>responsabilidade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equipe/</a:t>
            </a:r>
            <a:r>
              <a:rPr sz="2000" dirty="0">
                <a:latin typeface="Calibri"/>
                <a:cs typeface="Calibri"/>
              </a:rPr>
              <a:t> do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funcionário.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B1CC9C5-D180-7F73-71B0-6E658DA88790}"/>
              </a:ext>
            </a:extLst>
          </p:cNvPr>
          <p:cNvSpPr txBox="1"/>
          <p:nvPr/>
        </p:nvSpPr>
        <p:spPr>
          <a:xfrm>
            <a:off x="2080750" y="1255945"/>
            <a:ext cx="116592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95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1950" dirty="0">
              <a:latin typeface="Arial MT"/>
              <a:cs typeface="Arial M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010E6BA-9786-7180-320E-89C57E217EB3}"/>
              </a:ext>
            </a:extLst>
          </p:cNvPr>
          <p:cNvSpPr txBox="1"/>
          <p:nvPr/>
        </p:nvSpPr>
        <p:spPr>
          <a:xfrm>
            <a:off x="2327483" y="1255945"/>
            <a:ext cx="3486785" cy="47650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323850">
              <a:lnSpc>
                <a:spcPct val="101099"/>
              </a:lnSpc>
              <a:spcBef>
                <a:spcPts val="80"/>
              </a:spcBef>
            </a:pPr>
            <a:r>
              <a:rPr sz="1950" spc="-5" dirty="0">
                <a:latin typeface="Calibri"/>
                <a:cs typeface="Calibri"/>
              </a:rPr>
              <a:t>Qualidade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bugs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são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conceitos </a:t>
            </a:r>
            <a:r>
              <a:rPr sz="1950" spc="-425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incompatíveis?</a:t>
            </a:r>
            <a:endParaRPr sz="1950" dirty="0">
              <a:latin typeface="Calibri"/>
              <a:cs typeface="Calibri"/>
            </a:endParaRPr>
          </a:p>
          <a:p>
            <a:pPr marL="13335" marR="287655" indent="-1270">
              <a:lnSpc>
                <a:spcPct val="101099"/>
              </a:lnSpc>
              <a:spcBef>
                <a:spcPts val="395"/>
              </a:spcBef>
            </a:pPr>
            <a:r>
              <a:rPr sz="1950" spc="-20" dirty="0">
                <a:latin typeface="Calibri"/>
                <a:cs typeface="Calibri"/>
              </a:rPr>
              <a:t>Programa </a:t>
            </a:r>
            <a:r>
              <a:rPr sz="1950" dirty="0">
                <a:latin typeface="Calibri"/>
                <a:cs typeface="Calibri"/>
              </a:rPr>
              <a:t>pode </a:t>
            </a:r>
            <a:r>
              <a:rPr sz="1950" spc="-20" dirty="0">
                <a:latin typeface="Calibri"/>
                <a:cs typeface="Calibri"/>
              </a:rPr>
              <a:t>ter </a:t>
            </a:r>
            <a:r>
              <a:rPr sz="1950" spc="-15" dirty="0">
                <a:latin typeface="Calibri"/>
                <a:cs typeface="Calibri"/>
              </a:rPr>
              <a:t>erros </a:t>
            </a:r>
            <a:r>
              <a:rPr sz="1950" dirty="0">
                <a:latin typeface="Calibri"/>
                <a:cs typeface="Calibri"/>
              </a:rPr>
              <a:t>e 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continuar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sendo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um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produto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de </a:t>
            </a:r>
            <a:r>
              <a:rPr sz="1950" spc="-42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qualidade:</a:t>
            </a:r>
            <a:endParaRPr sz="1950" dirty="0">
              <a:latin typeface="Calibri"/>
              <a:cs typeface="Calibri"/>
            </a:endParaRPr>
          </a:p>
          <a:p>
            <a:pPr marL="403860" indent="-279400">
              <a:spcBef>
                <a:spcPts val="495"/>
              </a:spcBef>
              <a:buClr>
                <a:srgbClr val="FF0000"/>
              </a:buClr>
              <a:buFont typeface="Arial MT"/>
              <a:buChar char="–"/>
              <a:tabLst>
                <a:tab pos="403860" algn="l"/>
                <a:tab pos="404495" algn="l"/>
              </a:tabLst>
            </a:pPr>
            <a:r>
              <a:rPr sz="1750" dirty="0">
                <a:latin typeface="Calibri"/>
                <a:cs typeface="Calibri"/>
              </a:rPr>
              <a:t>O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dilema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gerencial:</a:t>
            </a:r>
            <a:endParaRPr sz="1750" dirty="0">
              <a:latin typeface="Calibri"/>
              <a:cs typeface="Calibri"/>
            </a:endParaRPr>
          </a:p>
          <a:p>
            <a:pPr marL="796925" marR="88265" lvl="1" indent="-224154">
              <a:lnSpc>
                <a:spcPct val="101099"/>
              </a:lnSpc>
              <a:spcBef>
                <a:spcPts val="55"/>
              </a:spcBef>
              <a:buClr>
                <a:srgbClr val="9ABA59"/>
              </a:buClr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1550" spc="-20" dirty="0">
                <a:latin typeface="Calibri"/>
                <a:cs typeface="Calibri"/>
              </a:rPr>
              <a:t>Erro </a:t>
            </a:r>
            <a:r>
              <a:rPr sz="1550" spc="-5" dirty="0">
                <a:latin typeface="Calibri"/>
                <a:cs typeface="Calibri"/>
              </a:rPr>
              <a:t>num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programa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de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edição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de </a:t>
            </a:r>
            <a:r>
              <a:rPr sz="1550" spc="-33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textos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que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40" dirty="0">
                <a:latin typeface="Calibri"/>
                <a:cs typeface="Calibri"/>
              </a:rPr>
              <a:t>afeta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apenas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1%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dos </a:t>
            </a:r>
            <a:r>
              <a:rPr sz="1550" spc="-5" dirty="0">
                <a:latin typeface="Calibri"/>
                <a:cs typeface="Calibri"/>
              </a:rPr>
              <a:t> usuários, se </a:t>
            </a:r>
            <a:r>
              <a:rPr sz="1550" spc="-10" dirty="0">
                <a:latin typeface="Calibri"/>
                <a:cs typeface="Calibri"/>
              </a:rPr>
              <a:t>corrigido </a:t>
            </a:r>
            <a:r>
              <a:rPr sz="1550" spc="-5" dirty="0">
                <a:latin typeface="Calibri"/>
                <a:cs typeface="Calibri"/>
              </a:rPr>
              <a:t>poderia 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30" dirty="0">
                <a:latin typeface="Calibri"/>
                <a:cs typeface="Calibri"/>
              </a:rPr>
              <a:t>gerar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mais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bugs</a:t>
            </a:r>
            <a:endParaRPr sz="1550" dirty="0">
              <a:latin typeface="Calibri"/>
              <a:cs typeface="Calibri"/>
            </a:endParaRPr>
          </a:p>
          <a:p>
            <a:pPr marL="404495" indent="-280035">
              <a:spcBef>
                <a:spcPts val="434"/>
              </a:spcBef>
              <a:buClr>
                <a:srgbClr val="FF0000"/>
              </a:buClr>
              <a:buFont typeface="Arial MT"/>
              <a:buChar char="–"/>
              <a:tabLst>
                <a:tab pos="404495" algn="l"/>
                <a:tab pos="405130" algn="l"/>
              </a:tabLst>
            </a:pPr>
            <a:r>
              <a:rPr sz="1750" dirty="0">
                <a:latin typeface="Calibri"/>
                <a:cs typeface="Calibri"/>
              </a:rPr>
              <a:t>A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importância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relativa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I:</a:t>
            </a:r>
          </a:p>
          <a:p>
            <a:pPr marL="796925" marR="5080" lvl="1" indent="-224154">
              <a:spcBef>
                <a:spcPts val="300"/>
              </a:spcBef>
              <a:buClr>
                <a:srgbClr val="9ABA59"/>
              </a:buClr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1550" spc="-15" dirty="0">
                <a:latin typeface="Calibri"/>
                <a:cs typeface="Calibri"/>
              </a:rPr>
              <a:t>Objetos </a:t>
            </a:r>
            <a:r>
              <a:rPr sz="1550" spc="-20" dirty="0">
                <a:latin typeface="Calibri"/>
                <a:cs typeface="Calibri"/>
              </a:rPr>
              <a:t>atravessando </a:t>
            </a:r>
            <a:r>
              <a:rPr sz="1550" spc="-15" dirty="0">
                <a:latin typeface="Calibri"/>
                <a:cs typeface="Calibri"/>
              </a:rPr>
              <a:t>paredes </a:t>
            </a:r>
            <a:r>
              <a:rPr sz="1550" spc="-5" dirty="0">
                <a:latin typeface="Calibri"/>
                <a:cs typeface="Calibri"/>
              </a:rPr>
              <a:t>em </a:t>
            </a:r>
            <a:r>
              <a:rPr sz="1550" spc="-3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jogos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é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um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problema?</a:t>
            </a:r>
            <a:endParaRPr sz="1550" dirty="0">
              <a:latin typeface="Calibri"/>
              <a:cs typeface="Calibri"/>
            </a:endParaRPr>
          </a:p>
          <a:p>
            <a:pPr marL="404495" indent="-280035">
              <a:spcBef>
                <a:spcPts val="409"/>
              </a:spcBef>
              <a:buClr>
                <a:srgbClr val="FF0000"/>
              </a:buClr>
              <a:buFont typeface="Arial MT"/>
              <a:buChar char="–"/>
              <a:tabLst>
                <a:tab pos="404495" algn="l"/>
                <a:tab pos="405130" algn="l"/>
              </a:tabLst>
            </a:pPr>
            <a:r>
              <a:rPr sz="1750" dirty="0">
                <a:latin typeface="Calibri"/>
                <a:cs typeface="Calibri"/>
              </a:rPr>
              <a:t>A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importância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relativa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II:</a:t>
            </a:r>
          </a:p>
          <a:p>
            <a:pPr marL="796925" marR="51435" lvl="1" indent="-223520">
              <a:spcBef>
                <a:spcPts val="300"/>
              </a:spcBef>
              <a:buClr>
                <a:srgbClr val="9ABA59"/>
              </a:buClr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1550" spc="-15" dirty="0">
                <a:latin typeface="Calibri"/>
                <a:cs typeface="Calibri"/>
              </a:rPr>
              <a:t>P</a:t>
            </a:r>
            <a:r>
              <a:rPr sz="1550" spc="-55" dirty="0">
                <a:latin typeface="Calibri"/>
                <a:cs typeface="Calibri"/>
              </a:rPr>
              <a:t>r</a:t>
            </a:r>
            <a:r>
              <a:rPr sz="1550" spc="-10" dirty="0">
                <a:latin typeface="Calibri"/>
                <a:cs typeface="Calibri"/>
              </a:rPr>
              <a:t>o</a:t>
            </a:r>
            <a:r>
              <a:rPr sz="1550" spc="-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ess</a:t>
            </a:r>
            <a:r>
              <a:rPr sz="1550" spc="-15" dirty="0">
                <a:latin typeface="Calibri"/>
                <a:cs typeface="Calibri"/>
              </a:rPr>
              <a:t>a</a:t>
            </a:r>
            <a:r>
              <a:rPr sz="1550" spc="-5" dirty="0">
                <a:latin typeface="Calibri"/>
                <a:cs typeface="Calibri"/>
              </a:rPr>
              <a:t>d</a:t>
            </a:r>
            <a:r>
              <a:rPr sz="1550" spc="-10" dirty="0">
                <a:latin typeface="Calibri"/>
                <a:cs typeface="Calibri"/>
              </a:rPr>
              <a:t>o</a:t>
            </a:r>
            <a:r>
              <a:rPr sz="1550" spc="-5" dirty="0">
                <a:latin typeface="Calibri"/>
                <a:cs typeface="Calibri"/>
              </a:rPr>
              <a:t>r</a:t>
            </a:r>
            <a:r>
              <a:rPr sz="1550" spc="-50" dirty="0">
                <a:latin typeface="Calibri"/>
                <a:cs typeface="Calibri"/>
              </a:rPr>
              <a:t> </a:t>
            </a:r>
            <a:r>
              <a:rPr sz="1550" spc="-28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5" dirty="0">
                <a:latin typeface="Calibri"/>
                <a:cs typeface="Calibri"/>
              </a:rPr>
              <a:t>X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é </a:t>
            </a:r>
            <a:r>
              <a:rPr sz="1550" spc="-15" dirty="0">
                <a:latin typeface="Calibri"/>
                <a:cs typeface="Calibri"/>
              </a:rPr>
              <a:t>d</a:t>
            </a:r>
            <a:r>
              <a:rPr sz="1550" spc="-5" dirty="0">
                <a:latin typeface="Calibri"/>
                <a:cs typeface="Calibri"/>
              </a:rPr>
              <a:t>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q</a:t>
            </a:r>
            <a:r>
              <a:rPr sz="1550" spc="-5" dirty="0">
                <a:latin typeface="Calibri"/>
                <a:cs typeface="Calibri"/>
              </a:rPr>
              <a:t>ua</a:t>
            </a:r>
            <a:r>
              <a:rPr sz="1550" dirty="0">
                <a:latin typeface="Calibri"/>
                <a:cs typeface="Calibri"/>
              </a:rPr>
              <a:t>l</a:t>
            </a:r>
            <a:r>
              <a:rPr sz="1550" spc="-5" dirty="0">
                <a:latin typeface="Calibri"/>
                <a:cs typeface="Calibri"/>
              </a:rPr>
              <a:t>i</a:t>
            </a:r>
            <a:r>
              <a:rPr sz="1550" spc="-15" dirty="0">
                <a:latin typeface="Calibri"/>
                <a:cs typeface="Calibri"/>
              </a:rPr>
              <a:t>dad</a:t>
            </a:r>
            <a:r>
              <a:rPr sz="1550" spc="-5" dirty="0">
                <a:latin typeface="Calibri"/>
                <a:cs typeface="Calibri"/>
              </a:rPr>
              <a:t>e  </a:t>
            </a:r>
            <a:r>
              <a:rPr sz="1550" spc="-20" dirty="0">
                <a:latin typeface="Calibri"/>
                <a:cs typeface="Calibri"/>
              </a:rPr>
              <a:t>comprovada,</a:t>
            </a:r>
            <a:r>
              <a:rPr sz="1550" spc="-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no </a:t>
            </a:r>
            <a:r>
              <a:rPr sz="1550" spc="-25" dirty="0">
                <a:latin typeface="Calibri"/>
                <a:cs typeface="Calibri"/>
              </a:rPr>
              <a:t>entanto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não 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indicado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para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todas</a:t>
            </a:r>
            <a:r>
              <a:rPr sz="1550" spc="-5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as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utilizações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3774E925-37FB-DE4E-97E6-F0B614F9E090}"/>
              </a:ext>
            </a:extLst>
          </p:cNvPr>
          <p:cNvSpPr txBox="1"/>
          <p:nvPr/>
        </p:nvSpPr>
        <p:spPr>
          <a:xfrm>
            <a:off x="6611000" y="1244515"/>
            <a:ext cx="3392170" cy="122936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spcBef>
                <a:spcPts val="565"/>
              </a:spcBef>
            </a:pPr>
            <a:r>
              <a:rPr sz="2000" spc="-5" dirty="0">
                <a:latin typeface="Calibri"/>
                <a:cs typeface="Calibri"/>
              </a:rPr>
              <a:t>1º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Computação:</a:t>
            </a:r>
            <a:endParaRPr sz="2000" dirty="0">
              <a:latin typeface="Calibri"/>
              <a:cs typeface="Calibri"/>
            </a:endParaRPr>
          </a:p>
          <a:p>
            <a:pPr marL="411480" indent="-285115">
              <a:spcBef>
                <a:spcPts val="420"/>
              </a:spcBef>
              <a:buClr>
                <a:srgbClr val="FF0000"/>
              </a:buClr>
              <a:buFont typeface="Arial MT"/>
              <a:buChar char="–"/>
              <a:tabLst>
                <a:tab pos="411480" algn="l"/>
                <a:tab pos="412115" algn="l"/>
              </a:tabLst>
            </a:pPr>
            <a:r>
              <a:rPr sz="1800" spc="-10" dirty="0">
                <a:latin typeface="Calibri"/>
                <a:cs typeface="Calibri"/>
              </a:rPr>
              <a:t>1947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Mark </a:t>
            </a:r>
            <a:r>
              <a:rPr sz="1800" spc="-5" dirty="0">
                <a:latin typeface="Calibri"/>
                <a:cs typeface="Calibri"/>
              </a:rPr>
              <a:t>II:</a:t>
            </a:r>
            <a:endParaRPr sz="1800" dirty="0">
              <a:latin typeface="Calibri"/>
              <a:cs typeface="Calibri"/>
            </a:endParaRPr>
          </a:p>
          <a:p>
            <a:pPr marL="812165" marR="5080" lvl="1" indent="-228600">
              <a:spcBef>
                <a:spcPts val="190"/>
              </a:spcBef>
              <a:buClr>
                <a:srgbClr val="9ABA59"/>
              </a:buClr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1600" spc="-25" dirty="0">
                <a:latin typeface="Calibri"/>
                <a:cs typeface="Calibri"/>
              </a:rPr>
              <a:t>Uma</a:t>
            </a:r>
            <a:r>
              <a:rPr sz="1600" spc="-10" dirty="0">
                <a:latin typeface="Calibri"/>
                <a:cs typeface="Calibri"/>
              </a:rPr>
              <a:t> abelha</a:t>
            </a:r>
            <a:r>
              <a:rPr sz="1600" spc="-30" dirty="0">
                <a:latin typeface="Calibri"/>
                <a:cs typeface="Calibri"/>
              </a:rPr>
              <a:t> provocou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falhas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Mark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durante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testes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709E4E55-9F57-95A4-F954-311F16D26D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7734" y="2798691"/>
            <a:ext cx="4569466" cy="3600447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78931F7C-F3C6-685F-8A05-53E2BCB8B622}"/>
              </a:ext>
            </a:extLst>
          </p:cNvPr>
          <p:cNvSpPr txBox="1"/>
          <p:nvPr/>
        </p:nvSpPr>
        <p:spPr>
          <a:xfrm>
            <a:off x="6320266" y="1328490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D3A08F3-5133-CD0D-1B06-82F6305A0B04}"/>
              </a:ext>
            </a:extLst>
          </p:cNvPr>
          <p:cNvSpPr txBox="1"/>
          <p:nvPr/>
        </p:nvSpPr>
        <p:spPr>
          <a:xfrm>
            <a:off x="2070991" y="1944696"/>
            <a:ext cx="11239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95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195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90102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430" y="670031"/>
            <a:ext cx="3800193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Calibri"/>
                <a:cs typeface="Calibri"/>
              </a:rPr>
              <a:t>Mito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e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spc="-30" dirty="0" err="1">
                <a:latin typeface="Calibri"/>
                <a:cs typeface="Calibri"/>
              </a:rPr>
              <a:t>verdades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431" y="1640480"/>
            <a:ext cx="869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8920" indent="-236220">
              <a:spcBef>
                <a:spcPts val="95"/>
              </a:spcBef>
              <a:buClr>
                <a:srgbClr val="9ABA59"/>
              </a:buClr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200" spc="-15" dirty="0">
                <a:latin typeface="Calibri"/>
                <a:cs typeface="Calibri"/>
              </a:rPr>
              <a:t>M</a:t>
            </a:r>
            <a:r>
              <a:rPr sz="2200" spc="-20" dirty="0">
                <a:latin typeface="Calibri"/>
                <a:cs typeface="Calibri"/>
              </a:rPr>
              <a:t>i</a:t>
            </a:r>
            <a:r>
              <a:rPr sz="2200" spc="-6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432" y="1972155"/>
            <a:ext cx="7986395" cy="39909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7660">
              <a:spcBef>
                <a:spcPts val="505"/>
              </a:spcBef>
            </a:pPr>
            <a:r>
              <a:rPr sz="2850" spc="-7" baseline="2923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850" spc="-37" baseline="29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latin typeface="Calibri"/>
                <a:cs typeface="Calibri"/>
              </a:rPr>
              <a:t>Criar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programas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é</a:t>
            </a:r>
            <a:r>
              <a:rPr sz="1900" spc="5" dirty="0">
                <a:latin typeface="Calibri"/>
                <a:cs typeface="Calibri"/>
              </a:rPr>
              <a:t> uma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arte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que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não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pode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seguir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regras,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ou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padrões</a:t>
            </a:r>
            <a:endParaRPr sz="1900">
              <a:latin typeface="Calibri"/>
              <a:cs typeface="Calibri"/>
            </a:endParaRPr>
          </a:p>
          <a:p>
            <a:pPr marL="248920" indent="-236220">
              <a:spcBef>
                <a:spcPts val="465"/>
              </a:spcBef>
              <a:buClr>
                <a:srgbClr val="9ABA59"/>
              </a:buClr>
              <a:buFont typeface="Arial MT"/>
              <a:buChar char="•"/>
              <a:tabLst>
                <a:tab pos="248285" algn="l"/>
                <a:tab pos="248920" algn="l"/>
              </a:tabLst>
            </a:pPr>
            <a:r>
              <a:rPr sz="2200" spc="-25" dirty="0">
                <a:latin typeface="Calibri"/>
                <a:cs typeface="Calibri"/>
              </a:rPr>
              <a:t>Verdades:</a:t>
            </a:r>
            <a:endParaRPr sz="2200">
              <a:latin typeface="Calibri"/>
              <a:cs typeface="Calibri"/>
            </a:endParaRPr>
          </a:p>
          <a:p>
            <a:pPr marL="525780" lvl="1" indent="-198755">
              <a:spcBef>
                <a:spcPts val="434"/>
              </a:spcBef>
              <a:buClr>
                <a:srgbClr val="FF0000"/>
              </a:buClr>
              <a:buFont typeface="Arial MT"/>
              <a:buChar char="–"/>
              <a:tabLst>
                <a:tab pos="526415" algn="l"/>
              </a:tabLst>
            </a:pPr>
            <a:r>
              <a:rPr sz="1900" spc="-10" dirty="0">
                <a:latin typeface="Calibri"/>
                <a:cs typeface="Calibri"/>
              </a:rPr>
              <a:t>Produtos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são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complexos</a:t>
            </a:r>
            <a:endParaRPr sz="1900">
              <a:latin typeface="Calibri"/>
              <a:cs typeface="Calibri"/>
            </a:endParaRPr>
          </a:p>
          <a:p>
            <a:pPr marL="526415" marR="696595" lvl="1" indent="-198755">
              <a:lnSpc>
                <a:spcPct val="102099"/>
              </a:lnSpc>
              <a:spcBef>
                <a:spcPts val="310"/>
              </a:spcBef>
              <a:buClr>
                <a:srgbClr val="FF0000"/>
              </a:buClr>
              <a:buFont typeface="Arial MT"/>
              <a:buChar char="–"/>
              <a:tabLst>
                <a:tab pos="526415" algn="l"/>
              </a:tabLst>
            </a:pP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não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tem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produção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em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série,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maior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parte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custo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está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projeto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desenvolvimento</a:t>
            </a:r>
            <a:endParaRPr sz="1900">
              <a:latin typeface="Calibri"/>
              <a:cs typeface="Calibri"/>
            </a:endParaRPr>
          </a:p>
          <a:p>
            <a:pPr marL="525780" lvl="1" indent="-198755">
              <a:spcBef>
                <a:spcPts val="480"/>
              </a:spcBef>
              <a:buClr>
                <a:srgbClr val="FF0000"/>
              </a:buClr>
              <a:buFont typeface="Arial MT"/>
              <a:buChar char="–"/>
              <a:tabLst>
                <a:tab pos="526415" algn="l"/>
              </a:tabLst>
            </a:pP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não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desgasta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(ele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pode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diminuir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 desempenho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aderência)</a:t>
            </a:r>
            <a:endParaRPr sz="1900">
              <a:latin typeface="Calibri"/>
              <a:cs typeface="Calibri"/>
            </a:endParaRPr>
          </a:p>
          <a:p>
            <a:pPr marL="525780" marR="9525" lvl="1" indent="-198120">
              <a:lnSpc>
                <a:spcPct val="102099"/>
              </a:lnSpc>
              <a:spcBef>
                <a:spcPts val="315"/>
              </a:spcBef>
              <a:buClr>
                <a:srgbClr val="FF0000"/>
              </a:buClr>
              <a:buFont typeface="Arial MT"/>
              <a:buChar char="–"/>
              <a:tabLst>
                <a:tab pos="526415" algn="l"/>
              </a:tabLst>
            </a:pP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é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intangível.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Logo,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sua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representação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em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grafos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diagramas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não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é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100%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precisa</a:t>
            </a:r>
            <a:endParaRPr sz="1900">
              <a:latin typeface="Calibri"/>
              <a:cs typeface="Calibri"/>
            </a:endParaRPr>
          </a:p>
          <a:p>
            <a:pPr marL="526415" marR="779145" lvl="1" indent="-199390">
              <a:lnSpc>
                <a:spcPct val="101000"/>
              </a:lnSpc>
              <a:spcBef>
                <a:spcPts val="395"/>
              </a:spcBef>
              <a:buClr>
                <a:srgbClr val="FF0000"/>
              </a:buClr>
              <a:buFont typeface="Arial MT"/>
              <a:buChar char="–"/>
              <a:tabLst>
                <a:tab pos="526415" algn="l"/>
              </a:tabLst>
            </a:pPr>
            <a:r>
              <a:rPr sz="1900" spc="-5" dirty="0">
                <a:latin typeface="Calibri"/>
                <a:cs typeface="Calibri"/>
              </a:rPr>
              <a:t>A Engenharia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ainda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não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está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madura,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é</a:t>
            </a:r>
            <a:r>
              <a:rPr sz="1900" spc="5" dirty="0">
                <a:latin typeface="Calibri"/>
                <a:cs typeface="Calibri"/>
              </a:rPr>
              <a:t> uma </a:t>
            </a:r>
            <a:r>
              <a:rPr sz="1900" spc="-5" dirty="0">
                <a:latin typeface="Calibri"/>
                <a:cs typeface="Calibri"/>
              </a:rPr>
              <a:t>ciência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em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evolução</a:t>
            </a:r>
            <a:endParaRPr sz="1900">
              <a:latin typeface="Calibri"/>
              <a:cs typeface="Calibri"/>
            </a:endParaRPr>
          </a:p>
          <a:p>
            <a:pPr marL="525145" marR="796290" lvl="1" indent="-197485">
              <a:lnSpc>
                <a:spcPct val="101000"/>
              </a:lnSpc>
              <a:spcBef>
                <a:spcPts val="409"/>
              </a:spcBef>
              <a:buClr>
                <a:srgbClr val="FF0000"/>
              </a:buClr>
              <a:buFont typeface="Arial MT"/>
              <a:buChar char="–"/>
              <a:tabLst>
                <a:tab pos="526415" algn="l"/>
              </a:tabLst>
            </a:pPr>
            <a:r>
              <a:rPr sz="1900" spc="-5" dirty="0">
                <a:latin typeface="Calibri"/>
                <a:cs typeface="Calibri"/>
              </a:rPr>
              <a:t>Não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há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um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único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ponte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vista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entre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profissionais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sobre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que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é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qualidade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6126" y="2066927"/>
            <a:ext cx="1217925" cy="182498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025" y="828302"/>
            <a:ext cx="3390644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latin typeface="Calibri"/>
                <a:cs typeface="Calibri"/>
              </a:rPr>
              <a:t>Conceitos</a:t>
            </a:r>
            <a:r>
              <a:rPr sz="4000" spc="-13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base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8472" y="1821418"/>
            <a:ext cx="6451600" cy="15640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4965" indent="-342900">
              <a:spcBef>
                <a:spcPts val="250"/>
              </a:spcBef>
              <a:buClr>
                <a:srgbClr val="9ABA59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35" dirty="0">
                <a:latin typeface="Calibri"/>
                <a:cs typeface="Calibri"/>
              </a:rPr>
              <a:t>Defeito: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spcBef>
                <a:spcPts val="130"/>
              </a:spcBef>
              <a:buClr>
                <a:srgbClr val="FF0000"/>
              </a:buClr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25" dirty="0">
                <a:latin typeface="Calibri"/>
                <a:cs typeface="Calibri"/>
              </a:rPr>
              <a:t>Imperfeição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spc="-20" dirty="0">
                <a:latin typeface="Calibri"/>
                <a:cs typeface="Calibri"/>
              </a:rPr>
              <a:t> produto</a:t>
            </a:r>
            <a:endParaRPr sz="18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150"/>
              </a:lnSpc>
              <a:spcBef>
                <a:spcPts val="489"/>
              </a:spcBef>
              <a:buClr>
                <a:srgbClr val="FF0000"/>
              </a:buClr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10" dirty="0">
                <a:latin typeface="Calibri"/>
                <a:cs typeface="Calibri"/>
              </a:rPr>
              <a:t>Segundo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0" dirty="0">
                <a:latin typeface="Calibri"/>
                <a:cs typeface="Calibri"/>
              </a:rPr>
              <a:t>dicionário: </a:t>
            </a:r>
            <a:r>
              <a:rPr sz="1800" dirty="0">
                <a:latin typeface="Calibri"/>
                <a:cs typeface="Calibri"/>
              </a:rPr>
              <a:t>é um </a:t>
            </a:r>
            <a:r>
              <a:rPr sz="1800" spc="-30" dirty="0">
                <a:latin typeface="Calibri"/>
                <a:cs typeface="Calibri"/>
              </a:rPr>
              <a:t>programa </a:t>
            </a:r>
            <a:r>
              <a:rPr sz="1800" spc="-5" dirty="0">
                <a:latin typeface="Calibri"/>
                <a:cs typeface="Calibri"/>
              </a:rPr>
              <a:t>que </a:t>
            </a:r>
            <a:r>
              <a:rPr sz="1800" dirty="0">
                <a:latin typeface="Calibri"/>
                <a:cs typeface="Calibri"/>
              </a:rPr>
              <a:t>não </a:t>
            </a:r>
            <a:r>
              <a:rPr sz="1800" spc="-5" dirty="0">
                <a:latin typeface="Calibri"/>
                <a:cs typeface="Calibri"/>
              </a:rPr>
              <a:t>funciona </a:t>
            </a:r>
            <a:r>
              <a:rPr sz="1800" spc="-15" dirty="0">
                <a:latin typeface="Calibri"/>
                <a:cs typeface="Calibri"/>
              </a:rPr>
              <a:t>como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deve</a:t>
            </a:r>
            <a:endParaRPr sz="1800" dirty="0">
              <a:latin typeface="Calibri"/>
              <a:cs typeface="Calibri"/>
            </a:endParaRPr>
          </a:p>
          <a:p>
            <a:pPr marL="755650" lvl="1" indent="-287020">
              <a:spcBef>
                <a:spcPts val="320"/>
              </a:spcBef>
              <a:buClr>
                <a:srgbClr val="FF0000"/>
              </a:buClr>
              <a:buFont typeface="Arial MT"/>
              <a:buChar char="–"/>
              <a:tabLst>
                <a:tab pos="755650" algn="l"/>
                <a:tab pos="756285" algn="l"/>
              </a:tabLst>
            </a:pPr>
            <a:r>
              <a:rPr sz="1800" spc="-20" dirty="0">
                <a:latin typeface="Calibri"/>
                <a:cs typeface="Calibri"/>
              </a:rPr>
              <a:t>Exemplos: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12873" y="3356945"/>
            <a:ext cx="96520" cy="5899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spcBef>
                <a:spcPts val="400"/>
              </a:spcBef>
            </a:pPr>
            <a:r>
              <a:rPr sz="16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  <a:p>
            <a:pPr marL="12700">
              <a:spcBef>
                <a:spcPts val="300"/>
              </a:spcBef>
            </a:pPr>
            <a:r>
              <a:rPr sz="1600" spc="-5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1307" y="3374579"/>
            <a:ext cx="5322570" cy="5899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spcBef>
                <a:spcPts val="400"/>
              </a:spcBef>
              <a:tabLst>
                <a:tab pos="911860" algn="l"/>
              </a:tabLst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=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/ C;	</a:t>
            </a:r>
            <a:r>
              <a:rPr sz="1600" spc="-10" dirty="0">
                <a:latin typeface="Calibri"/>
                <a:cs typeface="Calibri"/>
              </a:rPr>
              <a:t>Se</a:t>
            </a:r>
            <a:r>
              <a:rPr sz="1600" spc="-5" dirty="0">
                <a:latin typeface="Calibri"/>
                <a:cs typeface="Calibri"/>
              </a:rPr>
              <a:t> C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= 0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então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teremos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uma</a:t>
            </a:r>
            <a:r>
              <a:rPr sz="1600" spc="-15" dirty="0">
                <a:latin typeface="Calibri"/>
                <a:cs typeface="Calibri"/>
              </a:rPr>
              <a:t> divisão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por </a:t>
            </a:r>
            <a:r>
              <a:rPr sz="1600" spc="-50" dirty="0">
                <a:latin typeface="Calibri"/>
                <a:cs typeface="Calibri"/>
              </a:rPr>
              <a:t>zero</a:t>
            </a:r>
            <a:endParaRPr sz="1600" dirty="0">
              <a:latin typeface="Calibri"/>
              <a:cs typeface="Calibri"/>
            </a:endParaRPr>
          </a:p>
          <a:p>
            <a:pPr marL="12700">
              <a:spcBef>
                <a:spcPts val="300"/>
              </a:spcBef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= 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*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C;</a:t>
            </a:r>
            <a:r>
              <a:rPr sz="1600" spc="6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</a:t>
            </a:r>
            <a:r>
              <a:rPr sz="1600" spc="-5" dirty="0">
                <a:latin typeface="Calibri"/>
                <a:cs typeface="Calibri"/>
              </a:rPr>
              <a:t> 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&amp;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estão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limite,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pode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não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caber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 </a:t>
            </a:r>
            <a:r>
              <a:rPr sz="1600" spc="-25" dirty="0">
                <a:latin typeface="Calibri"/>
                <a:cs typeface="Calibri"/>
              </a:rPr>
              <a:t>resultado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8473" y="4298868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1294" y="3939594"/>
            <a:ext cx="5500370" cy="71056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0">
              <a:spcBef>
                <a:spcPts val="490"/>
              </a:spcBef>
              <a:tabLst>
                <a:tab pos="412750" algn="l"/>
              </a:tabLst>
            </a:pPr>
            <a:r>
              <a:rPr sz="2700" spc="-7" baseline="4629" dirty="0">
                <a:solidFill>
                  <a:srgbClr val="FF0000"/>
                </a:solidFill>
                <a:latin typeface="Arial MT"/>
                <a:cs typeface="Arial MT"/>
              </a:rPr>
              <a:t>–	</a:t>
            </a:r>
            <a:r>
              <a:rPr sz="1800" spc="-30" dirty="0">
                <a:latin typeface="Calibri"/>
                <a:cs typeface="Calibri"/>
              </a:rPr>
              <a:t>Estes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defeitos</a:t>
            </a:r>
            <a:r>
              <a:rPr sz="1800" spc="-10" dirty="0">
                <a:latin typeface="Calibri"/>
                <a:cs typeface="Calibri"/>
              </a:rPr>
              <a:t> podem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causar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falhas,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graves</a:t>
            </a:r>
            <a:endParaRPr sz="1800">
              <a:latin typeface="Calibri"/>
              <a:cs typeface="Calibri"/>
            </a:endParaRPr>
          </a:p>
          <a:p>
            <a:pPr marL="12700">
              <a:spcBef>
                <a:spcPts val="440"/>
              </a:spcBef>
            </a:pPr>
            <a:r>
              <a:rPr sz="2000" spc="-20" dirty="0">
                <a:latin typeface="Calibri"/>
                <a:cs typeface="Calibri"/>
              </a:rPr>
              <a:t>Falha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Bug: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5673" y="4664967"/>
            <a:ext cx="5685155" cy="17697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7815" marR="218440" indent="-285750">
              <a:lnSpc>
                <a:spcPts val="2150"/>
              </a:lnSpc>
              <a:spcBef>
                <a:spcPts val="180"/>
              </a:spcBef>
              <a:buClr>
                <a:srgbClr val="FF0000"/>
              </a:buClr>
              <a:buFont typeface="Arial MT"/>
              <a:buChar char="–"/>
              <a:tabLst>
                <a:tab pos="297815" algn="l"/>
                <a:tab pos="298450" algn="l"/>
              </a:tabLst>
            </a:pPr>
            <a:r>
              <a:rPr sz="1800" spc="-25" dirty="0">
                <a:latin typeface="Calibri"/>
                <a:cs typeface="Calibri"/>
              </a:rPr>
              <a:t>Resultado errado </a:t>
            </a:r>
            <a:r>
              <a:rPr sz="1800" spc="-20" dirty="0">
                <a:latin typeface="Calibri"/>
                <a:cs typeface="Calibri"/>
              </a:rPr>
              <a:t>provocado </a:t>
            </a:r>
            <a:r>
              <a:rPr sz="1800" spc="-5" dirty="0">
                <a:latin typeface="Calibri"/>
                <a:cs typeface="Calibri"/>
              </a:rPr>
              <a:t>por </a:t>
            </a:r>
            <a:r>
              <a:rPr sz="1800" dirty="0">
                <a:latin typeface="Calibri"/>
                <a:cs typeface="Calibri"/>
              </a:rPr>
              <a:t>um </a:t>
            </a:r>
            <a:r>
              <a:rPr sz="1800" spc="-30" dirty="0">
                <a:latin typeface="Calibri"/>
                <a:cs typeface="Calibri"/>
              </a:rPr>
              <a:t>defeito </a:t>
            </a:r>
            <a:r>
              <a:rPr sz="1800" spc="-10" dirty="0">
                <a:latin typeface="Calibri"/>
                <a:cs typeface="Calibri"/>
              </a:rPr>
              <a:t>ou </a:t>
            </a:r>
            <a:r>
              <a:rPr sz="1800" spc="-15" dirty="0">
                <a:latin typeface="Calibri"/>
                <a:cs typeface="Calibri"/>
              </a:rPr>
              <a:t>condição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inesperada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spcBef>
                <a:spcPts val="160"/>
              </a:spcBef>
              <a:buClr>
                <a:srgbClr val="FF0000"/>
              </a:buClr>
              <a:buFont typeface="Arial MT"/>
              <a:buChar char="–"/>
              <a:tabLst>
                <a:tab pos="297815" algn="l"/>
                <a:tab pos="298450" algn="l"/>
              </a:tabLst>
            </a:pPr>
            <a:r>
              <a:rPr sz="1800" spc="-30" dirty="0">
                <a:latin typeface="Calibri"/>
                <a:cs typeface="Calibri"/>
              </a:rPr>
              <a:t>Defeitos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podem </a:t>
            </a:r>
            <a:r>
              <a:rPr sz="1800" spc="-25" dirty="0">
                <a:latin typeface="Calibri"/>
                <a:cs typeface="Calibri"/>
              </a:rPr>
              <a:t>existir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sem,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entanto,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provocarem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falhas</a:t>
            </a:r>
            <a:endParaRPr sz="1800" dirty="0">
              <a:latin typeface="Calibri"/>
              <a:cs typeface="Calibri"/>
            </a:endParaRPr>
          </a:p>
          <a:p>
            <a:pPr marL="299085" indent="-287020">
              <a:spcBef>
                <a:spcPts val="395"/>
              </a:spcBef>
              <a:buClr>
                <a:srgbClr val="FF0000"/>
              </a:buClr>
              <a:buFont typeface="Arial MT"/>
              <a:buChar char="–"/>
              <a:tabLst>
                <a:tab pos="298450" algn="l"/>
                <a:tab pos="299720" algn="l"/>
              </a:tabLst>
            </a:pPr>
            <a:r>
              <a:rPr sz="2700" spc="-30" baseline="1543" dirty="0">
                <a:latin typeface="Calibri"/>
                <a:cs typeface="Calibri"/>
              </a:rPr>
              <a:t>Falhas</a:t>
            </a:r>
            <a:r>
              <a:rPr sz="2700" spc="-44" baseline="1543" dirty="0">
                <a:latin typeface="Calibri"/>
                <a:cs typeface="Calibri"/>
              </a:rPr>
              <a:t> </a:t>
            </a:r>
            <a:r>
              <a:rPr sz="2700" spc="-15" baseline="1543" dirty="0">
                <a:latin typeface="Calibri"/>
                <a:cs typeface="Calibri"/>
              </a:rPr>
              <a:t>podem </a:t>
            </a:r>
            <a:r>
              <a:rPr sz="2700" spc="-44" baseline="1543" dirty="0">
                <a:latin typeface="Calibri"/>
                <a:cs typeface="Calibri"/>
              </a:rPr>
              <a:t>ocorrer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spc="-7" baseline="1543" dirty="0">
                <a:latin typeface="Calibri"/>
                <a:cs typeface="Calibri"/>
              </a:rPr>
              <a:t>por</a:t>
            </a:r>
            <a:r>
              <a:rPr sz="2700" spc="-44" baseline="1543" dirty="0">
                <a:latin typeface="Calibri"/>
                <a:cs typeface="Calibri"/>
              </a:rPr>
              <a:t> </a:t>
            </a:r>
            <a:r>
              <a:rPr sz="2700" spc="-52" baseline="1543" dirty="0">
                <a:latin typeface="Calibri"/>
                <a:cs typeface="Calibri"/>
              </a:rPr>
              <a:t>fatores</a:t>
            </a:r>
            <a:r>
              <a:rPr sz="2700" spc="-44" baseline="1543" dirty="0">
                <a:latin typeface="Calibri"/>
                <a:cs typeface="Calibri"/>
              </a:rPr>
              <a:t> </a:t>
            </a:r>
            <a:r>
              <a:rPr sz="2700" spc="-37" baseline="1543" dirty="0">
                <a:latin typeface="Calibri"/>
                <a:cs typeface="Calibri"/>
              </a:rPr>
              <a:t>externos:</a:t>
            </a:r>
            <a:endParaRPr sz="2700" baseline="1543" dirty="0">
              <a:latin typeface="Calibri"/>
              <a:cs typeface="Calibri"/>
            </a:endParaRPr>
          </a:p>
          <a:p>
            <a:pPr marL="697865" marR="109220" lvl="1" indent="-228600">
              <a:lnSpc>
                <a:spcPts val="1910"/>
              </a:lnSpc>
              <a:spcBef>
                <a:spcPts val="465"/>
              </a:spcBef>
              <a:buClr>
                <a:srgbClr val="9ABA59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600" spc="-80" dirty="0">
                <a:latin typeface="Calibri"/>
                <a:cs typeface="Calibri"/>
              </a:rPr>
              <a:t>Toda</a:t>
            </a:r>
            <a:r>
              <a:rPr sz="1600" spc="-25" dirty="0">
                <a:latin typeface="Calibri"/>
                <a:cs typeface="Calibri"/>
              </a:rPr>
              <a:t> falha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potencial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é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perigosa,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mesmo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não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travem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programa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02405" y="1286821"/>
            <a:ext cx="1789430" cy="1096645"/>
            <a:chOff x="4644386" y="1019798"/>
            <a:chExt cx="1789430" cy="1096645"/>
          </a:xfrm>
        </p:grpSpPr>
        <p:sp>
          <p:nvSpPr>
            <p:cNvPr id="10" name="object 10"/>
            <p:cNvSpPr/>
            <p:nvPr/>
          </p:nvSpPr>
          <p:spPr>
            <a:xfrm>
              <a:off x="4644386" y="1042659"/>
              <a:ext cx="1789430" cy="1073785"/>
            </a:xfrm>
            <a:custGeom>
              <a:avLst/>
              <a:gdLst/>
              <a:ahLst/>
              <a:cxnLst/>
              <a:rect l="l" t="t" r="r" b="b"/>
              <a:pathLst>
                <a:path w="1789429" h="1073785">
                  <a:moveTo>
                    <a:pt x="1692922" y="0"/>
                  </a:moveTo>
                  <a:lnTo>
                    <a:pt x="96532" y="0"/>
                  </a:lnTo>
                  <a:lnTo>
                    <a:pt x="90157" y="1282"/>
                  </a:lnTo>
                  <a:lnTo>
                    <a:pt x="80009" y="3810"/>
                  </a:lnTo>
                  <a:lnTo>
                    <a:pt x="73672" y="5092"/>
                  </a:lnTo>
                  <a:lnTo>
                    <a:pt x="68579" y="7620"/>
                  </a:lnTo>
                  <a:lnTo>
                    <a:pt x="63487" y="8902"/>
                  </a:lnTo>
                  <a:lnTo>
                    <a:pt x="53339" y="13995"/>
                  </a:lnTo>
                  <a:lnTo>
                    <a:pt x="49529" y="17805"/>
                  </a:lnTo>
                  <a:lnTo>
                    <a:pt x="44437" y="20332"/>
                  </a:lnTo>
                  <a:lnTo>
                    <a:pt x="39382" y="24142"/>
                  </a:lnTo>
                  <a:lnTo>
                    <a:pt x="24142" y="39382"/>
                  </a:lnTo>
                  <a:lnTo>
                    <a:pt x="20332" y="44475"/>
                  </a:lnTo>
                  <a:lnTo>
                    <a:pt x="17767" y="48285"/>
                  </a:lnTo>
                  <a:lnTo>
                    <a:pt x="13957" y="53340"/>
                  </a:lnTo>
                  <a:lnTo>
                    <a:pt x="8902" y="63525"/>
                  </a:lnTo>
                  <a:lnTo>
                    <a:pt x="7619" y="68580"/>
                  </a:lnTo>
                  <a:lnTo>
                    <a:pt x="5092" y="73672"/>
                  </a:lnTo>
                  <a:lnTo>
                    <a:pt x="3809" y="80010"/>
                  </a:lnTo>
                  <a:lnTo>
                    <a:pt x="1282" y="90195"/>
                  </a:lnTo>
                  <a:lnTo>
                    <a:pt x="1282" y="96532"/>
                  </a:lnTo>
                  <a:lnTo>
                    <a:pt x="0" y="101625"/>
                  </a:lnTo>
                  <a:lnTo>
                    <a:pt x="0" y="971550"/>
                  </a:lnTo>
                  <a:lnTo>
                    <a:pt x="1282" y="977925"/>
                  </a:lnTo>
                  <a:lnTo>
                    <a:pt x="1282" y="982980"/>
                  </a:lnTo>
                  <a:lnTo>
                    <a:pt x="5092" y="999502"/>
                  </a:lnTo>
                  <a:lnTo>
                    <a:pt x="7619" y="1004595"/>
                  </a:lnTo>
                  <a:lnTo>
                    <a:pt x="8902" y="1009650"/>
                  </a:lnTo>
                  <a:lnTo>
                    <a:pt x="13957" y="1019835"/>
                  </a:lnTo>
                  <a:lnTo>
                    <a:pt x="17767" y="1024890"/>
                  </a:lnTo>
                  <a:lnTo>
                    <a:pt x="20332" y="1028700"/>
                  </a:lnTo>
                  <a:lnTo>
                    <a:pt x="24142" y="1033792"/>
                  </a:lnTo>
                  <a:lnTo>
                    <a:pt x="27952" y="1037602"/>
                  </a:lnTo>
                  <a:lnTo>
                    <a:pt x="31762" y="1042695"/>
                  </a:lnTo>
                  <a:lnTo>
                    <a:pt x="35572" y="1045222"/>
                  </a:lnTo>
                  <a:lnTo>
                    <a:pt x="39382" y="1049032"/>
                  </a:lnTo>
                  <a:lnTo>
                    <a:pt x="49529" y="1056652"/>
                  </a:lnTo>
                  <a:lnTo>
                    <a:pt x="53339" y="1059180"/>
                  </a:lnTo>
                  <a:lnTo>
                    <a:pt x="68579" y="1066800"/>
                  </a:lnTo>
                  <a:lnTo>
                    <a:pt x="73672" y="1068082"/>
                  </a:lnTo>
                  <a:lnTo>
                    <a:pt x="80009" y="1069365"/>
                  </a:lnTo>
                  <a:lnTo>
                    <a:pt x="90157" y="1071892"/>
                  </a:lnTo>
                  <a:lnTo>
                    <a:pt x="96532" y="1073175"/>
                  </a:lnTo>
                  <a:lnTo>
                    <a:pt x="1687829" y="1073175"/>
                  </a:lnTo>
                  <a:lnTo>
                    <a:pt x="1692922" y="1071892"/>
                  </a:lnTo>
                  <a:lnTo>
                    <a:pt x="1699259" y="1071892"/>
                  </a:lnTo>
                  <a:lnTo>
                    <a:pt x="1714500" y="1068082"/>
                  </a:lnTo>
                  <a:lnTo>
                    <a:pt x="1720837" y="1065555"/>
                  </a:lnTo>
                  <a:lnTo>
                    <a:pt x="1725929" y="1064272"/>
                  </a:lnTo>
                  <a:lnTo>
                    <a:pt x="1736077" y="1059180"/>
                  </a:lnTo>
                  <a:lnTo>
                    <a:pt x="1739887" y="1055370"/>
                  </a:lnTo>
                  <a:lnTo>
                    <a:pt x="1744979" y="1052842"/>
                  </a:lnTo>
                  <a:lnTo>
                    <a:pt x="1750072" y="1049032"/>
                  </a:lnTo>
                  <a:lnTo>
                    <a:pt x="1765312" y="1033792"/>
                  </a:lnTo>
                  <a:lnTo>
                    <a:pt x="1769122" y="1028700"/>
                  </a:lnTo>
                  <a:lnTo>
                    <a:pt x="1771650" y="1023645"/>
                  </a:lnTo>
                  <a:lnTo>
                    <a:pt x="1774177" y="1019835"/>
                  </a:lnTo>
                  <a:lnTo>
                    <a:pt x="1777987" y="1014742"/>
                  </a:lnTo>
                  <a:lnTo>
                    <a:pt x="1779270" y="1009650"/>
                  </a:lnTo>
                  <a:lnTo>
                    <a:pt x="1784362" y="999502"/>
                  </a:lnTo>
                  <a:lnTo>
                    <a:pt x="1785607" y="993165"/>
                  </a:lnTo>
                  <a:lnTo>
                    <a:pt x="1788172" y="982980"/>
                  </a:lnTo>
                  <a:lnTo>
                    <a:pt x="1788172" y="976642"/>
                  </a:lnTo>
                  <a:lnTo>
                    <a:pt x="1789417" y="971550"/>
                  </a:lnTo>
                  <a:lnTo>
                    <a:pt x="1789417" y="101625"/>
                  </a:lnTo>
                  <a:lnTo>
                    <a:pt x="1786889" y="90195"/>
                  </a:lnTo>
                  <a:lnTo>
                    <a:pt x="1786889" y="85102"/>
                  </a:lnTo>
                  <a:lnTo>
                    <a:pt x="1785607" y="80010"/>
                  </a:lnTo>
                  <a:lnTo>
                    <a:pt x="1783079" y="73672"/>
                  </a:lnTo>
                  <a:lnTo>
                    <a:pt x="1781797" y="68580"/>
                  </a:lnTo>
                  <a:lnTo>
                    <a:pt x="1771650" y="48285"/>
                  </a:lnTo>
                  <a:lnTo>
                    <a:pt x="1767839" y="44475"/>
                  </a:lnTo>
                  <a:lnTo>
                    <a:pt x="1765312" y="39382"/>
                  </a:lnTo>
                  <a:lnTo>
                    <a:pt x="1757692" y="31762"/>
                  </a:lnTo>
                  <a:lnTo>
                    <a:pt x="1752600" y="27952"/>
                  </a:lnTo>
                  <a:lnTo>
                    <a:pt x="1744979" y="20332"/>
                  </a:lnTo>
                  <a:lnTo>
                    <a:pt x="1739887" y="17805"/>
                  </a:lnTo>
                  <a:lnTo>
                    <a:pt x="1734832" y="13995"/>
                  </a:lnTo>
                  <a:lnTo>
                    <a:pt x="1724647" y="8902"/>
                  </a:lnTo>
                  <a:lnTo>
                    <a:pt x="1719592" y="7620"/>
                  </a:lnTo>
                  <a:lnTo>
                    <a:pt x="1714500" y="5092"/>
                  </a:lnTo>
                  <a:lnTo>
                    <a:pt x="1704352" y="2565"/>
                  </a:lnTo>
                  <a:lnTo>
                    <a:pt x="1697977" y="1282"/>
                  </a:lnTo>
                  <a:lnTo>
                    <a:pt x="1692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44377" y="1019809"/>
              <a:ext cx="1789430" cy="1073785"/>
            </a:xfrm>
            <a:custGeom>
              <a:avLst/>
              <a:gdLst/>
              <a:ahLst/>
              <a:cxnLst/>
              <a:rect l="l" t="t" r="r" b="b"/>
              <a:pathLst>
                <a:path w="1789429" h="1073785">
                  <a:moveTo>
                    <a:pt x="1789417" y="101625"/>
                  </a:moveTo>
                  <a:lnTo>
                    <a:pt x="1788172" y="95250"/>
                  </a:lnTo>
                  <a:lnTo>
                    <a:pt x="1786890" y="90195"/>
                  </a:lnTo>
                  <a:lnTo>
                    <a:pt x="1786890" y="85102"/>
                  </a:lnTo>
                  <a:lnTo>
                    <a:pt x="1785607" y="78765"/>
                  </a:lnTo>
                  <a:lnTo>
                    <a:pt x="1783080" y="73672"/>
                  </a:lnTo>
                  <a:lnTo>
                    <a:pt x="1781797" y="68580"/>
                  </a:lnTo>
                  <a:lnTo>
                    <a:pt x="1771650" y="48285"/>
                  </a:lnTo>
                  <a:lnTo>
                    <a:pt x="1767840" y="44475"/>
                  </a:lnTo>
                  <a:lnTo>
                    <a:pt x="1765312" y="39382"/>
                  </a:lnTo>
                  <a:lnTo>
                    <a:pt x="1761502" y="35572"/>
                  </a:lnTo>
                  <a:lnTo>
                    <a:pt x="1757692" y="30480"/>
                  </a:lnTo>
                  <a:lnTo>
                    <a:pt x="1752600" y="27952"/>
                  </a:lnTo>
                  <a:lnTo>
                    <a:pt x="1748790" y="22860"/>
                  </a:lnTo>
                  <a:lnTo>
                    <a:pt x="1744980" y="20332"/>
                  </a:lnTo>
                  <a:lnTo>
                    <a:pt x="1739887" y="16522"/>
                  </a:lnTo>
                  <a:lnTo>
                    <a:pt x="1719592" y="6375"/>
                  </a:lnTo>
                  <a:lnTo>
                    <a:pt x="1704352" y="2565"/>
                  </a:lnTo>
                  <a:lnTo>
                    <a:pt x="1697977" y="1282"/>
                  </a:lnTo>
                  <a:lnTo>
                    <a:pt x="1692922" y="0"/>
                  </a:lnTo>
                  <a:lnTo>
                    <a:pt x="96532" y="0"/>
                  </a:lnTo>
                  <a:lnTo>
                    <a:pt x="90157" y="1282"/>
                  </a:lnTo>
                  <a:lnTo>
                    <a:pt x="80010" y="3810"/>
                  </a:lnTo>
                  <a:lnTo>
                    <a:pt x="73672" y="5092"/>
                  </a:lnTo>
                  <a:lnTo>
                    <a:pt x="68580" y="6375"/>
                  </a:lnTo>
                  <a:lnTo>
                    <a:pt x="53340" y="13995"/>
                  </a:lnTo>
                  <a:lnTo>
                    <a:pt x="49530" y="16522"/>
                  </a:lnTo>
                  <a:lnTo>
                    <a:pt x="44437" y="20332"/>
                  </a:lnTo>
                  <a:lnTo>
                    <a:pt x="39382" y="22860"/>
                  </a:lnTo>
                  <a:lnTo>
                    <a:pt x="35572" y="27952"/>
                  </a:lnTo>
                  <a:lnTo>
                    <a:pt x="31762" y="30480"/>
                  </a:lnTo>
                  <a:lnTo>
                    <a:pt x="27952" y="35572"/>
                  </a:lnTo>
                  <a:lnTo>
                    <a:pt x="24142" y="39382"/>
                  </a:lnTo>
                  <a:lnTo>
                    <a:pt x="20332" y="44475"/>
                  </a:lnTo>
                  <a:lnTo>
                    <a:pt x="17767" y="48285"/>
                  </a:lnTo>
                  <a:lnTo>
                    <a:pt x="13957" y="53340"/>
                  </a:lnTo>
                  <a:lnTo>
                    <a:pt x="8902" y="63525"/>
                  </a:lnTo>
                  <a:lnTo>
                    <a:pt x="7620" y="68580"/>
                  </a:lnTo>
                  <a:lnTo>
                    <a:pt x="5092" y="73672"/>
                  </a:lnTo>
                  <a:lnTo>
                    <a:pt x="3810" y="78765"/>
                  </a:lnTo>
                  <a:lnTo>
                    <a:pt x="1282" y="90195"/>
                  </a:lnTo>
                  <a:lnTo>
                    <a:pt x="1282" y="95250"/>
                  </a:lnTo>
                  <a:lnTo>
                    <a:pt x="0" y="101625"/>
                  </a:lnTo>
                  <a:lnTo>
                    <a:pt x="0" y="971550"/>
                  </a:lnTo>
                  <a:lnTo>
                    <a:pt x="1282" y="976642"/>
                  </a:lnTo>
                  <a:lnTo>
                    <a:pt x="1282" y="982980"/>
                  </a:lnTo>
                  <a:lnTo>
                    <a:pt x="3810" y="993165"/>
                  </a:lnTo>
                  <a:lnTo>
                    <a:pt x="5092" y="999502"/>
                  </a:lnTo>
                  <a:lnTo>
                    <a:pt x="7620" y="1004595"/>
                  </a:lnTo>
                  <a:lnTo>
                    <a:pt x="8902" y="1009650"/>
                  </a:lnTo>
                  <a:lnTo>
                    <a:pt x="13957" y="1019835"/>
                  </a:lnTo>
                  <a:lnTo>
                    <a:pt x="17767" y="1024890"/>
                  </a:lnTo>
                  <a:lnTo>
                    <a:pt x="20332" y="1028700"/>
                  </a:lnTo>
                  <a:lnTo>
                    <a:pt x="24142" y="1033792"/>
                  </a:lnTo>
                  <a:lnTo>
                    <a:pt x="39382" y="1049032"/>
                  </a:lnTo>
                  <a:lnTo>
                    <a:pt x="44437" y="1052842"/>
                  </a:lnTo>
                  <a:lnTo>
                    <a:pt x="49530" y="1055370"/>
                  </a:lnTo>
                  <a:lnTo>
                    <a:pt x="53340" y="1059180"/>
                  </a:lnTo>
                  <a:lnTo>
                    <a:pt x="63487" y="1064272"/>
                  </a:lnTo>
                  <a:lnTo>
                    <a:pt x="68580" y="1065555"/>
                  </a:lnTo>
                  <a:lnTo>
                    <a:pt x="73672" y="1068082"/>
                  </a:lnTo>
                  <a:lnTo>
                    <a:pt x="80010" y="1069365"/>
                  </a:lnTo>
                  <a:lnTo>
                    <a:pt x="90157" y="1071892"/>
                  </a:lnTo>
                  <a:lnTo>
                    <a:pt x="96583" y="1071892"/>
                  </a:lnTo>
                  <a:lnTo>
                    <a:pt x="101600" y="1073162"/>
                  </a:lnTo>
                  <a:lnTo>
                    <a:pt x="1687842" y="1073162"/>
                  </a:lnTo>
                  <a:lnTo>
                    <a:pt x="1692871" y="1071892"/>
                  </a:lnTo>
                  <a:lnTo>
                    <a:pt x="1699260" y="1071892"/>
                  </a:lnTo>
                  <a:lnTo>
                    <a:pt x="1714500" y="1068082"/>
                  </a:lnTo>
                  <a:lnTo>
                    <a:pt x="1720837" y="1065555"/>
                  </a:lnTo>
                  <a:lnTo>
                    <a:pt x="1725930" y="1062990"/>
                  </a:lnTo>
                  <a:lnTo>
                    <a:pt x="1731022" y="1061745"/>
                  </a:lnTo>
                  <a:lnTo>
                    <a:pt x="1736077" y="1057935"/>
                  </a:lnTo>
                  <a:lnTo>
                    <a:pt x="1739887" y="1055370"/>
                  </a:lnTo>
                  <a:lnTo>
                    <a:pt x="1744980" y="1052842"/>
                  </a:lnTo>
                  <a:lnTo>
                    <a:pt x="1750072" y="1049032"/>
                  </a:lnTo>
                  <a:lnTo>
                    <a:pt x="1765312" y="1033792"/>
                  </a:lnTo>
                  <a:lnTo>
                    <a:pt x="1769122" y="1028700"/>
                  </a:lnTo>
                  <a:lnTo>
                    <a:pt x="1771650" y="1023645"/>
                  </a:lnTo>
                  <a:lnTo>
                    <a:pt x="1774177" y="1019835"/>
                  </a:lnTo>
                  <a:lnTo>
                    <a:pt x="1777987" y="1014742"/>
                  </a:lnTo>
                  <a:lnTo>
                    <a:pt x="1779270" y="1009650"/>
                  </a:lnTo>
                  <a:lnTo>
                    <a:pt x="1781797" y="1004595"/>
                  </a:lnTo>
                  <a:lnTo>
                    <a:pt x="1784362" y="998220"/>
                  </a:lnTo>
                  <a:lnTo>
                    <a:pt x="1788172" y="982980"/>
                  </a:lnTo>
                  <a:lnTo>
                    <a:pt x="1788172" y="976642"/>
                  </a:lnTo>
                  <a:lnTo>
                    <a:pt x="1789417" y="971550"/>
                  </a:lnTo>
                  <a:lnTo>
                    <a:pt x="1789417" y="101625"/>
                  </a:lnTo>
                  <a:close/>
                </a:path>
              </a:pathLst>
            </a:custGeom>
            <a:solidFill>
              <a:srgbClr val="C04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98989" y="1541800"/>
            <a:ext cx="1055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15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66837" y="1511376"/>
            <a:ext cx="379095" cy="444500"/>
          </a:xfrm>
          <a:custGeom>
            <a:avLst/>
            <a:gdLst/>
            <a:ahLst/>
            <a:cxnLst/>
            <a:rect l="l" t="t" r="r" b="b"/>
            <a:pathLst>
              <a:path w="379095" h="444500">
                <a:moveTo>
                  <a:pt x="189255" y="0"/>
                </a:moveTo>
                <a:lnTo>
                  <a:pt x="189255" y="88874"/>
                </a:lnTo>
                <a:lnTo>
                  <a:pt x="0" y="88874"/>
                </a:lnTo>
                <a:lnTo>
                  <a:pt x="0" y="355574"/>
                </a:lnTo>
                <a:lnTo>
                  <a:pt x="189255" y="355574"/>
                </a:lnTo>
                <a:lnTo>
                  <a:pt x="189255" y="444487"/>
                </a:lnTo>
                <a:lnTo>
                  <a:pt x="378472" y="222224"/>
                </a:lnTo>
                <a:lnTo>
                  <a:pt x="189255" y="0"/>
                </a:lnTo>
                <a:close/>
              </a:path>
            </a:pathLst>
          </a:custGeom>
          <a:solidFill>
            <a:srgbClr val="C04F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821680" y="1230957"/>
            <a:ext cx="1789430" cy="1096645"/>
            <a:chOff x="7148844" y="1019798"/>
            <a:chExt cx="1789430" cy="1096645"/>
          </a:xfrm>
        </p:grpSpPr>
        <p:sp>
          <p:nvSpPr>
            <p:cNvPr id="15" name="object 15"/>
            <p:cNvSpPr/>
            <p:nvPr/>
          </p:nvSpPr>
          <p:spPr>
            <a:xfrm>
              <a:off x="7148844" y="1042659"/>
              <a:ext cx="1789430" cy="1073785"/>
            </a:xfrm>
            <a:custGeom>
              <a:avLst/>
              <a:gdLst/>
              <a:ahLst/>
              <a:cxnLst/>
              <a:rect l="l" t="t" r="r" b="b"/>
              <a:pathLst>
                <a:path w="1789429" h="1073785">
                  <a:moveTo>
                    <a:pt x="1692884" y="0"/>
                  </a:moveTo>
                  <a:lnTo>
                    <a:pt x="96494" y="0"/>
                  </a:lnTo>
                  <a:lnTo>
                    <a:pt x="90157" y="1282"/>
                  </a:lnTo>
                  <a:lnTo>
                    <a:pt x="74917" y="5092"/>
                  </a:lnTo>
                  <a:lnTo>
                    <a:pt x="68580" y="7620"/>
                  </a:lnTo>
                  <a:lnTo>
                    <a:pt x="63487" y="8902"/>
                  </a:lnTo>
                  <a:lnTo>
                    <a:pt x="59677" y="11430"/>
                  </a:lnTo>
                  <a:lnTo>
                    <a:pt x="54584" y="13995"/>
                  </a:lnTo>
                  <a:lnTo>
                    <a:pt x="49530" y="17805"/>
                  </a:lnTo>
                  <a:lnTo>
                    <a:pt x="44437" y="20332"/>
                  </a:lnTo>
                  <a:lnTo>
                    <a:pt x="40627" y="24142"/>
                  </a:lnTo>
                  <a:lnTo>
                    <a:pt x="35534" y="27952"/>
                  </a:lnTo>
                  <a:lnTo>
                    <a:pt x="24104" y="39382"/>
                  </a:lnTo>
                  <a:lnTo>
                    <a:pt x="20294" y="44475"/>
                  </a:lnTo>
                  <a:lnTo>
                    <a:pt x="17767" y="48285"/>
                  </a:lnTo>
                  <a:lnTo>
                    <a:pt x="15239" y="53340"/>
                  </a:lnTo>
                  <a:lnTo>
                    <a:pt x="11430" y="58432"/>
                  </a:lnTo>
                  <a:lnTo>
                    <a:pt x="10147" y="63525"/>
                  </a:lnTo>
                  <a:lnTo>
                    <a:pt x="7619" y="68580"/>
                  </a:lnTo>
                  <a:lnTo>
                    <a:pt x="6337" y="73672"/>
                  </a:lnTo>
                  <a:lnTo>
                    <a:pt x="3810" y="80010"/>
                  </a:lnTo>
                  <a:lnTo>
                    <a:pt x="1244" y="90195"/>
                  </a:lnTo>
                  <a:lnTo>
                    <a:pt x="1244" y="96532"/>
                  </a:lnTo>
                  <a:lnTo>
                    <a:pt x="0" y="101625"/>
                  </a:lnTo>
                  <a:lnTo>
                    <a:pt x="0" y="971550"/>
                  </a:lnTo>
                  <a:lnTo>
                    <a:pt x="1244" y="977925"/>
                  </a:lnTo>
                  <a:lnTo>
                    <a:pt x="1244" y="982980"/>
                  </a:lnTo>
                  <a:lnTo>
                    <a:pt x="2527" y="988072"/>
                  </a:lnTo>
                  <a:lnTo>
                    <a:pt x="3810" y="994410"/>
                  </a:lnTo>
                  <a:lnTo>
                    <a:pt x="6337" y="999502"/>
                  </a:lnTo>
                  <a:lnTo>
                    <a:pt x="7619" y="1004595"/>
                  </a:lnTo>
                  <a:lnTo>
                    <a:pt x="10147" y="1009650"/>
                  </a:lnTo>
                  <a:lnTo>
                    <a:pt x="11430" y="1014742"/>
                  </a:lnTo>
                  <a:lnTo>
                    <a:pt x="15239" y="1019835"/>
                  </a:lnTo>
                  <a:lnTo>
                    <a:pt x="17767" y="1024890"/>
                  </a:lnTo>
                  <a:lnTo>
                    <a:pt x="20294" y="1028700"/>
                  </a:lnTo>
                  <a:lnTo>
                    <a:pt x="24104" y="1033792"/>
                  </a:lnTo>
                  <a:lnTo>
                    <a:pt x="27914" y="1037602"/>
                  </a:lnTo>
                  <a:lnTo>
                    <a:pt x="31724" y="1042695"/>
                  </a:lnTo>
                  <a:lnTo>
                    <a:pt x="35534" y="1045222"/>
                  </a:lnTo>
                  <a:lnTo>
                    <a:pt x="40627" y="1049032"/>
                  </a:lnTo>
                  <a:lnTo>
                    <a:pt x="44437" y="1052842"/>
                  </a:lnTo>
                  <a:lnTo>
                    <a:pt x="49530" y="1056652"/>
                  </a:lnTo>
                  <a:lnTo>
                    <a:pt x="59677" y="1061745"/>
                  </a:lnTo>
                  <a:lnTo>
                    <a:pt x="63487" y="1064272"/>
                  </a:lnTo>
                  <a:lnTo>
                    <a:pt x="68580" y="1066800"/>
                  </a:lnTo>
                  <a:lnTo>
                    <a:pt x="74917" y="1068082"/>
                  </a:lnTo>
                  <a:lnTo>
                    <a:pt x="90157" y="1071892"/>
                  </a:lnTo>
                  <a:lnTo>
                    <a:pt x="96494" y="1073175"/>
                  </a:lnTo>
                  <a:lnTo>
                    <a:pt x="1687830" y="1073175"/>
                  </a:lnTo>
                  <a:lnTo>
                    <a:pt x="1692884" y="1071892"/>
                  </a:lnTo>
                  <a:lnTo>
                    <a:pt x="1699260" y="1071892"/>
                  </a:lnTo>
                  <a:lnTo>
                    <a:pt x="1709407" y="1069365"/>
                  </a:lnTo>
                  <a:lnTo>
                    <a:pt x="1715744" y="1068082"/>
                  </a:lnTo>
                  <a:lnTo>
                    <a:pt x="1720837" y="1065555"/>
                  </a:lnTo>
                  <a:lnTo>
                    <a:pt x="1725930" y="1064272"/>
                  </a:lnTo>
                  <a:lnTo>
                    <a:pt x="1736077" y="1059180"/>
                  </a:lnTo>
                  <a:lnTo>
                    <a:pt x="1741170" y="1055370"/>
                  </a:lnTo>
                  <a:lnTo>
                    <a:pt x="1744980" y="1052842"/>
                  </a:lnTo>
                  <a:lnTo>
                    <a:pt x="1772894" y="1023645"/>
                  </a:lnTo>
                  <a:lnTo>
                    <a:pt x="1784324" y="999502"/>
                  </a:lnTo>
                  <a:lnTo>
                    <a:pt x="1785607" y="993165"/>
                  </a:lnTo>
                  <a:lnTo>
                    <a:pt x="1788134" y="982980"/>
                  </a:lnTo>
                  <a:lnTo>
                    <a:pt x="1789417" y="976642"/>
                  </a:lnTo>
                  <a:lnTo>
                    <a:pt x="1789417" y="101625"/>
                  </a:lnTo>
                  <a:lnTo>
                    <a:pt x="1788134" y="96532"/>
                  </a:lnTo>
                  <a:lnTo>
                    <a:pt x="1788134" y="90195"/>
                  </a:lnTo>
                  <a:lnTo>
                    <a:pt x="1785607" y="80010"/>
                  </a:lnTo>
                  <a:lnTo>
                    <a:pt x="1784324" y="73672"/>
                  </a:lnTo>
                  <a:lnTo>
                    <a:pt x="1779270" y="63525"/>
                  </a:lnTo>
                  <a:lnTo>
                    <a:pt x="1777987" y="58432"/>
                  </a:lnTo>
                  <a:lnTo>
                    <a:pt x="1775460" y="53340"/>
                  </a:lnTo>
                  <a:lnTo>
                    <a:pt x="1771650" y="48285"/>
                  </a:lnTo>
                  <a:lnTo>
                    <a:pt x="1769084" y="44475"/>
                  </a:lnTo>
                  <a:lnTo>
                    <a:pt x="1765274" y="39382"/>
                  </a:lnTo>
                  <a:lnTo>
                    <a:pt x="1750034" y="24142"/>
                  </a:lnTo>
                  <a:lnTo>
                    <a:pt x="1744980" y="20332"/>
                  </a:lnTo>
                  <a:lnTo>
                    <a:pt x="1739887" y="17805"/>
                  </a:lnTo>
                  <a:lnTo>
                    <a:pt x="1736077" y="13995"/>
                  </a:lnTo>
                  <a:lnTo>
                    <a:pt x="1725930" y="8902"/>
                  </a:lnTo>
                  <a:lnTo>
                    <a:pt x="1720837" y="7620"/>
                  </a:lnTo>
                  <a:lnTo>
                    <a:pt x="1714500" y="5092"/>
                  </a:lnTo>
                  <a:lnTo>
                    <a:pt x="1699260" y="1282"/>
                  </a:lnTo>
                  <a:lnTo>
                    <a:pt x="16928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48843" y="1019809"/>
              <a:ext cx="1789430" cy="1073785"/>
            </a:xfrm>
            <a:custGeom>
              <a:avLst/>
              <a:gdLst/>
              <a:ahLst/>
              <a:cxnLst/>
              <a:rect l="l" t="t" r="r" b="b"/>
              <a:pathLst>
                <a:path w="1789429" h="1073785">
                  <a:moveTo>
                    <a:pt x="1789417" y="101625"/>
                  </a:moveTo>
                  <a:lnTo>
                    <a:pt x="1788134" y="95250"/>
                  </a:lnTo>
                  <a:lnTo>
                    <a:pt x="1788134" y="90195"/>
                  </a:lnTo>
                  <a:lnTo>
                    <a:pt x="1784324" y="73672"/>
                  </a:lnTo>
                  <a:lnTo>
                    <a:pt x="1779270" y="63525"/>
                  </a:lnTo>
                  <a:lnTo>
                    <a:pt x="1777987" y="58432"/>
                  </a:lnTo>
                  <a:lnTo>
                    <a:pt x="1775460" y="53340"/>
                  </a:lnTo>
                  <a:lnTo>
                    <a:pt x="1771650" y="48285"/>
                  </a:lnTo>
                  <a:lnTo>
                    <a:pt x="1769084" y="44475"/>
                  </a:lnTo>
                  <a:lnTo>
                    <a:pt x="1765274" y="39382"/>
                  </a:lnTo>
                  <a:lnTo>
                    <a:pt x="1761464" y="35572"/>
                  </a:lnTo>
                  <a:lnTo>
                    <a:pt x="1757654" y="30480"/>
                  </a:lnTo>
                  <a:lnTo>
                    <a:pt x="1753844" y="27952"/>
                  </a:lnTo>
                  <a:lnTo>
                    <a:pt x="1750034" y="22860"/>
                  </a:lnTo>
                  <a:lnTo>
                    <a:pt x="1744980" y="20332"/>
                  </a:lnTo>
                  <a:lnTo>
                    <a:pt x="1739887" y="16522"/>
                  </a:lnTo>
                  <a:lnTo>
                    <a:pt x="1736077" y="13995"/>
                  </a:lnTo>
                  <a:lnTo>
                    <a:pt x="1720837" y="6375"/>
                  </a:lnTo>
                  <a:lnTo>
                    <a:pt x="1714500" y="5092"/>
                  </a:lnTo>
                  <a:lnTo>
                    <a:pt x="1699260" y="1282"/>
                  </a:lnTo>
                  <a:lnTo>
                    <a:pt x="1692884" y="0"/>
                  </a:lnTo>
                  <a:lnTo>
                    <a:pt x="96494" y="0"/>
                  </a:lnTo>
                  <a:lnTo>
                    <a:pt x="90157" y="1282"/>
                  </a:lnTo>
                  <a:lnTo>
                    <a:pt x="74917" y="5092"/>
                  </a:lnTo>
                  <a:lnTo>
                    <a:pt x="68580" y="6375"/>
                  </a:lnTo>
                  <a:lnTo>
                    <a:pt x="63487" y="8902"/>
                  </a:lnTo>
                  <a:lnTo>
                    <a:pt x="59677" y="11430"/>
                  </a:lnTo>
                  <a:lnTo>
                    <a:pt x="49530" y="16522"/>
                  </a:lnTo>
                  <a:lnTo>
                    <a:pt x="44437" y="20332"/>
                  </a:lnTo>
                  <a:lnTo>
                    <a:pt x="40627" y="22860"/>
                  </a:lnTo>
                  <a:lnTo>
                    <a:pt x="35534" y="27952"/>
                  </a:lnTo>
                  <a:lnTo>
                    <a:pt x="31724" y="30480"/>
                  </a:lnTo>
                  <a:lnTo>
                    <a:pt x="27914" y="35572"/>
                  </a:lnTo>
                  <a:lnTo>
                    <a:pt x="24104" y="39382"/>
                  </a:lnTo>
                  <a:lnTo>
                    <a:pt x="20294" y="44475"/>
                  </a:lnTo>
                  <a:lnTo>
                    <a:pt x="17767" y="48285"/>
                  </a:lnTo>
                  <a:lnTo>
                    <a:pt x="15240" y="53340"/>
                  </a:lnTo>
                  <a:lnTo>
                    <a:pt x="11430" y="58432"/>
                  </a:lnTo>
                  <a:lnTo>
                    <a:pt x="10147" y="63525"/>
                  </a:lnTo>
                  <a:lnTo>
                    <a:pt x="7620" y="68580"/>
                  </a:lnTo>
                  <a:lnTo>
                    <a:pt x="6337" y="73672"/>
                  </a:lnTo>
                  <a:lnTo>
                    <a:pt x="3810" y="78765"/>
                  </a:lnTo>
                  <a:lnTo>
                    <a:pt x="2527" y="85102"/>
                  </a:lnTo>
                  <a:lnTo>
                    <a:pt x="1244" y="90195"/>
                  </a:lnTo>
                  <a:lnTo>
                    <a:pt x="1244" y="95250"/>
                  </a:lnTo>
                  <a:lnTo>
                    <a:pt x="0" y="101625"/>
                  </a:lnTo>
                  <a:lnTo>
                    <a:pt x="0" y="971550"/>
                  </a:lnTo>
                  <a:lnTo>
                    <a:pt x="1244" y="976642"/>
                  </a:lnTo>
                  <a:lnTo>
                    <a:pt x="1244" y="982980"/>
                  </a:lnTo>
                  <a:lnTo>
                    <a:pt x="3810" y="993165"/>
                  </a:lnTo>
                  <a:lnTo>
                    <a:pt x="6337" y="999502"/>
                  </a:lnTo>
                  <a:lnTo>
                    <a:pt x="7620" y="1004595"/>
                  </a:lnTo>
                  <a:lnTo>
                    <a:pt x="10147" y="1009650"/>
                  </a:lnTo>
                  <a:lnTo>
                    <a:pt x="11430" y="1014742"/>
                  </a:lnTo>
                  <a:lnTo>
                    <a:pt x="15240" y="1019835"/>
                  </a:lnTo>
                  <a:lnTo>
                    <a:pt x="17767" y="1024890"/>
                  </a:lnTo>
                  <a:lnTo>
                    <a:pt x="20294" y="1028700"/>
                  </a:lnTo>
                  <a:lnTo>
                    <a:pt x="24104" y="1033792"/>
                  </a:lnTo>
                  <a:lnTo>
                    <a:pt x="35534" y="1045222"/>
                  </a:lnTo>
                  <a:lnTo>
                    <a:pt x="40627" y="1049032"/>
                  </a:lnTo>
                  <a:lnTo>
                    <a:pt x="44437" y="1052842"/>
                  </a:lnTo>
                  <a:lnTo>
                    <a:pt x="49530" y="1055370"/>
                  </a:lnTo>
                  <a:lnTo>
                    <a:pt x="54584" y="1059180"/>
                  </a:lnTo>
                  <a:lnTo>
                    <a:pt x="59677" y="1061745"/>
                  </a:lnTo>
                  <a:lnTo>
                    <a:pt x="63487" y="1064272"/>
                  </a:lnTo>
                  <a:lnTo>
                    <a:pt x="68580" y="1065555"/>
                  </a:lnTo>
                  <a:lnTo>
                    <a:pt x="74917" y="1068082"/>
                  </a:lnTo>
                  <a:lnTo>
                    <a:pt x="90157" y="1071892"/>
                  </a:lnTo>
                  <a:lnTo>
                    <a:pt x="96532" y="1071892"/>
                  </a:lnTo>
                  <a:lnTo>
                    <a:pt x="101574" y="1073162"/>
                  </a:lnTo>
                  <a:lnTo>
                    <a:pt x="1687830" y="1073162"/>
                  </a:lnTo>
                  <a:lnTo>
                    <a:pt x="1692833" y="1071892"/>
                  </a:lnTo>
                  <a:lnTo>
                    <a:pt x="1699260" y="1071892"/>
                  </a:lnTo>
                  <a:lnTo>
                    <a:pt x="1709407" y="1069365"/>
                  </a:lnTo>
                  <a:lnTo>
                    <a:pt x="1715744" y="1068082"/>
                  </a:lnTo>
                  <a:lnTo>
                    <a:pt x="1725930" y="1062990"/>
                  </a:lnTo>
                  <a:lnTo>
                    <a:pt x="1772894" y="1023645"/>
                  </a:lnTo>
                  <a:lnTo>
                    <a:pt x="1788134" y="982980"/>
                  </a:lnTo>
                  <a:lnTo>
                    <a:pt x="1789417" y="976642"/>
                  </a:lnTo>
                  <a:lnTo>
                    <a:pt x="1789417" y="101625"/>
                  </a:lnTo>
                  <a:close/>
                </a:path>
              </a:pathLst>
            </a:custGeom>
            <a:solidFill>
              <a:srgbClr val="4BAB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005352" y="1420172"/>
            <a:ext cx="1228725" cy="82994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47980" marR="5080" indent="-335915">
              <a:lnSpc>
                <a:spcPts val="2970"/>
              </a:lnSpc>
              <a:spcBef>
                <a:spcPts val="520"/>
              </a:spcBef>
            </a:pP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Falha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ou </a:t>
            </a:r>
            <a:r>
              <a:rPr sz="2800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Bug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2428" y="712959"/>
            <a:ext cx="7327521" cy="533479"/>
          </a:xfrm>
          <a:prstGeom prst="rect">
            <a:avLst/>
          </a:prstGeom>
        </p:spPr>
        <p:txBody>
          <a:bodyPr spcFirstLastPara="1" vert="horz" wrap="square" lIns="0" tIns="12700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35" dirty="0">
                <a:latin typeface="Calibri"/>
                <a:cs typeface="Calibri"/>
              </a:rPr>
              <a:t>Entraves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à</a:t>
            </a:r>
            <a:r>
              <a:rPr sz="3300" spc="-10" dirty="0">
                <a:latin typeface="Calibri"/>
                <a:cs typeface="Calibri"/>
              </a:rPr>
              <a:t> qualidade [IEEE610.12-1990]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2856" y="6450074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36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2429" y="1666252"/>
            <a:ext cx="1224280" cy="520700"/>
          </a:xfrm>
          <a:custGeom>
            <a:avLst/>
            <a:gdLst/>
            <a:ahLst/>
            <a:cxnLst/>
            <a:rect l="l" t="t" r="r" b="b"/>
            <a:pathLst>
              <a:path w="1224280" h="520700">
                <a:moveTo>
                  <a:pt x="1224267" y="0"/>
                </a:moveTo>
                <a:lnTo>
                  <a:pt x="0" y="0"/>
                </a:lnTo>
                <a:lnTo>
                  <a:pt x="0" y="520687"/>
                </a:lnTo>
                <a:lnTo>
                  <a:pt x="1224267" y="520687"/>
                </a:lnTo>
                <a:lnTo>
                  <a:pt x="122426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40665" y="1793234"/>
            <a:ext cx="836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5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86711" y="1666252"/>
            <a:ext cx="7562215" cy="520700"/>
          </a:xfrm>
          <a:custGeom>
            <a:avLst/>
            <a:gdLst/>
            <a:ahLst/>
            <a:cxnLst/>
            <a:rect l="l" t="t" r="r" b="b"/>
            <a:pathLst>
              <a:path w="7562215" h="520700">
                <a:moveTo>
                  <a:pt x="7561593" y="0"/>
                </a:moveTo>
                <a:lnTo>
                  <a:pt x="6400787" y="0"/>
                </a:lnTo>
                <a:lnTo>
                  <a:pt x="0" y="0"/>
                </a:lnTo>
                <a:lnTo>
                  <a:pt x="0" y="520700"/>
                </a:lnTo>
                <a:lnTo>
                  <a:pt x="6400787" y="520700"/>
                </a:lnTo>
                <a:lnTo>
                  <a:pt x="7561593" y="520700"/>
                </a:lnTo>
                <a:lnTo>
                  <a:pt x="7561593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64943" y="1807460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20" dirty="0">
                <a:latin typeface="Calibri"/>
                <a:cs typeface="Calibri"/>
              </a:rPr>
              <a:t>cri</a:t>
            </a:r>
            <a:r>
              <a:rPr sz="1800" spc="-45" dirty="0">
                <a:latin typeface="Calibri"/>
                <a:cs typeface="Calibri"/>
              </a:rPr>
              <a:t>ç</a:t>
            </a:r>
            <a:r>
              <a:rPr sz="1800" dirty="0">
                <a:latin typeface="Calibri"/>
                <a:cs typeface="Calibri"/>
              </a:rPr>
              <a:t>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5744" y="1807460"/>
            <a:ext cx="785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30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5" dirty="0">
                <a:latin typeface="Calibri"/>
                <a:cs typeface="Calibri"/>
              </a:rPr>
              <a:t>pt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62429" y="2186939"/>
            <a:ext cx="1224280" cy="897890"/>
          </a:xfrm>
          <a:custGeom>
            <a:avLst/>
            <a:gdLst/>
            <a:ahLst/>
            <a:cxnLst/>
            <a:rect l="l" t="t" r="r" b="b"/>
            <a:pathLst>
              <a:path w="1224280" h="897889">
                <a:moveTo>
                  <a:pt x="1224267" y="0"/>
                </a:moveTo>
                <a:lnTo>
                  <a:pt x="0" y="0"/>
                </a:lnTo>
                <a:lnTo>
                  <a:pt x="0" y="897877"/>
                </a:lnTo>
                <a:lnTo>
                  <a:pt x="1224267" y="897877"/>
                </a:lnTo>
                <a:lnTo>
                  <a:pt x="122426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40438" y="2359148"/>
            <a:ext cx="845185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sz="1800" spc="-30" dirty="0">
                <a:latin typeface="Calibri"/>
                <a:cs typeface="Calibri"/>
              </a:rPr>
              <a:t>Erro 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7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86710" y="2186939"/>
            <a:ext cx="6400800" cy="897890"/>
          </a:xfrm>
          <a:custGeom>
            <a:avLst/>
            <a:gdLst/>
            <a:ahLst/>
            <a:cxnLst/>
            <a:rect l="l" t="t" r="r" b="b"/>
            <a:pathLst>
              <a:path w="6400800" h="897889">
                <a:moveTo>
                  <a:pt x="6400787" y="0"/>
                </a:moveTo>
                <a:lnTo>
                  <a:pt x="0" y="0"/>
                </a:lnTo>
                <a:lnTo>
                  <a:pt x="0" y="897877"/>
                </a:lnTo>
                <a:lnTo>
                  <a:pt x="6400787" y="897877"/>
                </a:lnTo>
                <a:lnTo>
                  <a:pt x="640078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4943" y="2503420"/>
            <a:ext cx="453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Ação </a:t>
            </a:r>
            <a:r>
              <a:rPr sz="1800" spc="-5" dirty="0">
                <a:latin typeface="Calibri"/>
                <a:cs typeface="Calibri"/>
              </a:rPr>
              <a:t>humana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produz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resultado</a:t>
            </a:r>
            <a:r>
              <a:rPr sz="1800" spc="-30" dirty="0">
                <a:latin typeface="Calibri"/>
                <a:cs typeface="Calibri"/>
              </a:rPr>
              <a:t> incorreto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87498" y="2186939"/>
            <a:ext cx="1161415" cy="897890"/>
          </a:xfrm>
          <a:custGeom>
            <a:avLst/>
            <a:gdLst/>
            <a:ahLst/>
            <a:cxnLst/>
            <a:rect l="l" t="t" r="r" b="b"/>
            <a:pathLst>
              <a:path w="1161415" h="897889">
                <a:moveTo>
                  <a:pt x="1160805" y="0"/>
                </a:moveTo>
                <a:lnTo>
                  <a:pt x="0" y="0"/>
                </a:lnTo>
                <a:lnTo>
                  <a:pt x="0" y="897877"/>
                </a:lnTo>
                <a:lnTo>
                  <a:pt x="1160805" y="897877"/>
                </a:lnTo>
                <a:lnTo>
                  <a:pt x="1160805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65749" y="2501896"/>
            <a:ext cx="732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45" dirty="0">
                <a:latin typeface="Calibri"/>
                <a:cs typeface="Calibri"/>
              </a:rPr>
              <a:t>Mistake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62429" y="3084818"/>
            <a:ext cx="1224280" cy="1282065"/>
          </a:xfrm>
          <a:custGeom>
            <a:avLst/>
            <a:gdLst/>
            <a:ahLst/>
            <a:cxnLst/>
            <a:rect l="l" t="t" r="r" b="b"/>
            <a:pathLst>
              <a:path w="1224280" h="1282064">
                <a:moveTo>
                  <a:pt x="1224267" y="0"/>
                </a:moveTo>
                <a:lnTo>
                  <a:pt x="0" y="0"/>
                </a:lnTo>
                <a:lnTo>
                  <a:pt x="0" y="1281442"/>
                </a:lnTo>
                <a:lnTo>
                  <a:pt x="1224267" y="1281442"/>
                </a:lnTo>
                <a:lnTo>
                  <a:pt x="122426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40665" y="3591557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95" dirty="0">
                <a:latin typeface="Calibri"/>
                <a:cs typeface="Calibri"/>
              </a:rPr>
              <a:t>F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86710" y="3084818"/>
            <a:ext cx="6400800" cy="1282065"/>
          </a:xfrm>
          <a:custGeom>
            <a:avLst/>
            <a:gdLst/>
            <a:ahLst/>
            <a:cxnLst/>
            <a:rect l="l" t="t" r="r" b="b"/>
            <a:pathLst>
              <a:path w="6400800" h="1282064">
                <a:moveTo>
                  <a:pt x="6400787" y="0"/>
                </a:moveTo>
                <a:lnTo>
                  <a:pt x="0" y="0"/>
                </a:lnTo>
                <a:lnTo>
                  <a:pt x="0" y="1281442"/>
                </a:lnTo>
                <a:lnTo>
                  <a:pt x="6400787" y="1281442"/>
                </a:lnTo>
                <a:lnTo>
                  <a:pt x="640078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64029" y="3310380"/>
            <a:ext cx="5335905" cy="8591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635">
              <a:lnSpc>
                <a:spcPct val="102000"/>
              </a:lnSpc>
              <a:spcBef>
                <a:spcPts val="55"/>
              </a:spcBef>
            </a:pPr>
            <a:r>
              <a:rPr sz="1800" spc="-25" dirty="0">
                <a:latin typeface="Calibri"/>
                <a:cs typeface="Calibri"/>
              </a:rPr>
              <a:t>Incorreção</a:t>
            </a:r>
            <a:r>
              <a:rPr sz="1800" spc="-5" dirty="0">
                <a:latin typeface="Calibri"/>
                <a:cs typeface="Calibri"/>
              </a:rPr>
              <a:t> num </a:t>
            </a:r>
            <a:r>
              <a:rPr sz="1800" spc="-15" dirty="0">
                <a:latin typeface="Calibri"/>
                <a:cs typeface="Calibri"/>
              </a:rPr>
              <a:t>passo,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processo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definição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dados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Manifestação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20" dirty="0">
                <a:latin typeface="Calibri"/>
                <a:cs typeface="Calibri"/>
              </a:rPr>
              <a:t>software </a:t>
            </a:r>
            <a:r>
              <a:rPr sz="1800" dirty="0">
                <a:latin typeface="Calibri"/>
                <a:cs typeface="Calibri"/>
              </a:rPr>
              <a:t>de um </a:t>
            </a:r>
            <a:r>
              <a:rPr sz="1800" spc="-15" dirty="0">
                <a:latin typeface="Calibri"/>
                <a:cs typeface="Calibri"/>
              </a:rPr>
              <a:t>engano </a:t>
            </a:r>
            <a:r>
              <a:rPr sz="1800" spc="-20" dirty="0">
                <a:latin typeface="Calibri"/>
                <a:cs typeface="Calibri"/>
              </a:rPr>
              <a:t>cometido </a:t>
            </a:r>
            <a:r>
              <a:rPr sz="1800" spc="-5" dirty="0">
                <a:latin typeface="Calibri"/>
                <a:cs typeface="Calibri"/>
              </a:rPr>
              <a:t>pelo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desenvolvedor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87498" y="3084818"/>
            <a:ext cx="1161415" cy="1282065"/>
          </a:xfrm>
          <a:custGeom>
            <a:avLst/>
            <a:gdLst/>
            <a:ahLst/>
            <a:cxnLst/>
            <a:rect l="l" t="t" r="r" b="b"/>
            <a:pathLst>
              <a:path w="1161415" h="1282064">
                <a:moveTo>
                  <a:pt x="1160805" y="0"/>
                </a:moveTo>
                <a:lnTo>
                  <a:pt x="0" y="0"/>
                </a:lnTo>
                <a:lnTo>
                  <a:pt x="0" y="1281442"/>
                </a:lnTo>
                <a:lnTo>
                  <a:pt x="1160805" y="1281442"/>
                </a:lnTo>
                <a:lnTo>
                  <a:pt x="1160805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65749" y="3448809"/>
            <a:ext cx="509905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635">
              <a:lnSpc>
                <a:spcPct val="101699"/>
              </a:lnSpc>
              <a:spcBef>
                <a:spcPts val="60"/>
              </a:spcBef>
            </a:pPr>
            <a:r>
              <a:rPr sz="1800" spc="-20" dirty="0">
                <a:latin typeface="Calibri"/>
                <a:cs typeface="Calibri"/>
              </a:rPr>
              <a:t>Fault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g)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62429" y="4366259"/>
            <a:ext cx="1224280" cy="1282700"/>
          </a:xfrm>
          <a:custGeom>
            <a:avLst/>
            <a:gdLst/>
            <a:ahLst/>
            <a:cxnLst/>
            <a:rect l="l" t="t" r="r" b="b"/>
            <a:pathLst>
              <a:path w="1224280" h="1282700">
                <a:moveTo>
                  <a:pt x="1224267" y="0"/>
                </a:moveTo>
                <a:lnTo>
                  <a:pt x="0" y="0"/>
                </a:lnTo>
                <a:lnTo>
                  <a:pt x="0" y="1282700"/>
                </a:lnTo>
                <a:lnTo>
                  <a:pt x="1224267" y="1282700"/>
                </a:lnTo>
                <a:lnTo>
                  <a:pt x="122426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40665" y="4874257"/>
            <a:ext cx="40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6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86710" y="4366259"/>
            <a:ext cx="6400800" cy="1282700"/>
          </a:xfrm>
          <a:custGeom>
            <a:avLst/>
            <a:gdLst/>
            <a:ahLst/>
            <a:cxnLst/>
            <a:rect l="l" t="t" r="r" b="b"/>
            <a:pathLst>
              <a:path w="6400800" h="1282700">
                <a:moveTo>
                  <a:pt x="6400787" y="0"/>
                </a:moveTo>
                <a:lnTo>
                  <a:pt x="0" y="0"/>
                </a:lnTo>
                <a:lnTo>
                  <a:pt x="0" y="1282700"/>
                </a:lnTo>
                <a:lnTo>
                  <a:pt x="6400787" y="1282700"/>
                </a:lnTo>
                <a:lnTo>
                  <a:pt x="640078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63800" y="4596381"/>
            <a:ext cx="60261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ts val="214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Diferença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entre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valor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obtido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valor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esperado</a:t>
            </a:r>
            <a:endParaRPr sz="1800">
              <a:latin typeface="Calibri"/>
              <a:cs typeface="Calibri"/>
            </a:endParaRPr>
          </a:p>
          <a:p>
            <a:pPr marL="12700" marR="5080" indent="635">
              <a:lnSpc>
                <a:spcPts val="2200"/>
              </a:lnSpc>
              <a:spcBef>
                <a:spcPts val="20"/>
              </a:spcBef>
            </a:pPr>
            <a:r>
              <a:rPr sz="1800" spc="-10" dirty="0">
                <a:latin typeface="Calibri"/>
                <a:cs typeface="Calibri"/>
              </a:rPr>
              <a:t>Qualquer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estado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intermediário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incorreto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resultado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inesperado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execução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software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287498" y="4366259"/>
            <a:ext cx="1161415" cy="1282700"/>
          </a:xfrm>
          <a:custGeom>
            <a:avLst/>
            <a:gdLst/>
            <a:ahLst/>
            <a:cxnLst/>
            <a:rect l="l" t="t" r="r" b="b"/>
            <a:pathLst>
              <a:path w="1161415" h="1282700">
                <a:moveTo>
                  <a:pt x="1160805" y="0"/>
                </a:moveTo>
                <a:lnTo>
                  <a:pt x="0" y="0"/>
                </a:lnTo>
                <a:lnTo>
                  <a:pt x="0" y="1282700"/>
                </a:lnTo>
                <a:lnTo>
                  <a:pt x="1160805" y="1282700"/>
                </a:lnTo>
                <a:lnTo>
                  <a:pt x="1160805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65749" y="4874257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65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62429" y="5648959"/>
            <a:ext cx="1224280" cy="899160"/>
          </a:xfrm>
          <a:custGeom>
            <a:avLst/>
            <a:gdLst/>
            <a:ahLst/>
            <a:cxnLst/>
            <a:rect l="l" t="t" r="r" b="b"/>
            <a:pathLst>
              <a:path w="1224280" h="899159">
                <a:moveTo>
                  <a:pt x="1224267" y="0"/>
                </a:moveTo>
                <a:lnTo>
                  <a:pt x="0" y="0"/>
                </a:lnTo>
                <a:lnTo>
                  <a:pt x="0" y="899159"/>
                </a:lnTo>
                <a:lnTo>
                  <a:pt x="1224267" y="899159"/>
                </a:lnTo>
                <a:lnTo>
                  <a:pt x="122426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740666" y="5965192"/>
            <a:ext cx="690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</a:t>
            </a:r>
            <a:r>
              <a:rPr sz="1800" spc="-35" dirty="0">
                <a:latin typeface="Calibri"/>
                <a:cs typeface="Calibri"/>
              </a:rPr>
              <a:t>e</a:t>
            </a:r>
            <a:r>
              <a:rPr sz="1800" spc="-95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4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86710" y="5648959"/>
            <a:ext cx="6400800" cy="899160"/>
          </a:xfrm>
          <a:custGeom>
            <a:avLst/>
            <a:gdLst/>
            <a:ahLst/>
            <a:cxnLst/>
            <a:rect l="l" t="t" r="r" b="b"/>
            <a:pathLst>
              <a:path w="6400800" h="899159">
                <a:moveTo>
                  <a:pt x="6400787" y="0"/>
                </a:moveTo>
                <a:lnTo>
                  <a:pt x="0" y="0"/>
                </a:lnTo>
                <a:lnTo>
                  <a:pt x="0" y="899159"/>
                </a:lnTo>
                <a:lnTo>
                  <a:pt x="6400787" y="899159"/>
                </a:lnTo>
                <a:lnTo>
                  <a:pt x="6400787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964257" y="5819389"/>
            <a:ext cx="530098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635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Calibri"/>
                <a:cs typeface="Calibri"/>
              </a:rPr>
              <a:t>Incapacidade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20" dirty="0">
                <a:latin typeface="Calibri"/>
                <a:cs typeface="Calibri"/>
              </a:rPr>
              <a:t>software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fornecer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5" dirty="0">
                <a:latin typeface="Calibri"/>
                <a:cs typeface="Calibri"/>
              </a:rPr>
              <a:t>serviço </a:t>
            </a:r>
            <a:r>
              <a:rPr sz="1800" spc="-30" dirty="0">
                <a:latin typeface="Calibri"/>
                <a:cs typeface="Calibri"/>
              </a:rPr>
              <a:t>conforme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especificado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287498" y="5648959"/>
            <a:ext cx="1161415" cy="899160"/>
          </a:xfrm>
          <a:custGeom>
            <a:avLst/>
            <a:gdLst/>
            <a:ahLst/>
            <a:cxnLst/>
            <a:rect l="l" t="t" r="r" b="b"/>
            <a:pathLst>
              <a:path w="1161415" h="899159">
                <a:moveTo>
                  <a:pt x="1160805" y="0"/>
                </a:moveTo>
                <a:lnTo>
                  <a:pt x="0" y="0"/>
                </a:lnTo>
                <a:lnTo>
                  <a:pt x="0" y="899159"/>
                </a:lnTo>
                <a:lnTo>
                  <a:pt x="1160805" y="899159"/>
                </a:lnTo>
                <a:lnTo>
                  <a:pt x="1160805" y="0"/>
                </a:lnTo>
                <a:close/>
              </a:path>
            </a:pathLst>
          </a:custGeom>
          <a:solidFill>
            <a:srgbClr val="719E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65748" y="5965192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95" dirty="0">
                <a:latin typeface="Calibri"/>
                <a:cs typeface="Calibri"/>
              </a:rPr>
              <a:t>F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6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1448" y="539812"/>
            <a:ext cx="6172250" cy="640560"/>
          </a:xfrm>
          <a:prstGeom prst="rect">
            <a:avLst/>
          </a:prstGeom>
        </p:spPr>
        <p:txBody>
          <a:bodyPr spcFirstLastPara="1" vert="horz" wrap="square" lIns="0" tIns="1206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Calibri"/>
                <a:cs typeface="Calibri"/>
              </a:rPr>
              <a:t>Certificações</a:t>
            </a:r>
            <a:r>
              <a:rPr sz="4000" spc="-4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de</a:t>
            </a:r>
            <a:r>
              <a:rPr sz="4000" spc="-4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qualidade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0362" y="1631865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1126" y="2292314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362200" y="1427809"/>
            <a:ext cx="10515600" cy="1437573"/>
          </a:xfrm>
          <a:prstGeom prst="rect">
            <a:avLst/>
          </a:prstGeom>
        </p:spPr>
        <p:txBody>
          <a:bodyPr spcFirstLastPara="1" vert="horz" wrap="square" lIns="0" tIns="24130" rIns="0" bIns="0" rtlCol="0" anchor="t" anchorCtr="0">
            <a:spAutoFit/>
          </a:bodyPr>
          <a:lstStyle/>
          <a:p>
            <a:pPr marL="12700" marR="53340" indent="-635">
              <a:lnSpc>
                <a:spcPts val="2390"/>
              </a:lnSpc>
              <a:spcBef>
                <a:spcPts val="190"/>
              </a:spcBef>
            </a:pPr>
            <a:r>
              <a:rPr spc="-5" dirty="0"/>
              <a:t>Além</a:t>
            </a:r>
            <a:r>
              <a:rPr spc="-30" dirty="0"/>
              <a:t> </a:t>
            </a:r>
            <a:r>
              <a:rPr dirty="0"/>
              <a:t>da </a:t>
            </a:r>
            <a:r>
              <a:rPr spc="-5" dirty="0"/>
              <a:t>qualidade</a:t>
            </a:r>
            <a:r>
              <a:rPr spc="-10" dirty="0"/>
              <a:t> </a:t>
            </a:r>
            <a:r>
              <a:rPr spc="-70" dirty="0"/>
              <a:t>existir,</a:t>
            </a:r>
            <a:r>
              <a:rPr spc="5" dirty="0"/>
              <a:t> </a:t>
            </a:r>
            <a:r>
              <a:rPr spc="-10" dirty="0"/>
              <a:t>ela</a:t>
            </a:r>
            <a:r>
              <a:rPr spc="25" dirty="0"/>
              <a:t> </a:t>
            </a:r>
            <a:r>
              <a:rPr spc="-30" dirty="0"/>
              <a:t>deve</a:t>
            </a:r>
            <a:r>
              <a:rPr dirty="0"/>
              <a:t> </a:t>
            </a:r>
            <a:r>
              <a:rPr spc="-10" dirty="0"/>
              <a:t>ser</a:t>
            </a:r>
            <a:r>
              <a:rPr dirty="0"/>
              <a:t> </a:t>
            </a:r>
            <a:r>
              <a:rPr spc="-15" dirty="0"/>
              <a:t>reconhecida</a:t>
            </a:r>
            <a:r>
              <a:rPr dirty="0"/>
              <a:t> </a:t>
            </a:r>
            <a:r>
              <a:rPr spc="-10" dirty="0"/>
              <a:t>pelo </a:t>
            </a:r>
            <a:r>
              <a:rPr spc="-434" dirty="0"/>
              <a:t> </a:t>
            </a:r>
            <a:r>
              <a:rPr spc="-20" dirty="0"/>
              <a:t>cliente</a:t>
            </a:r>
          </a:p>
          <a:p>
            <a:pPr marL="12700" marR="5080" indent="-635">
              <a:lnSpc>
                <a:spcPct val="100000"/>
              </a:lnSpc>
              <a:spcBef>
                <a:spcPts val="330"/>
              </a:spcBef>
            </a:pPr>
            <a:r>
              <a:rPr dirty="0"/>
              <a:t>As </a:t>
            </a:r>
            <a:r>
              <a:rPr spc="-15" dirty="0"/>
              <a:t>certificações </a:t>
            </a:r>
            <a:r>
              <a:rPr dirty="0"/>
              <a:t>de </a:t>
            </a:r>
            <a:r>
              <a:rPr spc="-5" dirty="0"/>
              <a:t>qualidade </a:t>
            </a:r>
            <a:r>
              <a:rPr dirty="0"/>
              <a:t>são </a:t>
            </a:r>
            <a:r>
              <a:rPr spc="-10" dirty="0"/>
              <a:t>emitidas </a:t>
            </a:r>
            <a:r>
              <a:rPr spc="-15" dirty="0"/>
              <a:t>com </a:t>
            </a:r>
            <a:r>
              <a:rPr dirty="0"/>
              <a:t>base </a:t>
            </a:r>
            <a:r>
              <a:rPr spc="-5" dirty="0"/>
              <a:t>em </a:t>
            </a:r>
            <a:r>
              <a:rPr spc="-440" dirty="0"/>
              <a:t> </a:t>
            </a:r>
            <a:r>
              <a:rPr spc="-15" dirty="0"/>
              <a:t>padrões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num</a:t>
            </a:r>
            <a:r>
              <a:rPr spc="-40" dirty="0"/>
              <a:t> </a:t>
            </a:r>
            <a:r>
              <a:rPr spc="-15" dirty="0"/>
              <a:t>processo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15" dirty="0"/>
              <a:t>certificação</a:t>
            </a:r>
          </a:p>
          <a:p>
            <a:pPr marL="128270">
              <a:lnSpc>
                <a:spcPct val="100000"/>
              </a:lnSpc>
              <a:spcBef>
                <a:spcPts val="229"/>
              </a:spcBef>
              <a:tabLst>
                <a:tab pos="412115" algn="l"/>
              </a:tabLst>
            </a:pPr>
            <a:r>
              <a:rPr sz="2700" spc="-7" baseline="4629" dirty="0">
                <a:solidFill>
                  <a:srgbClr val="FF0000"/>
                </a:solidFill>
                <a:latin typeface="Arial MT"/>
                <a:cs typeface="Arial MT"/>
              </a:rPr>
              <a:t>–	</a:t>
            </a:r>
            <a:r>
              <a:rPr sz="1800" spc="-15" dirty="0"/>
              <a:t>INMETRO:</a:t>
            </a:r>
            <a:r>
              <a:rPr sz="1800" dirty="0"/>
              <a:t> </a:t>
            </a:r>
            <a:r>
              <a:rPr sz="1800" spc="-20" dirty="0"/>
              <a:t>Responsável</a:t>
            </a:r>
            <a:r>
              <a:rPr sz="1800" spc="-35" dirty="0"/>
              <a:t> </a:t>
            </a:r>
            <a:r>
              <a:rPr sz="1800" spc="-5" dirty="0"/>
              <a:t>pelas </a:t>
            </a:r>
            <a:r>
              <a:rPr sz="1800" spc="-20" dirty="0"/>
              <a:t>instituições</a:t>
            </a:r>
            <a:r>
              <a:rPr sz="1800" spc="10" dirty="0"/>
              <a:t> </a:t>
            </a:r>
            <a:r>
              <a:rPr sz="1800" dirty="0"/>
              <a:t>de</a:t>
            </a:r>
            <a:r>
              <a:rPr sz="1800" spc="-10" dirty="0"/>
              <a:t> </a:t>
            </a:r>
            <a:r>
              <a:rPr sz="1800" spc="-20" dirty="0"/>
              <a:t>certificação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0362" y="3272708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9ABA59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1911" y="3292814"/>
            <a:ext cx="10642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0" dirty="0">
                <a:latin typeface="Calibri"/>
                <a:cs typeface="Calibri"/>
              </a:rPr>
              <a:t>Exemplos: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2162" y="3608858"/>
            <a:ext cx="6346190" cy="19151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21945" indent="-284480">
              <a:spcBef>
                <a:spcPts val="345"/>
              </a:spcBef>
              <a:buClr>
                <a:srgbClr val="FF0000"/>
              </a:buClr>
              <a:buFont typeface="Arial MT"/>
              <a:buChar char="–"/>
              <a:tabLst>
                <a:tab pos="321945" algn="l"/>
                <a:tab pos="322580" algn="l"/>
              </a:tabLst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selo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(Serviço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Inspeção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Federal)</a:t>
            </a:r>
            <a:endParaRPr sz="1800" dirty="0">
              <a:latin typeface="Calibri"/>
              <a:cs typeface="Calibri"/>
            </a:endParaRPr>
          </a:p>
          <a:p>
            <a:pPr marL="321945" indent="-284480">
              <a:spcBef>
                <a:spcPts val="245"/>
              </a:spcBef>
              <a:buClr>
                <a:srgbClr val="FF0000"/>
              </a:buClr>
              <a:buFont typeface="Arial MT"/>
              <a:buChar char="–"/>
              <a:tabLst>
                <a:tab pos="321945" algn="l"/>
                <a:tab pos="322580" algn="l"/>
              </a:tabLst>
            </a:pPr>
            <a:r>
              <a:rPr sz="2700" baseline="1543" dirty="0">
                <a:latin typeface="Calibri"/>
                <a:cs typeface="Calibri"/>
              </a:rPr>
              <a:t>O</a:t>
            </a:r>
            <a:r>
              <a:rPr sz="2700" spc="-7" baseline="1543" dirty="0">
                <a:latin typeface="Calibri"/>
                <a:cs typeface="Calibri"/>
              </a:rPr>
              <a:t> </a:t>
            </a:r>
            <a:r>
              <a:rPr sz="2700" spc="-15" baseline="1543" dirty="0">
                <a:latin typeface="Calibri"/>
                <a:cs typeface="Calibri"/>
              </a:rPr>
              <a:t>selo</a:t>
            </a:r>
            <a:r>
              <a:rPr sz="2700" spc="-22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da </a:t>
            </a:r>
            <a:r>
              <a:rPr sz="2700" spc="-15" baseline="1543" dirty="0">
                <a:latin typeface="Calibri"/>
                <a:cs typeface="Calibri"/>
              </a:rPr>
              <a:t>ABIC</a:t>
            </a:r>
            <a:r>
              <a:rPr sz="2700" spc="-52" baseline="1543" dirty="0">
                <a:latin typeface="Calibri"/>
                <a:cs typeface="Calibri"/>
              </a:rPr>
              <a:t> </a:t>
            </a:r>
            <a:r>
              <a:rPr sz="2700" spc="-15" baseline="1543" dirty="0">
                <a:latin typeface="Calibri"/>
                <a:cs typeface="Calibri"/>
              </a:rPr>
              <a:t>(Associação</a:t>
            </a:r>
            <a:r>
              <a:rPr sz="2700" spc="-37" baseline="1543" dirty="0">
                <a:latin typeface="Calibri"/>
                <a:cs typeface="Calibri"/>
              </a:rPr>
              <a:t> Brasileira</a:t>
            </a:r>
            <a:r>
              <a:rPr sz="2700" spc="-44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da </a:t>
            </a:r>
            <a:r>
              <a:rPr sz="2700" spc="-22" baseline="1543" dirty="0">
                <a:latin typeface="Calibri"/>
                <a:cs typeface="Calibri"/>
              </a:rPr>
              <a:t>Indústria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de </a:t>
            </a:r>
            <a:r>
              <a:rPr sz="2700" spc="-44" baseline="1543" dirty="0">
                <a:latin typeface="Calibri"/>
                <a:cs typeface="Calibri"/>
              </a:rPr>
              <a:t>Café)</a:t>
            </a:r>
            <a:endParaRPr sz="2700" baseline="1543" dirty="0">
              <a:latin typeface="Calibri"/>
              <a:cs typeface="Calibri"/>
            </a:endParaRPr>
          </a:p>
          <a:p>
            <a:pPr marL="321310" indent="-283845">
              <a:spcBef>
                <a:spcPts val="409"/>
              </a:spcBef>
              <a:buClr>
                <a:srgbClr val="FF0000"/>
              </a:buClr>
              <a:buFont typeface="Arial MT"/>
              <a:buChar char="–"/>
              <a:tabLst>
                <a:tab pos="321310" algn="l"/>
                <a:tab pos="321945" algn="l"/>
              </a:tabLst>
            </a:pPr>
            <a:r>
              <a:rPr sz="2700" baseline="3086" dirty="0">
                <a:latin typeface="Calibri"/>
                <a:cs typeface="Calibri"/>
              </a:rPr>
              <a:t>A</a:t>
            </a:r>
            <a:r>
              <a:rPr sz="2700" spc="-44" baseline="3086" dirty="0">
                <a:latin typeface="Calibri"/>
                <a:cs typeface="Calibri"/>
              </a:rPr>
              <a:t> </a:t>
            </a:r>
            <a:r>
              <a:rPr sz="2700" spc="-22" baseline="3086" dirty="0">
                <a:latin typeface="Calibri"/>
                <a:cs typeface="Calibri"/>
              </a:rPr>
              <a:t>classificação</a:t>
            </a:r>
            <a:r>
              <a:rPr sz="2700" spc="-44" baseline="3086" dirty="0">
                <a:latin typeface="Calibri"/>
                <a:cs typeface="Calibri"/>
              </a:rPr>
              <a:t> </a:t>
            </a:r>
            <a:r>
              <a:rPr sz="2700" spc="-7" baseline="3086" dirty="0">
                <a:latin typeface="Calibri"/>
                <a:cs typeface="Calibri"/>
              </a:rPr>
              <a:t>em</a:t>
            </a:r>
            <a:r>
              <a:rPr sz="2700" spc="-30" baseline="3086" dirty="0">
                <a:latin typeface="Calibri"/>
                <a:cs typeface="Calibri"/>
              </a:rPr>
              <a:t> estrelas</a:t>
            </a:r>
            <a:r>
              <a:rPr sz="2700" spc="-22" baseline="3086" dirty="0">
                <a:latin typeface="Calibri"/>
                <a:cs typeface="Calibri"/>
              </a:rPr>
              <a:t> </a:t>
            </a:r>
            <a:r>
              <a:rPr sz="2700" spc="-7" baseline="3086" dirty="0">
                <a:latin typeface="Calibri"/>
                <a:cs typeface="Calibri"/>
              </a:rPr>
              <a:t>dos</a:t>
            </a:r>
            <a:r>
              <a:rPr sz="2700" spc="-37" baseline="3086" dirty="0">
                <a:latin typeface="Calibri"/>
                <a:cs typeface="Calibri"/>
              </a:rPr>
              <a:t> </a:t>
            </a:r>
            <a:r>
              <a:rPr sz="2700" spc="-22" baseline="3086" dirty="0">
                <a:latin typeface="Calibri"/>
                <a:cs typeface="Calibri"/>
              </a:rPr>
              <a:t>hotéis</a:t>
            </a:r>
            <a:r>
              <a:rPr sz="2700" baseline="3086" dirty="0">
                <a:latin typeface="Calibri"/>
                <a:cs typeface="Calibri"/>
              </a:rPr>
              <a:t> </a:t>
            </a:r>
            <a:r>
              <a:rPr sz="2700" spc="22" baseline="3086" dirty="0">
                <a:latin typeface="Calibri"/>
                <a:cs typeface="Calibri"/>
              </a:rPr>
              <a:t>(</a:t>
            </a:r>
            <a:r>
              <a:rPr sz="2700" spc="22" baseline="3086" dirty="0">
                <a:latin typeface="Wingdings"/>
                <a:cs typeface="Wingdings"/>
              </a:rPr>
              <a:t></a:t>
            </a:r>
            <a:r>
              <a:rPr sz="2700" spc="-60" baseline="3086" dirty="0">
                <a:latin typeface="Times New Roman"/>
                <a:cs typeface="Times New Roman"/>
              </a:rPr>
              <a:t> </a:t>
            </a:r>
            <a:r>
              <a:rPr sz="2700" baseline="3086" dirty="0">
                <a:latin typeface="Wingdings"/>
                <a:cs typeface="Wingdings"/>
              </a:rPr>
              <a:t></a:t>
            </a:r>
            <a:r>
              <a:rPr sz="2700" spc="-89" baseline="3086" dirty="0">
                <a:latin typeface="Times New Roman"/>
                <a:cs typeface="Times New Roman"/>
              </a:rPr>
              <a:t> </a:t>
            </a:r>
            <a:r>
              <a:rPr sz="2700" baseline="3086" dirty="0">
                <a:latin typeface="Wingdings"/>
                <a:cs typeface="Wingdings"/>
              </a:rPr>
              <a:t></a:t>
            </a:r>
            <a:r>
              <a:rPr sz="2700" baseline="3086" dirty="0">
                <a:latin typeface="Calibri"/>
                <a:cs typeface="Calibri"/>
              </a:rPr>
              <a:t>)</a:t>
            </a:r>
          </a:p>
          <a:p>
            <a:pPr marL="321310" indent="-283845">
              <a:spcBef>
                <a:spcPts val="280"/>
              </a:spcBef>
              <a:buClr>
                <a:srgbClr val="FF0000"/>
              </a:buClr>
              <a:buFont typeface="Arial MT"/>
              <a:buChar char="–"/>
              <a:tabLst>
                <a:tab pos="321310" algn="l"/>
                <a:tab pos="321945" algn="l"/>
              </a:tabLst>
            </a:pPr>
            <a:r>
              <a:rPr sz="1800" spc="-15" dirty="0">
                <a:latin typeface="Calibri"/>
                <a:cs typeface="Calibri"/>
              </a:rPr>
              <a:t>Certificados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ISO</a:t>
            </a:r>
            <a:r>
              <a:rPr sz="1800" spc="-20" dirty="0">
                <a:latin typeface="Calibri"/>
                <a:cs typeface="Calibri"/>
              </a:rPr>
              <a:t> (</a:t>
            </a:r>
            <a:r>
              <a:rPr sz="1800" i="1" spc="-20" dirty="0">
                <a:latin typeface="Calibri"/>
                <a:cs typeface="Calibri"/>
              </a:rPr>
              <a:t>International</a:t>
            </a:r>
            <a:r>
              <a:rPr sz="1800" i="1" spc="2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Organization</a:t>
            </a:r>
            <a:r>
              <a:rPr sz="1800" i="1" spc="3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for Standardization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321945" indent="-284480">
              <a:spcBef>
                <a:spcPts val="375"/>
              </a:spcBef>
              <a:buClr>
                <a:srgbClr val="FF0000"/>
              </a:buClr>
              <a:buFont typeface="Arial MT"/>
              <a:buChar char="–"/>
              <a:tabLst>
                <a:tab pos="321945" algn="l"/>
                <a:tab pos="322580" algn="l"/>
              </a:tabLst>
            </a:pPr>
            <a:r>
              <a:rPr sz="1800" spc="-15" dirty="0">
                <a:latin typeface="Calibri"/>
                <a:cs typeface="Calibri"/>
              </a:rPr>
              <a:t>Certificados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IEEE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(Institute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Electrical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Electronics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Engineers)</a:t>
            </a:r>
            <a:endParaRPr sz="1800" dirty="0">
              <a:latin typeface="Calibri"/>
              <a:cs typeface="Calibri"/>
            </a:endParaRPr>
          </a:p>
          <a:p>
            <a:pPr marL="323215" indent="-285750">
              <a:spcBef>
                <a:spcPts val="360"/>
              </a:spcBef>
              <a:buClr>
                <a:srgbClr val="FF0000"/>
              </a:buClr>
              <a:buFont typeface="Arial MT"/>
              <a:buChar char="–"/>
              <a:tabLst>
                <a:tab pos="323215" algn="l"/>
                <a:tab pos="323850" algn="l"/>
              </a:tabLst>
            </a:pPr>
            <a:r>
              <a:rPr sz="1800" spc="-15" dirty="0">
                <a:latin typeface="Calibri"/>
                <a:cs typeface="Calibri"/>
              </a:rPr>
              <a:t>Certificados</a:t>
            </a:r>
            <a:r>
              <a:rPr sz="1800" spc="-20" dirty="0">
                <a:latin typeface="Calibri"/>
                <a:cs typeface="Calibri"/>
              </a:rPr>
              <a:t> INMETRO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(Instituto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Nacional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Metrologia)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5099" y="2420609"/>
            <a:ext cx="1353819" cy="126618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63392" y="4076701"/>
            <a:ext cx="1367786" cy="110108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99742" y="5373371"/>
            <a:ext cx="2513327" cy="11506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4278" y="5518151"/>
            <a:ext cx="2592068" cy="9207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28468" y="5518150"/>
            <a:ext cx="850898" cy="98043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2197" y="774689"/>
            <a:ext cx="5982335" cy="513715"/>
          </a:xfrm>
          <a:prstGeom prst="rect">
            <a:avLst/>
          </a:prstGeom>
        </p:spPr>
        <p:txBody>
          <a:bodyPr spcFirstLastPara="1" vert="horz" wrap="square" lIns="0" tIns="13335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"/>
                <a:cs typeface="Calibri"/>
              </a:rPr>
              <a:t>Técnicas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aplicadas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durante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projeto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90801" y="2349551"/>
            <a:ext cx="6804659" cy="3730625"/>
            <a:chOff x="1187446" y="2376161"/>
            <a:chExt cx="6804659" cy="3730625"/>
          </a:xfrm>
        </p:grpSpPr>
        <p:sp>
          <p:nvSpPr>
            <p:cNvPr id="4" name="object 4"/>
            <p:cNvSpPr/>
            <p:nvPr/>
          </p:nvSpPr>
          <p:spPr>
            <a:xfrm>
              <a:off x="1187437" y="2399029"/>
              <a:ext cx="5443855" cy="815340"/>
            </a:xfrm>
            <a:custGeom>
              <a:avLst/>
              <a:gdLst/>
              <a:ahLst/>
              <a:cxnLst/>
              <a:rect l="l" t="t" r="r" b="b"/>
              <a:pathLst>
                <a:path w="5443855" h="815339">
                  <a:moveTo>
                    <a:pt x="5443232" y="72377"/>
                  </a:moveTo>
                  <a:lnTo>
                    <a:pt x="5441950" y="68567"/>
                  </a:lnTo>
                  <a:lnTo>
                    <a:pt x="5441950" y="63512"/>
                  </a:lnTo>
                  <a:lnTo>
                    <a:pt x="5438140" y="52082"/>
                  </a:lnTo>
                  <a:lnTo>
                    <a:pt x="5435612" y="48272"/>
                  </a:lnTo>
                  <a:lnTo>
                    <a:pt x="5433047" y="40652"/>
                  </a:lnTo>
                  <a:lnTo>
                    <a:pt x="5427992" y="33032"/>
                  </a:lnTo>
                  <a:lnTo>
                    <a:pt x="5425427" y="30467"/>
                  </a:lnTo>
                  <a:lnTo>
                    <a:pt x="5422900" y="26657"/>
                  </a:lnTo>
                  <a:lnTo>
                    <a:pt x="5416562" y="20320"/>
                  </a:lnTo>
                  <a:lnTo>
                    <a:pt x="5412752" y="17792"/>
                  </a:lnTo>
                  <a:lnTo>
                    <a:pt x="5410187" y="15227"/>
                  </a:lnTo>
                  <a:lnTo>
                    <a:pt x="5402567" y="10172"/>
                  </a:lnTo>
                  <a:lnTo>
                    <a:pt x="5398757" y="8890"/>
                  </a:lnTo>
                  <a:lnTo>
                    <a:pt x="5394947" y="6362"/>
                  </a:lnTo>
                  <a:lnTo>
                    <a:pt x="5383517" y="2552"/>
                  </a:lnTo>
                  <a:lnTo>
                    <a:pt x="5378462" y="1270"/>
                  </a:lnTo>
                  <a:lnTo>
                    <a:pt x="5374614" y="1270"/>
                  </a:lnTo>
                  <a:lnTo>
                    <a:pt x="5370842" y="0"/>
                  </a:lnTo>
                  <a:lnTo>
                    <a:pt x="72390" y="0"/>
                  </a:lnTo>
                  <a:lnTo>
                    <a:pt x="68592" y="1270"/>
                  </a:lnTo>
                  <a:lnTo>
                    <a:pt x="64770" y="1270"/>
                  </a:lnTo>
                  <a:lnTo>
                    <a:pt x="59702" y="2552"/>
                  </a:lnTo>
                  <a:lnTo>
                    <a:pt x="48272" y="6362"/>
                  </a:lnTo>
                  <a:lnTo>
                    <a:pt x="44462" y="8890"/>
                  </a:lnTo>
                  <a:lnTo>
                    <a:pt x="40652" y="10172"/>
                  </a:lnTo>
                  <a:lnTo>
                    <a:pt x="33032" y="15227"/>
                  </a:lnTo>
                  <a:lnTo>
                    <a:pt x="30480" y="17792"/>
                  </a:lnTo>
                  <a:lnTo>
                    <a:pt x="26670" y="20320"/>
                  </a:lnTo>
                  <a:lnTo>
                    <a:pt x="20320" y="26657"/>
                  </a:lnTo>
                  <a:lnTo>
                    <a:pt x="17792" y="30467"/>
                  </a:lnTo>
                  <a:lnTo>
                    <a:pt x="15240" y="33032"/>
                  </a:lnTo>
                  <a:lnTo>
                    <a:pt x="10172" y="40652"/>
                  </a:lnTo>
                  <a:lnTo>
                    <a:pt x="7620" y="48272"/>
                  </a:lnTo>
                  <a:lnTo>
                    <a:pt x="5080" y="52082"/>
                  </a:lnTo>
                  <a:lnTo>
                    <a:pt x="1270" y="63512"/>
                  </a:lnTo>
                  <a:lnTo>
                    <a:pt x="1270" y="68567"/>
                  </a:lnTo>
                  <a:lnTo>
                    <a:pt x="0" y="72377"/>
                  </a:lnTo>
                  <a:lnTo>
                    <a:pt x="0" y="742937"/>
                  </a:lnTo>
                  <a:lnTo>
                    <a:pt x="1270" y="746747"/>
                  </a:lnTo>
                  <a:lnTo>
                    <a:pt x="1270" y="750557"/>
                  </a:lnTo>
                  <a:lnTo>
                    <a:pt x="2552" y="754367"/>
                  </a:lnTo>
                  <a:lnTo>
                    <a:pt x="3810" y="759460"/>
                  </a:lnTo>
                  <a:lnTo>
                    <a:pt x="5080" y="763270"/>
                  </a:lnTo>
                  <a:lnTo>
                    <a:pt x="7620" y="767080"/>
                  </a:lnTo>
                  <a:lnTo>
                    <a:pt x="8890" y="770890"/>
                  </a:lnTo>
                  <a:lnTo>
                    <a:pt x="11430" y="774700"/>
                  </a:lnTo>
                  <a:lnTo>
                    <a:pt x="12700" y="778510"/>
                  </a:lnTo>
                  <a:lnTo>
                    <a:pt x="15240" y="781037"/>
                  </a:lnTo>
                  <a:lnTo>
                    <a:pt x="20320" y="788657"/>
                  </a:lnTo>
                  <a:lnTo>
                    <a:pt x="24130" y="791222"/>
                  </a:lnTo>
                  <a:lnTo>
                    <a:pt x="33032" y="800087"/>
                  </a:lnTo>
                  <a:lnTo>
                    <a:pt x="36842" y="802652"/>
                  </a:lnTo>
                  <a:lnTo>
                    <a:pt x="40652" y="803897"/>
                  </a:lnTo>
                  <a:lnTo>
                    <a:pt x="44462" y="806462"/>
                  </a:lnTo>
                  <a:lnTo>
                    <a:pt x="48272" y="807707"/>
                  </a:lnTo>
                  <a:lnTo>
                    <a:pt x="52082" y="810272"/>
                  </a:lnTo>
                  <a:lnTo>
                    <a:pt x="59702" y="812800"/>
                  </a:lnTo>
                  <a:lnTo>
                    <a:pt x="64770" y="812800"/>
                  </a:lnTo>
                  <a:lnTo>
                    <a:pt x="68580" y="814082"/>
                  </a:lnTo>
                  <a:lnTo>
                    <a:pt x="72390" y="814082"/>
                  </a:lnTo>
                  <a:lnTo>
                    <a:pt x="77470" y="815327"/>
                  </a:lnTo>
                  <a:lnTo>
                    <a:pt x="5367032" y="815327"/>
                  </a:lnTo>
                  <a:lnTo>
                    <a:pt x="5370842" y="814082"/>
                  </a:lnTo>
                  <a:lnTo>
                    <a:pt x="5374652" y="814082"/>
                  </a:lnTo>
                  <a:lnTo>
                    <a:pt x="5379707" y="812800"/>
                  </a:lnTo>
                  <a:lnTo>
                    <a:pt x="5383517" y="812800"/>
                  </a:lnTo>
                  <a:lnTo>
                    <a:pt x="5391137" y="810272"/>
                  </a:lnTo>
                  <a:lnTo>
                    <a:pt x="5394947" y="807707"/>
                  </a:lnTo>
                  <a:lnTo>
                    <a:pt x="5398757" y="806462"/>
                  </a:lnTo>
                  <a:lnTo>
                    <a:pt x="5413997" y="796277"/>
                  </a:lnTo>
                  <a:lnTo>
                    <a:pt x="5419090" y="791222"/>
                  </a:lnTo>
                  <a:lnTo>
                    <a:pt x="5422900" y="788657"/>
                  </a:lnTo>
                  <a:lnTo>
                    <a:pt x="5427992" y="781037"/>
                  </a:lnTo>
                  <a:lnTo>
                    <a:pt x="5430520" y="778510"/>
                  </a:lnTo>
                  <a:lnTo>
                    <a:pt x="5433047" y="774700"/>
                  </a:lnTo>
                  <a:lnTo>
                    <a:pt x="5434330" y="770890"/>
                  </a:lnTo>
                  <a:lnTo>
                    <a:pt x="5436857" y="767080"/>
                  </a:lnTo>
                  <a:lnTo>
                    <a:pt x="5439422" y="759460"/>
                  </a:lnTo>
                  <a:lnTo>
                    <a:pt x="5440667" y="754367"/>
                  </a:lnTo>
                  <a:lnTo>
                    <a:pt x="5441950" y="750557"/>
                  </a:lnTo>
                  <a:lnTo>
                    <a:pt x="5441950" y="746747"/>
                  </a:lnTo>
                  <a:lnTo>
                    <a:pt x="5443232" y="742937"/>
                  </a:lnTo>
                  <a:lnTo>
                    <a:pt x="5443232" y="723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7437" y="2376169"/>
              <a:ext cx="5443855" cy="815340"/>
            </a:xfrm>
            <a:custGeom>
              <a:avLst/>
              <a:gdLst/>
              <a:ahLst/>
              <a:cxnLst/>
              <a:rect l="l" t="t" r="r" b="b"/>
              <a:pathLst>
                <a:path w="5443855" h="815339">
                  <a:moveTo>
                    <a:pt x="5443232" y="72390"/>
                  </a:moveTo>
                  <a:lnTo>
                    <a:pt x="5441950" y="68580"/>
                  </a:lnTo>
                  <a:lnTo>
                    <a:pt x="5441950" y="63525"/>
                  </a:lnTo>
                  <a:lnTo>
                    <a:pt x="5438140" y="52095"/>
                  </a:lnTo>
                  <a:lnTo>
                    <a:pt x="5435612" y="48285"/>
                  </a:lnTo>
                  <a:lnTo>
                    <a:pt x="5434330" y="43192"/>
                  </a:lnTo>
                  <a:lnTo>
                    <a:pt x="5433047" y="40665"/>
                  </a:lnTo>
                  <a:lnTo>
                    <a:pt x="5412752" y="17805"/>
                  </a:lnTo>
                  <a:lnTo>
                    <a:pt x="5410187" y="15240"/>
                  </a:lnTo>
                  <a:lnTo>
                    <a:pt x="5402567" y="10185"/>
                  </a:lnTo>
                  <a:lnTo>
                    <a:pt x="5398757" y="8902"/>
                  </a:lnTo>
                  <a:lnTo>
                    <a:pt x="5394947" y="6375"/>
                  </a:lnTo>
                  <a:lnTo>
                    <a:pt x="5383517" y="2565"/>
                  </a:lnTo>
                  <a:lnTo>
                    <a:pt x="5378462" y="1282"/>
                  </a:lnTo>
                  <a:lnTo>
                    <a:pt x="5374652" y="0"/>
                  </a:lnTo>
                  <a:lnTo>
                    <a:pt x="68580" y="0"/>
                  </a:lnTo>
                  <a:lnTo>
                    <a:pt x="64770" y="1282"/>
                  </a:lnTo>
                  <a:lnTo>
                    <a:pt x="59702" y="2565"/>
                  </a:lnTo>
                  <a:lnTo>
                    <a:pt x="48260" y="6375"/>
                  </a:lnTo>
                  <a:lnTo>
                    <a:pt x="44450" y="8902"/>
                  </a:lnTo>
                  <a:lnTo>
                    <a:pt x="40652" y="10185"/>
                  </a:lnTo>
                  <a:lnTo>
                    <a:pt x="33032" y="15240"/>
                  </a:lnTo>
                  <a:lnTo>
                    <a:pt x="30480" y="17805"/>
                  </a:lnTo>
                  <a:lnTo>
                    <a:pt x="26670" y="20332"/>
                  </a:lnTo>
                  <a:lnTo>
                    <a:pt x="5080" y="52095"/>
                  </a:lnTo>
                  <a:lnTo>
                    <a:pt x="1270" y="63525"/>
                  </a:lnTo>
                  <a:lnTo>
                    <a:pt x="1270" y="68580"/>
                  </a:lnTo>
                  <a:lnTo>
                    <a:pt x="0" y="72390"/>
                  </a:lnTo>
                  <a:lnTo>
                    <a:pt x="0" y="742950"/>
                  </a:lnTo>
                  <a:lnTo>
                    <a:pt x="1270" y="746760"/>
                  </a:lnTo>
                  <a:lnTo>
                    <a:pt x="1270" y="750570"/>
                  </a:lnTo>
                  <a:lnTo>
                    <a:pt x="2552" y="754380"/>
                  </a:lnTo>
                  <a:lnTo>
                    <a:pt x="3810" y="759472"/>
                  </a:lnTo>
                  <a:lnTo>
                    <a:pt x="5080" y="763282"/>
                  </a:lnTo>
                  <a:lnTo>
                    <a:pt x="7620" y="767092"/>
                  </a:lnTo>
                  <a:lnTo>
                    <a:pt x="8890" y="770902"/>
                  </a:lnTo>
                  <a:lnTo>
                    <a:pt x="11430" y="774712"/>
                  </a:lnTo>
                  <a:lnTo>
                    <a:pt x="12700" y="778522"/>
                  </a:lnTo>
                  <a:lnTo>
                    <a:pt x="15240" y="781050"/>
                  </a:lnTo>
                  <a:lnTo>
                    <a:pt x="20320" y="788670"/>
                  </a:lnTo>
                  <a:lnTo>
                    <a:pt x="24130" y="791235"/>
                  </a:lnTo>
                  <a:lnTo>
                    <a:pt x="26670" y="793762"/>
                  </a:lnTo>
                  <a:lnTo>
                    <a:pt x="30480" y="796290"/>
                  </a:lnTo>
                  <a:lnTo>
                    <a:pt x="33032" y="798855"/>
                  </a:lnTo>
                  <a:lnTo>
                    <a:pt x="44450" y="806475"/>
                  </a:lnTo>
                  <a:lnTo>
                    <a:pt x="52082" y="809002"/>
                  </a:lnTo>
                  <a:lnTo>
                    <a:pt x="55892" y="811530"/>
                  </a:lnTo>
                  <a:lnTo>
                    <a:pt x="59690" y="811530"/>
                  </a:lnTo>
                  <a:lnTo>
                    <a:pt x="64770" y="812812"/>
                  </a:lnTo>
                  <a:lnTo>
                    <a:pt x="68567" y="814095"/>
                  </a:lnTo>
                  <a:lnTo>
                    <a:pt x="72440" y="814095"/>
                  </a:lnTo>
                  <a:lnTo>
                    <a:pt x="77470" y="815327"/>
                  </a:lnTo>
                  <a:lnTo>
                    <a:pt x="5367032" y="815327"/>
                  </a:lnTo>
                  <a:lnTo>
                    <a:pt x="5370792" y="814095"/>
                  </a:lnTo>
                  <a:lnTo>
                    <a:pt x="5374652" y="814095"/>
                  </a:lnTo>
                  <a:lnTo>
                    <a:pt x="5379707" y="812812"/>
                  </a:lnTo>
                  <a:lnTo>
                    <a:pt x="5383517" y="811530"/>
                  </a:lnTo>
                  <a:lnTo>
                    <a:pt x="5387327" y="811530"/>
                  </a:lnTo>
                  <a:lnTo>
                    <a:pt x="5391137" y="809002"/>
                  </a:lnTo>
                  <a:lnTo>
                    <a:pt x="5398757" y="806475"/>
                  </a:lnTo>
                  <a:lnTo>
                    <a:pt x="5413997" y="796290"/>
                  </a:lnTo>
                  <a:lnTo>
                    <a:pt x="5430520" y="777240"/>
                  </a:lnTo>
                  <a:lnTo>
                    <a:pt x="5433047" y="774712"/>
                  </a:lnTo>
                  <a:lnTo>
                    <a:pt x="5434330" y="769620"/>
                  </a:lnTo>
                  <a:lnTo>
                    <a:pt x="5436857" y="767092"/>
                  </a:lnTo>
                  <a:lnTo>
                    <a:pt x="5438140" y="763282"/>
                  </a:lnTo>
                  <a:lnTo>
                    <a:pt x="5439422" y="758190"/>
                  </a:lnTo>
                  <a:lnTo>
                    <a:pt x="5441950" y="750570"/>
                  </a:lnTo>
                  <a:lnTo>
                    <a:pt x="5441950" y="745515"/>
                  </a:lnTo>
                  <a:lnTo>
                    <a:pt x="5443232" y="741705"/>
                  </a:lnTo>
                  <a:lnTo>
                    <a:pt x="5443232" y="72390"/>
                  </a:lnTo>
                  <a:close/>
                </a:path>
              </a:pathLst>
            </a:custGeom>
            <a:solidFill>
              <a:srgbClr val="C04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3367" y="3362947"/>
              <a:ext cx="5443220" cy="815975"/>
            </a:xfrm>
            <a:custGeom>
              <a:avLst/>
              <a:gdLst/>
              <a:ahLst/>
              <a:cxnLst/>
              <a:rect l="l" t="t" r="r" b="b"/>
              <a:pathLst>
                <a:path w="5443220" h="815975">
                  <a:moveTo>
                    <a:pt x="5374640" y="1282"/>
                  </a:moveTo>
                  <a:lnTo>
                    <a:pt x="5370817" y="0"/>
                  </a:lnTo>
                  <a:lnTo>
                    <a:pt x="72390" y="0"/>
                  </a:lnTo>
                  <a:lnTo>
                    <a:pt x="68580" y="1282"/>
                  </a:lnTo>
                  <a:lnTo>
                    <a:pt x="5374640" y="1282"/>
                  </a:lnTo>
                  <a:close/>
                </a:path>
                <a:path w="5443220" h="815975">
                  <a:moveTo>
                    <a:pt x="5443220" y="72402"/>
                  </a:moveTo>
                  <a:lnTo>
                    <a:pt x="5441937" y="68592"/>
                  </a:lnTo>
                  <a:lnTo>
                    <a:pt x="5441937" y="64782"/>
                  </a:lnTo>
                  <a:lnTo>
                    <a:pt x="5440692" y="59728"/>
                  </a:lnTo>
                  <a:lnTo>
                    <a:pt x="5438127" y="52108"/>
                  </a:lnTo>
                  <a:lnTo>
                    <a:pt x="5435600" y="48298"/>
                  </a:lnTo>
                  <a:lnTo>
                    <a:pt x="5434317" y="44488"/>
                  </a:lnTo>
                  <a:lnTo>
                    <a:pt x="5431790" y="40678"/>
                  </a:lnTo>
                  <a:lnTo>
                    <a:pt x="5430507" y="36868"/>
                  </a:lnTo>
                  <a:lnTo>
                    <a:pt x="5427980" y="33058"/>
                  </a:lnTo>
                  <a:lnTo>
                    <a:pt x="5425452" y="30492"/>
                  </a:lnTo>
                  <a:lnTo>
                    <a:pt x="5422887" y="26682"/>
                  </a:lnTo>
                  <a:lnTo>
                    <a:pt x="5419077" y="24155"/>
                  </a:lnTo>
                  <a:lnTo>
                    <a:pt x="5416550" y="20345"/>
                  </a:lnTo>
                  <a:lnTo>
                    <a:pt x="5412740" y="17818"/>
                  </a:lnTo>
                  <a:lnTo>
                    <a:pt x="5410212" y="15252"/>
                  </a:lnTo>
                  <a:lnTo>
                    <a:pt x="5402592" y="10198"/>
                  </a:lnTo>
                  <a:lnTo>
                    <a:pt x="5394972" y="7632"/>
                  </a:lnTo>
                  <a:lnTo>
                    <a:pt x="5391162" y="5105"/>
                  </a:lnTo>
                  <a:lnTo>
                    <a:pt x="5387352" y="3822"/>
                  </a:lnTo>
                  <a:lnTo>
                    <a:pt x="5382260" y="2578"/>
                  </a:lnTo>
                  <a:lnTo>
                    <a:pt x="5378450" y="1295"/>
                  </a:lnTo>
                  <a:lnTo>
                    <a:pt x="63500" y="1295"/>
                  </a:lnTo>
                  <a:lnTo>
                    <a:pt x="52070" y="5105"/>
                  </a:lnTo>
                  <a:lnTo>
                    <a:pt x="48260" y="7632"/>
                  </a:lnTo>
                  <a:lnTo>
                    <a:pt x="40640" y="10198"/>
                  </a:lnTo>
                  <a:lnTo>
                    <a:pt x="33020" y="15252"/>
                  </a:lnTo>
                  <a:lnTo>
                    <a:pt x="30480" y="17818"/>
                  </a:lnTo>
                  <a:lnTo>
                    <a:pt x="26670" y="20345"/>
                  </a:lnTo>
                  <a:lnTo>
                    <a:pt x="20320" y="26682"/>
                  </a:lnTo>
                  <a:lnTo>
                    <a:pt x="17780" y="30492"/>
                  </a:lnTo>
                  <a:lnTo>
                    <a:pt x="15240" y="33058"/>
                  </a:lnTo>
                  <a:lnTo>
                    <a:pt x="10160" y="40678"/>
                  </a:lnTo>
                  <a:lnTo>
                    <a:pt x="8890" y="44488"/>
                  </a:lnTo>
                  <a:lnTo>
                    <a:pt x="6350" y="48298"/>
                  </a:lnTo>
                  <a:lnTo>
                    <a:pt x="2540" y="59728"/>
                  </a:lnTo>
                  <a:lnTo>
                    <a:pt x="1270" y="64782"/>
                  </a:lnTo>
                  <a:lnTo>
                    <a:pt x="1270" y="68592"/>
                  </a:lnTo>
                  <a:lnTo>
                    <a:pt x="0" y="72402"/>
                  </a:lnTo>
                  <a:lnTo>
                    <a:pt x="0" y="742975"/>
                  </a:lnTo>
                  <a:lnTo>
                    <a:pt x="1270" y="746785"/>
                  </a:lnTo>
                  <a:lnTo>
                    <a:pt x="1270" y="750595"/>
                  </a:lnTo>
                  <a:lnTo>
                    <a:pt x="2540" y="755675"/>
                  </a:lnTo>
                  <a:lnTo>
                    <a:pt x="6350" y="767105"/>
                  </a:lnTo>
                  <a:lnTo>
                    <a:pt x="11430" y="774725"/>
                  </a:lnTo>
                  <a:lnTo>
                    <a:pt x="12700" y="778535"/>
                  </a:lnTo>
                  <a:lnTo>
                    <a:pt x="15240" y="782345"/>
                  </a:lnTo>
                  <a:lnTo>
                    <a:pt x="17780" y="784885"/>
                  </a:lnTo>
                  <a:lnTo>
                    <a:pt x="20320" y="788695"/>
                  </a:lnTo>
                  <a:lnTo>
                    <a:pt x="24130" y="791235"/>
                  </a:lnTo>
                  <a:lnTo>
                    <a:pt x="33020" y="800125"/>
                  </a:lnTo>
                  <a:lnTo>
                    <a:pt x="36830" y="802665"/>
                  </a:lnTo>
                  <a:lnTo>
                    <a:pt x="40640" y="803935"/>
                  </a:lnTo>
                  <a:lnTo>
                    <a:pt x="48260" y="809015"/>
                  </a:lnTo>
                  <a:lnTo>
                    <a:pt x="59690" y="812825"/>
                  </a:lnTo>
                  <a:lnTo>
                    <a:pt x="63538" y="812825"/>
                  </a:lnTo>
                  <a:lnTo>
                    <a:pt x="68592" y="814095"/>
                  </a:lnTo>
                  <a:lnTo>
                    <a:pt x="72390" y="815352"/>
                  </a:lnTo>
                  <a:lnTo>
                    <a:pt x="5370830" y="815352"/>
                  </a:lnTo>
                  <a:lnTo>
                    <a:pt x="5374640" y="814095"/>
                  </a:lnTo>
                  <a:lnTo>
                    <a:pt x="5379682" y="812825"/>
                  </a:lnTo>
                  <a:lnTo>
                    <a:pt x="5383542" y="812825"/>
                  </a:lnTo>
                  <a:lnTo>
                    <a:pt x="5391162" y="810285"/>
                  </a:lnTo>
                  <a:lnTo>
                    <a:pt x="5394972" y="807745"/>
                  </a:lnTo>
                  <a:lnTo>
                    <a:pt x="5398782" y="806475"/>
                  </a:lnTo>
                  <a:lnTo>
                    <a:pt x="5410212" y="798855"/>
                  </a:lnTo>
                  <a:lnTo>
                    <a:pt x="5412740" y="796315"/>
                  </a:lnTo>
                  <a:lnTo>
                    <a:pt x="5416550" y="793775"/>
                  </a:lnTo>
                  <a:lnTo>
                    <a:pt x="5419077" y="791235"/>
                  </a:lnTo>
                  <a:lnTo>
                    <a:pt x="5422887" y="788695"/>
                  </a:lnTo>
                  <a:lnTo>
                    <a:pt x="5425452" y="784885"/>
                  </a:lnTo>
                  <a:lnTo>
                    <a:pt x="5427980" y="782345"/>
                  </a:lnTo>
                  <a:lnTo>
                    <a:pt x="5430507" y="778535"/>
                  </a:lnTo>
                  <a:lnTo>
                    <a:pt x="5431790" y="774725"/>
                  </a:lnTo>
                  <a:lnTo>
                    <a:pt x="5436882" y="767105"/>
                  </a:lnTo>
                  <a:lnTo>
                    <a:pt x="5439410" y="759485"/>
                  </a:lnTo>
                  <a:lnTo>
                    <a:pt x="5440692" y="754405"/>
                  </a:lnTo>
                  <a:lnTo>
                    <a:pt x="5441937" y="750595"/>
                  </a:lnTo>
                  <a:lnTo>
                    <a:pt x="5441937" y="746785"/>
                  </a:lnTo>
                  <a:lnTo>
                    <a:pt x="5443220" y="742975"/>
                  </a:lnTo>
                  <a:lnTo>
                    <a:pt x="5443220" y="724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3367" y="3340087"/>
              <a:ext cx="5443220" cy="815975"/>
            </a:xfrm>
            <a:custGeom>
              <a:avLst/>
              <a:gdLst/>
              <a:ahLst/>
              <a:cxnLst/>
              <a:rect l="l" t="t" r="r" b="b"/>
              <a:pathLst>
                <a:path w="5443220" h="815975">
                  <a:moveTo>
                    <a:pt x="5370817" y="814095"/>
                  </a:moveTo>
                  <a:lnTo>
                    <a:pt x="72390" y="814095"/>
                  </a:lnTo>
                  <a:lnTo>
                    <a:pt x="76212" y="815352"/>
                  </a:lnTo>
                  <a:lnTo>
                    <a:pt x="5367020" y="815352"/>
                  </a:lnTo>
                  <a:lnTo>
                    <a:pt x="5370817" y="814095"/>
                  </a:lnTo>
                  <a:close/>
                </a:path>
                <a:path w="5443220" h="815975">
                  <a:moveTo>
                    <a:pt x="5443220" y="72390"/>
                  </a:moveTo>
                  <a:lnTo>
                    <a:pt x="5441937" y="68580"/>
                  </a:lnTo>
                  <a:lnTo>
                    <a:pt x="5441937" y="63525"/>
                  </a:lnTo>
                  <a:lnTo>
                    <a:pt x="5438127" y="52095"/>
                  </a:lnTo>
                  <a:lnTo>
                    <a:pt x="5435600" y="48285"/>
                  </a:lnTo>
                  <a:lnTo>
                    <a:pt x="5434317" y="44475"/>
                  </a:lnTo>
                  <a:lnTo>
                    <a:pt x="5431790" y="40665"/>
                  </a:lnTo>
                  <a:lnTo>
                    <a:pt x="5430507" y="36855"/>
                  </a:lnTo>
                  <a:lnTo>
                    <a:pt x="5427980" y="33045"/>
                  </a:lnTo>
                  <a:lnTo>
                    <a:pt x="5425452" y="30480"/>
                  </a:lnTo>
                  <a:lnTo>
                    <a:pt x="5422887" y="26670"/>
                  </a:lnTo>
                  <a:lnTo>
                    <a:pt x="5416550" y="20332"/>
                  </a:lnTo>
                  <a:lnTo>
                    <a:pt x="5412740" y="17805"/>
                  </a:lnTo>
                  <a:lnTo>
                    <a:pt x="5410212" y="15240"/>
                  </a:lnTo>
                  <a:lnTo>
                    <a:pt x="5402592" y="10185"/>
                  </a:lnTo>
                  <a:lnTo>
                    <a:pt x="5398782" y="8902"/>
                  </a:lnTo>
                  <a:lnTo>
                    <a:pt x="5394972" y="6375"/>
                  </a:lnTo>
                  <a:lnTo>
                    <a:pt x="5387352" y="3810"/>
                  </a:lnTo>
                  <a:lnTo>
                    <a:pt x="5382260" y="2565"/>
                  </a:lnTo>
                  <a:lnTo>
                    <a:pt x="5378450" y="1282"/>
                  </a:lnTo>
                  <a:lnTo>
                    <a:pt x="5374640" y="1282"/>
                  </a:lnTo>
                  <a:lnTo>
                    <a:pt x="5370817" y="0"/>
                  </a:lnTo>
                  <a:lnTo>
                    <a:pt x="72390" y="0"/>
                  </a:lnTo>
                  <a:lnTo>
                    <a:pt x="68580" y="1282"/>
                  </a:lnTo>
                  <a:lnTo>
                    <a:pt x="63500" y="1282"/>
                  </a:lnTo>
                  <a:lnTo>
                    <a:pt x="48260" y="6375"/>
                  </a:lnTo>
                  <a:lnTo>
                    <a:pt x="44450" y="8902"/>
                  </a:lnTo>
                  <a:lnTo>
                    <a:pt x="40640" y="10185"/>
                  </a:lnTo>
                  <a:lnTo>
                    <a:pt x="33020" y="15240"/>
                  </a:lnTo>
                  <a:lnTo>
                    <a:pt x="30480" y="17805"/>
                  </a:lnTo>
                  <a:lnTo>
                    <a:pt x="22860" y="22860"/>
                  </a:lnTo>
                  <a:lnTo>
                    <a:pt x="17780" y="30480"/>
                  </a:lnTo>
                  <a:lnTo>
                    <a:pt x="15240" y="33045"/>
                  </a:lnTo>
                  <a:lnTo>
                    <a:pt x="10160" y="40665"/>
                  </a:lnTo>
                  <a:lnTo>
                    <a:pt x="8890" y="44475"/>
                  </a:lnTo>
                  <a:lnTo>
                    <a:pt x="6350" y="48285"/>
                  </a:lnTo>
                  <a:lnTo>
                    <a:pt x="1270" y="63525"/>
                  </a:lnTo>
                  <a:lnTo>
                    <a:pt x="1270" y="68580"/>
                  </a:lnTo>
                  <a:lnTo>
                    <a:pt x="0" y="72390"/>
                  </a:lnTo>
                  <a:lnTo>
                    <a:pt x="0" y="742962"/>
                  </a:lnTo>
                  <a:lnTo>
                    <a:pt x="1270" y="746772"/>
                  </a:lnTo>
                  <a:lnTo>
                    <a:pt x="1270" y="750582"/>
                  </a:lnTo>
                  <a:lnTo>
                    <a:pt x="2540" y="754392"/>
                  </a:lnTo>
                  <a:lnTo>
                    <a:pt x="3810" y="759472"/>
                  </a:lnTo>
                  <a:lnTo>
                    <a:pt x="6350" y="767092"/>
                  </a:lnTo>
                  <a:lnTo>
                    <a:pt x="11430" y="774712"/>
                  </a:lnTo>
                  <a:lnTo>
                    <a:pt x="12700" y="778522"/>
                  </a:lnTo>
                  <a:lnTo>
                    <a:pt x="15240" y="781062"/>
                  </a:lnTo>
                  <a:lnTo>
                    <a:pt x="20320" y="788682"/>
                  </a:lnTo>
                  <a:lnTo>
                    <a:pt x="24130" y="791222"/>
                  </a:lnTo>
                  <a:lnTo>
                    <a:pt x="33020" y="800112"/>
                  </a:lnTo>
                  <a:lnTo>
                    <a:pt x="36830" y="802652"/>
                  </a:lnTo>
                  <a:lnTo>
                    <a:pt x="40640" y="803922"/>
                  </a:lnTo>
                  <a:lnTo>
                    <a:pt x="44450" y="806462"/>
                  </a:lnTo>
                  <a:lnTo>
                    <a:pt x="52070" y="809002"/>
                  </a:lnTo>
                  <a:lnTo>
                    <a:pt x="55880" y="811542"/>
                  </a:lnTo>
                  <a:lnTo>
                    <a:pt x="61607" y="811542"/>
                  </a:lnTo>
                  <a:lnTo>
                    <a:pt x="61607" y="812812"/>
                  </a:lnTo>
                  <a:lnTo>
                    <a:pt x="66027" y="812812"/>
                  </a:lnTo>
                  <a:lnTo>
                    <a:pt x="66027" y="814082"/>
                  </a:lnTo>
                  <a:lnTo>
                    <a:pt x="5377218" y="814082"/>
                  </a:lnTo>
                  <a:lnTo>
                    <a:pt x="5377218" y="812812"/>
                  </a:lnTo>
                  <a:lnTo>
                    <a:pt x="5381637" y="812812"/>
                  </a:lnTo>
                  <a:lnTo>
                    <a:pt x="5381637" y="811542"/>
                  </a:lnTo>
                  <a:lnTo>
                    <a:pt x="5387352" y="811542"/>
                  </a:lnTo>
                  <a:lnTo>
                    <a:pt x="5391162" y="809002"/>
                  </a:lnTo>
                  <a:lnTo>
                    <a:pt x="5398782" y="806462"/>
                  </a:lnTo>
                  <a:lnTo>
                    <a:pt x="5410212" y="798842"/>
                  </a:lnTo>
                  <a:lnTo>
                    <a:pt x="5412740" y="796302"/>
                  </a:lnTo>
                  <a:lnTo>
                    <a:pt x="5416550" y="793762"/>
                  </a:lnTo>
                  <a:lnTo>
                    <a:pt x="5425452" y="784872"/>
                  </a:lnTo>
                  <a:lnTo>
                    <a:pt x="5427980" y="781062"/>
                  </a:lnTo>
                  <a:lnTo>
                    <a:pt x="5430507" y="778522"/>
                  </a:lnTo>
                  <a:lnTo>
                    <a:pt x="5431790" y="774712"/>
                  </a:lnTo>
                  <a:lnTo>
                    <a:pt x="5436882" y="767092"/>
                  </a:lnTo>
                  <a:lnTo>
                    <a:pt x="5439410" y="759472"/>
                  </a:lnTo>
                  <a:lnTo>
                    <a:pt x="5440692" y="754392"/>
                  </a:lnTo>
                  <a:lnTo>
                    <a:pt x="5441937" y="750582"/>
                  </a:lnTo>
                  <a:lnTo>
                    <a:pt x="5441937" y="746772"/>
                  </a:lnTo>
                  <a:lnTo>
                    <a:pt x="5443220" y="741692"/>
                  </a:lnTo>
                  <a:lnTo>
                    <a:pt x="5443220" y="72390"/>
                  </a:lnTo>
                  <a:close/>
                </a:path>
              </a:pathLst>
            </a:custGeom>
            <a:solidFill>
              <a:srgbClr val="BD8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91677" y="4326889"/>
              <a:ext cx="5444490" cy="811530"/>
            </a:xfrm>
            <a:custGeom>
              <a:avLst/>
              <a:gdLst/>
              <a:ahLst/>
              <a:cxnLst/>
              <a:rect l="l" t="t" r="r" b="b"/>
              <a:pathLst>
                <a:path w="5444490" h="811529">
                  <a:moveTo>
                    <a:pt x="5444490" y="734060"/>
                  </a:moveTo>
                  <a:lnTo>
                    <a:pt x="5443207" y="68580"/>
                  </a:lnTo>
                  <a:lnTo>
                    <a:pt x="5441962" y="63500"/>
                  </a:lnTo>
                  <a:lnTo>
                    <a:pt x="5436870" y="48260"/>
                  </a:lnTo>
                  <a:lnTo>
                    <a:pt x="5434342" y="44450"/>
                  </a:lnTo>
                  <a:lnTo>
                    <a:pt x="5433060" y="40640"/>
                  </a:lnTo>
                  <a:lnTo>
                    <a:pt x="5425440" y="29210"/>
                  </a:lnTo>
                  <a:lnTo>
                    <a:pt x="5422912" y="26670"/>
                  </a:lnTo>
                  <a:lnTo>
                    <a:pt x="5420347" y="22860"/>
                  </a:lnTo>
                  <a:lnTo>
                    <a:pt x="5416537" y="20320"/>
                  </a:lnTo>
                  <a:lnTo>
                    <a:pt x="5414010" y="17780"/>
                  </a:lnTo>
                  <a:lnTo>
                    <a:pt x="5402580" y="10160"/>
                  </a:lnTo>
                  <a:lnTo>
                    <a:pt x="5394960" y="6350"/>
                  </a:lnTo>
                  <a:lnTo>
                    <a:pt x="5379720" y="1270"/>
                  </a:lnTo>
                  <a:lnTo>
                    <a:pt x="5374589" y="1270"/>
                  </a:lnTo>
                  <a:lnTo>
                    <a:pt x="5370817" y="0"/>
                  </a:lnTo>
                  <a:lnTo>
                    <a:pt x="72390" y="0"/>
                  </a:lnTo>
                  <a:lnTo>
                    <a:pt x="68605" y="1270"/>
                  </a:lnTo>
                  <a:lnTo>
                    <a:pt x="64770" y="1270"/>
                  </a:lnTo>
                  <a:lnTo>
                    <a:pt x="60960" y="2540"/>
                  </a:lnTo>
                  <a:lnTo>
                    <a:pt x="55880" y="3810"/>
                  </a:lnTo>
                  <a:lnTo>
                    <a:pt x="48260" y="6350"/>
                  </a:lnTo>
                  <a:lnTo>
                    <a:pt x="44450" y="8890"/>
                  </a:lnTo>
                  <a:lnTo>
                    <a:pt x="40640" y="10160"/>
                  </a:lnTo>
                  <a:lnTo>
                    <a:pt x="36830" y="12700"/>
                  </a:lnTo>
                  <a:lnTo>
                    <a:pt x="34290" y="15240"/>
                  </a:lnTo>
                  <a:lnTo>
                    <a:pt x="26670" y="20320"/>
                  </a:lnTo>
                  <a:lnTo>
                    <a:pt x="24130" y="22860"/>
                  </a:lnTo>
                  <a:lnTo>
                    <a:pt x="21590" y="26670"/>
                  </a:lnTo>
                  <a:lnTo>
                    <a:pt x="17780" y="29210"/>
                  </a:lnTo>
                  <a:lnTo>
                    <a:pt x="12700" y="36830"/>
                  </a:lnTo>
                  <a:lnTo>
                    <a:pt x="11430" y="40640"/>
                  </a:lnTo>
                  <a:lnTo>
                    <a:pt x="8890" y="44450"/>
                  </a:lnTo>
                  <a:lnTo>
                    <a:pt x="7620" y="48260"/>
                  </a:lnTo>
                  <a:lnTo>
                    <a:pt x="5080" y="52070"/>
                  </a:lnTo>
                  <a:lnTo>
                    <a:pt x="2540" y="59690"/>
                  </a:lnTo>
                  <a:lnTo>
                    <a:pt x="2540" y="63500"/>
                  </a:lnTo>
                  <a:lnTo>
                    <a:pt x="1270" y="68580"/>
                  </a:lnTo>
                  <a:lnTo>
                    <a:pt x="0" y="72390"/>
                  </a:lnTo>
                  <a:lnTo>
                    <a:pt x="0" y="742950"/>
                  </a:lnTo>
                  <a:lnTo>
                    <a:pt x="2540" y="750570"/>
                  </a:lnTo>
                  <a:lnTo>
                    <a:pt x="2540" y="754380"/>
                  </a:lnTo>
                  <a:lnTo>
                    <a:pt x="3810" y="759460"/>
                  </a:lnTo>
                  <a:lnTo>
                    <a:pt x="5080" y="763270"/>
                  </a:lnTo>
                  <a:lnTo>
                    <a:pt x="7620" y="767080"/>
                  </a:lnTo>
                  <a:lnTo>
                    <a:pt x="8890" y="770890"/>
                  </a:lnTo>
                  <a:lnTo>
                    <a:pt x="13970" y="778510"/>
                  </a:lnTo>
                  <a:lnTo>
                    <a:pt x="16510" y="781050"/>
                  </a:lnTo>
                  <a:lnTo>
                    <a:pt x="21590" y="788670"/>
                  </a:lnTo>
                  <a:lnTo>
                    <a:pt x="30480" y="797560"/>
                  </a:lnTo>
                  <a:lnTo>
                    <a:pt x="34290" y="800100"/>
                  </a:lnTo>
                  <a:lnTo>
                    <a:pt x="36830" y="802640"/>
                  </a:lnTo>
                  <a:lnTo>
                    <a:pt x="40640" y="803910"/>
                  </a:lnTo>
                  <a:lnTo>
                    <a:pt x="44450" y="806450"/>
                  </a:lnTo>
                  <a:lnTo>
                    <a:pt x="52070" y="808990"/>
                  </a:lnTo>
                  <a:lnTo>
                    <a:pt x="55880" y="811530"/>
                  </a:lnTo>
                  <a:lnTo>
                    <a:pt x="5388622" y="811530"/>
                  </a:lnTo>
                  <a:lnTo>
                    <a:pt x="5392432" y="808990"/>
                  </a:lnTo>
                  <a:lnTo>
                    <a:pt x="5400052" y="806450"/>
                  </a:lnTo>
                  <a:lnTo>
                    <a:pt x="5407672" y="801370"/>
                  </a:lnTo>
                  <a:lnTo>
                    <a:pt x="5410200" y="798830"/>
                  </a:lnTo>
                  <a:lnTo>
                    <a:pt x="5417820" y="793750"/>
                  </a:lnTo>
                  <a:lnTo>
                    <a:pt x="5420347" y="791210"/>
                  </a:lnTo>
                  <a:lnTo>
                    <a:pt x="5422912" y="787400"/>
                  </a:lnTo>
                  <a:lnTo>
                    <a:pt x="5425440" y="784860"/>
                  </a:lnTo>
                  <a:lnTo>
                    <a:pt x="5427967" y="781050"/>
                  </a:lnTo>
                  <a:lnTo>
                    <a:pt x="5430532" y="778510"/>
                  </a:lnTo>
                  <a:lnTo>
                    <a:pt x="5435587" y="770890"/>
                  </a:lnTo>
                  <a:lnTo>
                    <a:pt x="5439397" y="759460"/>
                  </a:lnTo>
                  <a:lnTo>
                    <a:pt x="5440680" y="754380"/>
                  </a:lnTo>
                  <a:lnTo>
                    <a:pt x="5443207" y="746760"/>
                  </a:lnTo>
                  <a:lnTo>
                    <a:pt x="5443207" y="734060"/>
                  </a:lnTo>
                  <a:lnTo>
                    <a:pt x="5444490" y="734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91690" y="4304027"/>
              <a:ext cx="5444490" cy="814705"/>
            </a:xfrm>
            <a:custGeom>
              <a:avLst/>
              <a:gdLst/>
              <a:ahLst/>
              <a:cxnLst/>
              <a:rect l="l" t="t" r="r" b="b"/>
              <a:pathLst>
                <a:path w="5444490" h="814704">
                  <a:moveTo>
                    <a:pt x="5374627" y="0"/>
                  </a:moveTo>
                  <a:lnTo>
                    <a:pt x="68580" y="0"/>
                  </a:lnTo>
                  <a:lnTo>
                    <a:pt x="60960" y="2552"/>
                  </a:lnTo>
                  <a:lnTo>
                    <a:pt x="55880" y="3809"/>
                  </a:lnTo>
                  <a:lnTo>
                    <a:pt x="48247" y="6362"/>
                  </a:lnTo>
                  <a:lnTo>
                    <a:pt x="44437" y="8889"/>
                  </a:lnTo>
                  <a:lnTo>
                    <a:pt x="40627" y="10172"/>
                  </a:lnTo>
                  <a:lnTo>
                    <a:pt x="36830" y="12699"/>
                  </a:lnTo>
                  <a:lnTo>
                    <a:pt x="34289" y="15239"/>
                  </a:lnTo>
                  <a:lnTo>
                    <a:pt x="26670" y="20319"/>
                  </a:lnTo>
                  <a:lnTo>
                    <a:pt x="24130" y="22859"/>
                  </a:lnTo>
                  <a:lnTo>
                    <a:pt x="21577" y="26669"/>
                  </a:lnTo>
                  <a:lnTo>
                    <a:pt x="17780" y="29222"/>
                  </a:lnTo>
                  <a:lnTo>
                    <a:pt x="12700" y="36842"/>
                  </a:lnTo>
                  <a:lnTo>
                    <a:pt x="11430" y="40652"/>
                  </a:lnTo>
                  <a:lnTo>
                    <a:pt x="8889" y="43179"/>
                  </a:lnTo>
                  <a:lnTo>
                    <a:pt x="7620" y="48272"/>
                  </a:lnTo>
                  <a:lnTo>
                    <a:pt x="5080" y="52082"/>
                  </a:lnTo>
                  <a:lnTo>
                    <a:pt x="2527" y="59702"/>
                  </a:lnTo>
                  <a:lnTo>
                    <a:pt x="2527" y="63512"/>
                  </a:lnTo>
                  <a:lnTo>
                    <a:pt x="1270" y="68579"/>
                  </a:lnTo>
                  <a:lnTo>
                    <a:pt x="0" y="72389"/>
                  </a:lnTo>
                  <a:lnTo>
                    <a:pt x="0" y="742949"/>
                  </a:lnTo>
                  <a:lnTo>
                    <a:pt x="2527" y="750569"/>
                  </a:lnTo>
                  <a:lnTo>
                    <a:pt x="2527" y="754379"/>
                  </a:lnTo>
                  <a:lnTo>
                    <a:pt x="3810" y="759459"/>
                  </a:lnTo>
                  <a:lnTo>
                    <a:pt x="5080" y="763269"/>
                  </a:lnTo>
                  <a:lnTo>
                    <a:pt x="7620" y="767079"/>
                  </a:lnTo>
                  <a:lnTo>
                    <a:pt x="8889" y="770889"/>
                  </a:lnTo>
                  <a:lnTo>
                    <a:pt x="13957" y="778509"/>
                  </a:lnTo>
                  <a:lnTo>
                    <a:pt x="16510" y="781049"/>
                  </a:lnTo>
                  <a:lnTo>
                    <a:pt x="21577" y="788669"/>
                  </a:lnTo>
                  <a:lnTo>
                    <a:pt x="26670" y="793749"/>
                  </a:lnTo>
                  <a:lnTo>
                    <a:pt x="34289" y="798842"/>
                  </a:lnTo>
                  <a:lnTo>
                    <a:pt x="36830" y="801369"/>
                  </a:lnTo>
                  <a:lnTo>
                    <a:pt x="44437" y="806462"/>
                  </a:lnTo>
                  <a:lnTo>
                    <a:pt x="55880" y="810272"/>
                  </a:lnTo>
                  <a:lnTo>
                    <a:pt x="60960" y="811529"/>
                  </a:lnTo>
                  <a:lnTo>
                    <a:pt x="68580" y="814082"/>
                  </a:lnTo>
                  <a:lnTo>
                    <a:pt x="5375910" y="814082"/>
                  </a:lnTo>
                  <a:lnTo>
                    <a:pt x="5383530" y="811529"/>
                  </a:lnTo>
                  <a:lnTo>
                    <a:pt x="5388622" y="810272"/>
                  </a:lnTo>
                  <a:lnTo>
                    <a:pt x="5396242" y="807719"/>
                  </a:lnTo>
                  <a:lnTo>
                    <a:pt x="5400052" y="805179"/>
                  </a:lnTo>
                  <a:lnTo>
                    <a:pt x="5403862" y="803909"/>
                  </a:lnTo>
                  <a:lnTo>
                    <a:pt x="5407672" y="801369"/>
                  </a:lnTo>
                  <a:lnTo>
                    <a:pt x="5410200" y="798842"/>
                  </a:lnTo>
                  <a:lnTo>
                    <a:pt x="5417820" y="793749"/>
                  </a:lnTo>
                  <a:lnTo>
                    <a:pt x="5420347" y="791222"/>
                  </a:lnTo>
                  <a:lnTo>
                    <a:pt x="5422912" y="787412"/>
                  </a:lnTo>
                  <a:lnTo>
                    <a:pt x="5425440" y="784859"/>
                  </a:lnTo>
                  <a:lnTo>
                    <a:pt x="5430532" y="777239"/>
                  </a:lnTo>
                  <a:lnTo>
                    <a:pt x="5433060" y="774699"/>
                  </a:lnTo>
                  <a:lnTo>
                    <a:pt x="5436870" y="767079"/>
                  </a:lnTo>
                  <a:lnTo>
                    <a:pt x="5438152" y="761999"/>
                  </a:lnTo>
                  <a:lnTo>
                    <a:pt x="5441962" y="750569"/>
                  </a:lnTo>
                  <a:lnTo>
                    <a:pt x="5443207" y="745502"/>
                  </a:lnTo>
                  <a:lnTo>
                    <a:pt x="5443207" y="734072"/>
                  </a:lnTo>
                  <a:lnTo>
                    <a:pt x="5444490" y="734072"/>
                  </a:lnTo>
                  <a:lnTo>
                    <a:pt x="5443207" y="68579"/>
                  </a:lnTo>
                  <a:lnTo>
                    <a:pt x="5425440" y="29222"/>
                  </a:lnTo>
                  <a:lnTo>
                    <a:pt x="5422912" y="26669"/>
                  </a:lnTo>
                  <a:lnTo>
                    <a:pt x="5420347" y="22859"/>
                  </a:lnTo>
                  <a:lnTo>
                    <a:pt x="5416537" y="20319"/>
                  </a:lnTo>
                  <a:lnTo>
                    <a:pt x="5414010" y="17792"/>
                  </a:lnTo>
                  <a:lnTo>
                    <a:pt x="5402580" y="10172"/>
                  </a:lnTo>
                  <a:lnTo>
                    <a:pt x="5394960" y="6362"/>
                  </a:lnTo>
                  <a:lnTo>
                    <a:pt x="5379720" y="1269"/>
                  </a:lnTo>
                  <a:lnTo>
                    <a:pt x="5374627" y="0"/>
                  </a:lnTo>
                  <a:close/>
                </a:path>
              </a:pathLst>
            </a:custGeom>
            <a:solidFill>
              <a:srgbClr val="BC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47607" y="5290819"/>
              <a:ext cx="5444490" cy="815340"/>
            </a:xfrm>
            <a:custGeom>
              <a:avLst/>
              <a:gdLst/>
              <a:ahLst/>
              <a:cxnLst/>
              <a:rect l="l" t="t" r="r" b="b"/>
              <a:pathLst>
                <a:path w="5444490" h="815339">
                  <a:moveTo>
                    <a:pt x="5444477" y="76200"/>
                  </a:moveTo>
                  <a:lnTo>
                    <a:pt x="5443232" y="72390"/>
                  </a:lnTo>
                  <a:lnTo>
                    <a:pt x="5443232" y="68580"/>
                  </a:lnTo>
                  <a:lnTo>
                    <a:pt x="5441950" y="63512"/>
                  </a:lnTo>
                  <a:lnTo>
                    <a:pt x="5440667" y="59702"/>
                  </a:lnTo>
                  <a:lnTo>
                    <a:pt x="5440667" y="55892"/>
                  </a:lnTo>
                  <a:lnTo>
                    <a:pt x="5438140" y="52082"/>
                  </a:lnTo>
                  <a:lnTo>
                    <a:pt x="5436857" y="46990"/>
                  </a:lnTo>
                  <a:lnTo>
                    <a:pt x="5435612" y="43180"/>
                  </a:lnTo>
                  <a:lnTo>
                    <a:pt x="5433047" y="40652"/>
                  </a:lnTo>
                  <a:lnTo>
                    <a:pt x="5425427" y="29222"/>
                  </a:lnTo>
                  <a:lnTo>
                    <a:pt x="5422900" y="26670"/>
                  </a:lnTo>
                  <a:lnTo>
                    <a:pt x="5420372" y="22860"/>
                  </a:lnTo>
                  <a:lnTo>
                    <a:pt x="5416562" y="20320"/>
                  </a:lnTo>
                  <a:lnTo>
                    <a:pt x="5413997" y="17792"/>
                  </a:lnTo>
                  <a:lnTo>
                    <a:pt x="5406377" y="12700"/>
                  </a:lnTo>
                  <a:lnTo>
                    <a:pt x="5403850" y="10172"/>
                  </a:lnTo>
                  <a:lnTo>
                    <a:pt x="5400040" y="8890"/>
                  </a:lnTo>
                  <a:lnTo>
                    <a:pt x="5396230" y="6362"/>
                  </a:lnTo>
                  <a:lnTo>
                    <a:pt x="5392420" y="5080"/>
                  </a:lnTo>
                  <a:lnTo>
                    <a:pt x="5387327" y="3810"/>
                  </a:lnTo>
                  <a:lnTo>
                    <a:pt x="5379707" y="1270"/>
                  </a:lnTo>
                  <a:lnTo>
                    <a:pt x="5374652" y="0"/>
                  </a:lnTo>
                  <a:lnTo>
                    <a:pt x="69850" y="0"/>
                  </a:lnTo>
                  <a:lnTo>
                    <a:pt x="64770" y="1270"/>
                  </a:lnTo>
                  <a:lnTo>
                    <a:pt x="57150" y="3810"/>
                  </a:lnTo>
                  <a:lnTo>
                    <a:pt x="52082" y="5080"/>
                  </a:lnTo>
                  <a:lnTo>
                    <a:pt x="48260" y="6362"/>
                  </a:lnTo>
                  <a:lnTo>
                    <a:pt x="44450" y="8890"/>
                  </a:lnTo>
                  <a:lnTo>
                    <a:pt x="40652" y="10172"/>
                  </a:lnTo>
                  <a:lnTo>
                    <a:pt x="38100" y="12700"/>
                  </a:lnTo>
                  <a:lnTo>
                    <a:pt x="30480" y="17792"/>
                  </a:lnTo>
                  <a:lnTo>
                    <a:pt x="27940" y="20320"/>
                  </a:lnTo>
                  <a:lnTo>
                    <a:pt x="24130" y="22860"/>
                  </a:lnTo>
                  <a:lnTo>
                    <a:pt x="21602" y="26670"/>
                  </a:lnTo>
                  <a:lnTo>
                    <a:pt x="19050" y="29222"/>
                  </a:lnTo>
                  <a:lnTo>
                    <a:pt x="11430" y="40652"/>
                  </a:lnTo>
                  <a:lnTo>
                    <a:pt x="8890" y="43180"/>
                  </a:lnTo>
                  <a:lnTo>
                    <a:pt x="7620" y="46990"/>
                  </a:lnTo>
                  <a:lnTo>
                    <a:pt x="6350" y="52082"/>
                  </a:lnTo>
                  <a:lnTo>
                    <a:pt x="3810" y="55892"/>
                  </a:lnTo>
                  <a:lnTo>
                    <a:pt x="3810" y="59702"/>
                  </a:lnTo>
                  <a:lnTo>
                    <a:pt x="2552" y="63512"/>
                  </a:lnTo>
                  <a:lnTo>
                    <a:pt x="1270" y="68580"/>
                  </a:lnTo>
                  <a:lnTo>
                    <a:pt x="1270" y="72390"/>
                  </a:lnTo>
                  <a:lnTo>
                    <a:pt x="0" y="76200"/>
                  </a:lnTo>
                  <a:lnTo>
                    <a:pt x="0" y="737882"/>
                  </a:lnTo>
                  <a:lnTo>
                    <a:pt x="1270" y="742950"/>
                  </a:lnTo>
                  <a:lnTo>
                    <a:pt x="1270" y="746760"/>
                  </a:lnTo>
                  <a:lnTo>
                    <a:pt x="3810" y="754380"/>
                  </a:lnTo>
                  <a:lnTo>
                    <a:pt x="3810" y="759460"/>
                  </a:lnTo>
                  <a:lnTo>
                    <a:pt x="6350" y="763270"/>
                  </a:lnTo>
                  <a:lnTo>
                    <a:pt x="8890" y="770890"/>
                  </a:lnTo>
                  <a:lnTo>
                    <a:pt x="13982" y="778510"/>
                  </a:lnTo>
                  <a:lnTo>
                    <a:pt x="16510" y="781050"/>
                  </a:lnTo>
                  <a:lnTo>
                    <a:pt x="21602" y="788670"/>
                  </a:lnTo>
                  <a:lnTo>
                    <a:pt x="24130" y="791222"/>
                  </a:lnTo>
                  <a:lnTo>
                    <a:pt x="27940" y="793750"/>
                  </a:lnTo>
                  <a:lnTo>
                    <a:pt x="30480" y="796290"/>
                  </a:lnTo>
                  <a:lnTo>
                    <a:pt x="38100" y="801370"/>
                  </a:lnTo>
                  <a:lnTo>
                    <a:pt x="40652" y="803910"/>
                  </a:lnTo>
                  <a:lnTo>
                    <a:pt x="48260" y="807720"/>
                  </a:lnTo>
                  <a:lnTo>
                    <a:pt x="52082" y="808990"/>
                  </a:lnTo>
                  <a:lnTo>
                    <a:pt x="57150" y="810272"/>
                  </a:lnTo>
                  <a:lnTo>
                    <a:pt x="64770" y="812800"/>
                  </a:lnTo>
                  <a:lnTo>
                    <a:pt x="69850" y="814082"/>
                  </a:lnTo>
                  <a:lnTo>
                    <a:pt x="73698" y="814082"/>
                  </a:lnTo>
                  <a:lnTo>
                    <a:pt x="77470" y="815340"/>
                  </a:lnTo>
                  <a:lnTo>
                    <a:pt x="5367032" y="815340"/>
                  </a:lnTo>
                  <a:lnTo>
                    <a:pt x="5372036" y="814082"/>
                  </a:lnTo>
                  <a:lnTo>
                    <a:pt x="5375897" y="814082"/>
                  </a:lnTo>
                  <a:lnTo>
                    <a:pt x="5383517" y="811530"/>
                  </a:lnTo>
                  <a:lnTo>
                    <a:pt x="5388610" y="810272"/>
                  </a:lnTo>
                  <a:lnTo>
                    <a:pt x="5396230" y="807720"/>
                  </a:lnTo>
                  <a:lnTo>
                    <a:pt x="5400040" y="805180"/>
                  </a:lnTo>
                  <a:lnTo>
                    <a:pt x="5403850" y="803910"/>
                  </a:lnTo>
                  <a:lnTo>
                    <a:pt x="5407660" y="801370"/>
                  </a:lnTo>
                  <a:lnTo>
                    <a:pt x="5410187" y="798842"/>
                  </a:lnTo>
                  <a:lnTo>
                    <a:pt x="5417807" y="793750"/>
                  </a:lnTo>
                  <a:lnTo>
                    <a:pt x="5420372" y="791222"/>
                  </a:lnTo>
                  <a:lnTo>
                    <a:pt x="5422900" y="787412"/>
                  </a:lnTo>
                  <a:lnTo>
                    <a:pt x="5425427" y="784860"/>
                  </a:lnTo>
                  <a:lnTo>
                    <a:pt x="5430520" y="777240"/>
                  </a:lnTo>
                  <a:lnTo>
                    <a:pt x="5433047" y="774700"/>
                  </a:lnTo>
                  <a:lnTo>
                    <a:pt x="5436857" y="767080"/>
                  </a:lnTo>
                  <a:lnTo>
                    <a:pt x="5438140" y="762000"/>
                  </a:lnTo>
                  <a:lnTo>
                    <a:pt x="5440667" y="758190"/>
                  </a:lnTo>
                  <a:lnTo>
                    <a:pt x="5440667" y="754380"/>
                  </a:lnTo>
                  <a:lnTo>
                    <a:pt x="5441950" y="750570"/>
                  </a:lnTo>
                  <a:lnTo>
                    <a:pt x="5443232" y="745502"/>
                  </a:lnTo>
                  <a:lnTo>
                    <a:pt x="5443232" y="741692"/>
                  </a:lnTo>
                  <a:lnTo>
                    <a:pt x="5444477" y="737882"/>
                  </a:lnTo>
                  <a:lnTo>
                    <a:pt x="5444477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47620" y="5266702"/>
              <a:ext cx="5444490" cy="816610"/>
            </a:xfrm>
            <a:custGeom>
              <a:avLst/>
              <a:gdLst/>
              <a:ahLst/>
              <a:cxnLst/>
              <a:rect l="l" t="t" r="r" b="b"/>
              <a:pathLst>
                <a:path w="5444490" h="816610">
                  <a:moveTo>
                    <a:pt x="5444477" y="77457"/>
                  </a:moveTo>
                  <a:lnTo>
                    <a:pt x="5443232" y="73647"/>
                  </a:lnTo>
                  <a:lnTo>
                    <a:pt x="5443232" y="69837"/>
                  </a:lnTo>
                  <a:lnTo>
                    <a:pt x="5441950" y="64770"/>
                  </a:lnTo>
                  <a:lnTo>
                    <a:pt x="5440667" y="60960"/>
                  </a:lnTo>
                  <a:lnTo>
                    <a:pt x="5440667" y="57150"/>
                  </a:lnTo>
                  <a:lnTo>
                    <a:pt x="5438140" y="52070"/>
                  </a:lnTo>
                  <a:lnTo>
                    <a:pt x="5435612" y="44450"/>
                  </a:lnTo>
                  <a:lnTo>
                    <a:pt x="5433047" y="40640"/>
                  </a:lnTo>
                  <a:lnTo>
                    <a:pt x="5430520" y="38100"/>
                  </a:lnTo>
                  <a:lnTo>
                    <a:pt x="5425427" y="30480"/>
                  </a:lnTo>
                  <a:lnTo>
                    <a:pt x="5422900" y="27927"/>
                  </a:lnTo>
                  <a:lnTo>
                    <a:pt x="5420372" y="24117"/>
                  </a:lnTo>
                  <a:lnTo>
                    <a:pt x="5416562" y="21590"/>
                  </a:lnTo>
                  <a:lnTo>
                    <a:pt x="5413997" y="19050"/>
                  </a:lnTo>
                  <a:lnTo>
                    <a:pt x="5406377" y="13970"/>
                  </a:lnTo>
                  <a:lnTo>
                    <a:pt x="5403850" y="11430"/>
                  </a:lnTo>
                  <a:lnTo>
                    <a:pt x="5400040" y="8877"/>
                  </a:lnTo>
                  <a:lnTo>
                    <a:pt x="5392420" y="6350"/>
                  </a:lnTo>
                  <a:lnTo>
                    <a:pt x="5387327" y="3810"/>
                  </a:lnTo>
                  <a:lnTo>
                    <a:pt x="5381587" y="3810"/>
                  </a:lnTo>
                  <a:lnTo>
                    <a:pt x="5381587" y="2540"/>
                  </a:lnTo>
                  <a:lnTo>
                    <a:pt x="5377180" y="2540"/>
                  </a:lnTo>
                  <a:lnTo>
                    <a:pt x="5377180" y="1270"/>
                  </a:lnTo>
                  <a:lnTo>
                    <a:pt x="5370842" y="1270"/>
                  </a:lnTo>
                  <a:lnTo>
                    <a:pt x="5367020" y="0"/>
                  </a:lnTo>
                  <a:lnTo>
                    <a:pt x="77457" y="0"/>
                  </a:lnTo>
                  <a:lnTo>
                    <a:pt x="73647" y="1270"/>
                  </a:lnTo>
                  <a:lnTo>
                    <a:pt x="67310" y="1270"/>
                  </a:lnTo>
                  <a:lnTo>
                    <a:pt x="67310" y="2540"/>
                  </a:lnTo>
                  <a:lnTo>
                    <a:pt x="62877" y="2540"/>
                  </a:lnTo>
                  <a:lnTo>
                    <a:pt x="62877" y="3810"/>
                  </a:lnTo>
                  <a:lnTo>
                    <a:pt x="57137" y="3810"/>
                  </a:lnTo>
                  <a:lnTo>
                    <a:pt x="52070" y="6350"/>
                  </a:lnTo>
                  <a:lnTo>
                    <a:pt x="44450" y="8877"/>
                  </a:lnTo>
                  <a:lnTo>
                    <a:pt x="40640" y="11430"/>
                  </a:lnTo>
                  <a:lnTo>
                    <a:pt x="38087" y="13970"/>
                  </a:lnTo>
                  <a:lnTo>
                    <a:pt x="30467" y="19050"/>
                  </a:lnTo>
                  <a:lnTo>
                    <a:pt x="27940" y="21590"/>
                  </a:lnTo>
                  <a:lnTo>
                    <a:pt x="24130" y="24117"/>
                  </a:lnTo>
                  <a:lnTo>
                    <a:pt x="21590" y="27927"/>
                  </a:lnTo>
                  <a:lnTo>
                    <a:pt x="19037" y="30480"/>
                  </a:lnTo>
                  <a:lnTo>
                    <a:pt x="13970" y="38100"/>
                  </a:lnTo>
                  <a:lnTo>
                    <a:pt x="11417" y="40640"/>
                  </a:lnTo>
                  <a:lnTo>
                    <a:pt x="8890" y="44450"/>
                  </a:lnTo>
                  <a:lnTo>
                    <a:pt x="6350" y="52070"/>
                  </a:lnTo>
                  <a:lnTo>
                    <a:pt x="3797" y="57150"/>
                  </a:lnTo>
                  <a:lnTo>
                    <a:pt x="3797" y="60960"/>
                  </a:lnTo>
                  <a:lnTo>
                    <a:pt x="2540" y="64770"/>
                  </a:lnTo>
                  <a:lnTo>
                    <a:pt x="1270" y="69837"/>
                  </a:lnTo>
                  <a:lnTo>
                    <a:pt x="1270" y="73647"/>
                  </a:lnTo>
                  <a:lnTo>
                    <a:pt x="0" y="77457"/>
                  </a:lnTo>
                  <a:lnTo>
                    <a:pt x="0" y="739140"/>
                  </a:lnTo>
                  <a:lnTo>
                    <a:pt x="1270" y="742950"/>
                  </a:lnTo>
                  <a:lnTo>
                    <a:pt x="1270" y="748017"/>
                  </a:lnTo>
                  <a:lnTo>
                    <a:pt x="3797" y="755637"/>
                  </a:lnTo>
                  <a:lnTo>
                    <a:pt x="3797" y="759447"/>
                  </a:lnTo>
                  <a:lnTo>
                    <a:pt x="6350" y="764540"/>
                  </a:lnTo>
                  <a:lnTo>
                    <a:pt x="8890" y="772160"/>
                  </a:lnTo>
                  <a:lnTo>
                    <a:pt x="13970" y="779780"/>
                  </a:lnTo>
                  <a:lnTo>
                    <a:pt x="16510" y="782307"/>
                  </a:lnTo>
                  <a:lnTo>
                    <a:pt x="19037" y="786117"/>
                  </a:lnTo>
                  <a:lnTo>
                    <a:pt x="21590" y="788670"/>
                  </a:lnTo>
                  <a:lnTo>
                    <a:pt x="24130" y="792480"/>
                  </a:lnTo>
                  <a:lnTo>
                    <a:pt x="27940" y="795020"/>
                  </a:lnTo>
                  <a:lnTo>
                    <a:pt x="30467" y="797547"/>
                  </a:lnTo>
                  <a:lnTo>
                    <a:pt x="38087" y="802640"/>
                  </a:lnTo>
                  <a:lnTo>
                    <a:pt x="40640" y="805167"/>
                  </a:lnTo>
                  <a:lnTo>
                    <a:pt x="48260" y="808977"/>
                  </a:lnTo>
                  <a:lnTo>
                    <a:pt x="52070" y="810260"/>
                  </a:lnTo>
                  <a:lnTo>
                    <a:pt x="57137" y="811530"/>
                  </a:lnTo>
                  <a:lnTo>
                    <a:pt x="64757" y="814070"/>
                  </a:lnTo>
                  <a:lnTo>
                    <a:pt x="69850" y="815340"/>
                  </a:lnTo>
                  <a:lnTo>
                    <a:pt x="81280" y="815340"/>
                  </a:lnTo>
                  <a:lnTo>
                    <a:pt x="81280" y="816597"/>
                  </a:lnTo>
                  <a:lnTo>
                    <a:pt x="5375897" y="815340"/>
                  </a:lnTo>
                  <a:lnTo>
                    <a:pt x="5383517" y="812787"/>
                  </a:lnTo>
                  <a:lnTo>
                    <a:pt x="5388610" y="811530"/>
                  </a:lnTo>
                  <a:lnTo>
                    <a:pt x="5396230" y="808977"/>
                  </a:lnTo>
                  <a:lnTo>
                    <a:pt x="5400040" y="806450"/>
                  </a:lnTo>
                  <a:lnTo>
                    <a:pt x="5403850" y="805167"/>
                  </a:lnTo>
                  <a:lnTo>
                    <a:pt x="5407660" y="802640"/>
                  </a:lnTo>
                  <a:lnTo>
                    <a:pt x="5410187" y="800100"/>
                  </a:lnTo>
                  <a:lnTo>
                    <a:pt x="5417807" y="795020"/>
                  </a:lnTo>
                  <a:lnTo>
                    <a:pt x="5420372" y="791210"/>
                  </a:lnTo>
                  <a:lnTo>
                    <a:pt x="5425427" y="786117"/>
                  </a:lnTo>
                  <a:lnTo>
                    <a:pt x="5435612" y="770877"/>
                  </a:lnTo>
                  <a:lnTo>
                    <a:pt x="5438140" y="763257"/>
                  </a:lnTo>
                  <a:lnTo>
                    <a:pt x="5440667" y="759447"/>
                  </a:lnTo>
                  <a:lnTo>
                    <a:pt x="5440667" y="755637"/>
                  </a:lnTo>
                  <a:lnTo>
                    <a:pt x="5441950" y="751827"/>
                  </a:lnTo>
                  <a:lnTo>
                    <a:pt x="5443232" y="746760"/>
                  </a:lnTo>
                  <a:lnTo>
                    <a:pt x="5443232" y="742950"/>
                  </a:lnTo>
                  <a:lnTo>
                    <a:pt x="5444477" y="739140"/>
                  </a:lnTo>
                  <a:lnTo>
                    <a:pt x="5444477" y="77457"/>
                  </a:lnTo>
                  <a:close/>
                </a:path>
              </a:pathLst>
            </a:custGeom>
            <a:solidFill>
              <a:srgbClr val="9ABA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25244" y="2427161"/>
            <a:ext cx="6175375" cy="36150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spcBef>
                <a:spcPts val="770"/>
              </a:spcBef>
            </a:pP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Iniciação</a:t>
            </a:r>
            <a:endParaRPr sz="1900" dirty="0">
              <a:latin typeface="Calibri"/>
              <a:cs typeface="Calibri"/>
            </a:endParaRPr>
          </a:p>
          <a:p>
            <a:pPr marL="127000" indent="-114300">
              <a:spcBef>
                <a:spcPts val="530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Acordar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qualidade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cliente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40"/>
              </a:spcBef>
              <a:buClr>
                <a:srgbClr val="FFFFFF"/>
              </a:buClr>
              <a:buFont typeface="Trebuchet MS"/>
              <a:buChar char="•"/>
            </a:pPr>
            <a:endParaRPr sz="2500" dirty="0">
              <a:latin typeface="Calibri"/>
              <a:cs typeface="Calibri"/>
            </a:endParaRPr>
          </a:p>
          <a:p>
            <a:pPr marL="469900"/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Planejamento</a:t>
            </a:r>
            <a:endParaRPr sz="1900" dirty="0">
              <a:latin typeface="Calibri"/>
              <a:cs typeface="Calibri"/>
            </a:endParaRPr>
          </a:p>
          <a:p>
            <a:pPr marL="584200" lvl="1" indent="-114300">
              <a:spcBef>
                <a:spcPts val="530"/>
              </a:spcBef>
              <a:buFont typeface="Trebuchet MS"/>
              <a:buChar char="•"/>
              <a:tabLst>
                <a:tab pos="584200" algn="l"/>
              </a:tabLst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Planejar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atingir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garantir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qualidade</a:t>
            </a:r>
            <a:endParaRPr sz="1500" dirty="0">
              <a:latin typeface="Calibri"/>
              <a:cs typeface="Calibri"/>
            </a:endParaRPr>
          </a:p>
          <a:p>
            <a:pPr lvl="1">
              <a:spcBef>
                <a:spcPts val="10"/>
              </a:spcBef>
              <a:buClr>
                <a:srgbClr val="FFFFFF"/>
              </a:buClr>
              <a:buFont typeface="Trebuchet MS"/>
              <a:buChar char="•"/>
            </a:pPr>
            <a:endParaRPr sz="1750" dirty="0">
              <a:latin typeface="Calibri"/>
              <a:cs typeface="Calibri"/>
            </a:endParaRPr>
          </a:p>
          <a:p>
            <a:pPr marL="917575"/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Execução,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Monitoramento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&amp;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Controle</a:t>
            </a:r>
            <a:endParaRPr sz="1900" dirty="0">
              <a:latin typeface="Calibri"/>
              <a:cs typeface="Calibri"/>
            </a:endParaRPr>
          </a:p>
          <a:p>
            <a:pPr marL="1031875" lvl="2" indent="-114935">
              <a:spcBef>
                <a:spcPts val="520"/>
              </a:spcBef>
              <a:buFont typeface="Trebuchet MS"/>
              <a:buChar char="•"/>
              <a:tabLst>
                <a:tab pos="1032510" algn="l"/>
              </a:tabLst>
            </a:pP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Gerenciar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qualidade</a:t>
            </a:r>
            <a:endParaRPr sz="1500" dirty="0">
              <a:latin typeface="Calibri"/>
              <a:cs typeface="Calibri"/>
            </a:endParaRPr>
          </a:p>
          <a:p>
            <a:pPr marL="862330">
              <a:tabLst>
                <a:tab pos="6162040" algn="l"/>
              </a:tabLst>
            </a:pPr>
            <a:r>
              <a:rPr sz="1500" u="dbl" spc="5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dbl" spc="-254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Trebuchet MS"/>
                <a:cs typeface="Trebuchet MS"/>
              </a:rPr>
              <a:t>•</a:t>
            </a:r>
            <a:r>
              <a:rPr sz="1500" u="dbl" spc="-90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dbl" spc="-1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M</a:t>
            </a:r>
            <a:r>
              <a:rPr sz="1500" u="dbl" spc="-30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e</a:t>
            </a:r>
            <a:r>
              <a:rPr sz="1500" u="dbl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lh</a:t>
            </a:r>
            <a:r>
              <a:rPr sz="1500" u="dbl" spc="-1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o</a:t>
            </a:r>
            <a:r>
              <a:rPr sz="1500" u="dbl" spc="-80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r</a:t>
            </a:r>
            <a:r>
              <a:rPr sz="1500" u="dbl" spc="-1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a</a:t>
            </a:r>
            <a:r>
              <a:rPr sz="1500" u="dbl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r o</a:t>
            </a:r>
            <a:r>
              <a:rPr sz="1500" u="dbl" spc="-30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 </a:t>
            </a:r>
            <a:r>
              <a:rPr sz="1500" u="dbl" spc="1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p</a:t>
            </a:r>
            <a:r>
              <a:rPr sz="1500" u="dbl" spc="-5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r</a:t>
            </a:r>
            <a:r>
              <a:rPr sz="1500" u="dbl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oc</a:t>
            </a:r>
            <a:r>
              <a:rPr sz="1500" u="dbl" spc="-30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e</a:t>
            </a:r>
            <a:r>
              <a:rPr sz="1500" u="dbl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sso</a:t>
            </a:r>
            <a:r>
              <a:rPr sz="1500" u="dbl" spc="-15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 </a:t>
            </a:r>
            <a:r>
              <a:rPr sz="1500" u="dbl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de</a:t>
            </a:r>
            <a:r>
              <a:rPr sz="1500" u="dbl" spc="-20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 </a:t>
            </a:r>
            <a:r>
              <a:rPr sz="1500" u="dbl" dirty="0">
                <a:solidFill>
                  <a:srgbClr val="FFFFFF"/>
                </a:solidFill>
                <a:uFill>
                  <a:solidFill>
                    <a:srgbClr val="BCB154"/>
                  </a:solidFill>
                </a:uFill>
                <a:latin typeface="Calibri"/>
                <a:cs typeface="Calibri"/>
              </a:rPr>
              <a:t>qualidade	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45"/>
              </a:spcBef>
            </a:pPr>
            <a:endParaRPr sz="1700" dirty="0">
              <a:latin typeface="Calibri"/>
              <a:cs typeface="Calibri"/>
            </a:endParaRPr>
          </a:p>
          <a:p>
            <a:pPr marL="1373505"/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Encerramento</a:t>
            </a:r>
            <a:endParaRPr sz="1900" dirty="0">
              <a:latin typeface="Calibri"/>
              <a:cs typeface="Calibri"/>
            </a:endParaRPr>
          </a:p>
          <a:p>
            <a:pPr marL="1487805" lvl="3" indent="-114935">
              <a:spcBef>
                <a:spcPts val="530"/>
              </a:spcBef>
              <a:buFont typeface="Trebuchet MS"/>
              <a:buChar char="•"/>
              <a:tabLst>
                <a:tab pos="1488440" algn="l"/>
              </a:tabLst>
            </a:pP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Avaliar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satisfação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5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cliente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95854" y="3000998"/>
            <a:ext cx="1464945" cy="2458085"/>
            <a:chOff x="6071853" y="3000997"/>
            <a:chExt cx="1464945" cy="2458085"/>
          </a:xfrm>
        </p:grpSpPr>
        <p:sp>
          <p:nvSpPr>
            <p:cNvPr id="14" name="object 14"/>
            <p:cNvSpPr/>
            <p:nvPr/>
          </p:nvSpPr>
          <p:spPr>
            <a:xfrm>
              <a:off x="6071844" y="3000997"/>
              <a:ext cx="559435" cy="531495"/>
            </a:xfrm>
            <a:custGeom>
              <a:avLst/>
              <a:gdLst/>
              <a:ahLst/>
              <a:cxnLst/>
              <a:rect l="l" t="t" r="r" b="b"/>
              <a:pathLst>
                <a:path w="559434" h="531495">
                  <a:moveTo>
                    <a:pt x="558825" y="292125"/>
                  </a:moveTo>
                  <a:lnTo>
                    <a:pt x="433108" y="292125"/>
                  </a:lnTo>
                  <a:lnTo>
                    <a:pt x="433108" y="0"/>
                  </a:lnTo>
                  <a:lnTo>
                    <a:pt x="125742" y="0"/>
                  </a:lnTo>
                  <a:lnTo>
                    <a:pt x="125742" y="292125"/>
                  </a:lnTo>
                  <a:lnTo>
                    <a:pt x="0" y="292125"/>
                  </a:lnTo>
                  <a:lnTo>
                    <a:pt x="279412" y="530872"/>
                  </a:lnTo>
                  <a:lnTo>
                    <a:pt x="558825" y="292125"/>
                  </a:lnTo>
                  <a:close/>
                </a:path>
              </a:pathLst>
            </a:custGeom>
            <a:solidFill>
              <a:srgbClr val="E8D0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27812" y="3964939"/>
              <a:ext cx="558800" cy="529590"/>
            </a:xfrm>
            <a:custGeom>
              <a:avLst/>
              <a:gdLst/>
              <a:ahLst/>
              <a:cxnLst/>
              <a:rect l="l" t="t" r="r" b="b"/>
              <a:pathLst>
                <a:path w="558800" h="529589">
                  <a:moveTo>
                    <a:pt x="558787" y="290830"/>
                  </a:moveTo>
                  <a:lnTo>
                    <a:pt x="433057" y="290830"/>
                  </a:lnTo>
                  <a:lnTo>
                    <a:pt x="433057" y="0"/>
                  </a:lnTo>
                  <a:lnTo>
                    <a:pt x="125730" y="0"/>
                  </a:lnTo>
                  <a:lnTo>
                    <a:pt x="125730" y="290830"/>
                  </a:lnTo>
                  <a:lnTo>
                    <a:pt x="0" y="290830"/>
                  </a:lnTo>
                  <a:lnTo>
                    <a:pt x="279374" y="529590"/>
                  </a:lnTo>
                  <a:lnTo>
                    <a:pt x="558787" y="290830"/>
                  </a:lnTo>
                  <a:close/>
                </a:path>
              </a:pathLst>
            </a:custGeom>
            <a:solidFill>
              <a:srgbClr val="E7E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77392" y="4928869"/>
              <a:ext cx="558800" cy="529590"/>
            </a:xfrm>
            <a:custGeom>
              <a:avLst/>
              <a:gdLst/>
              <a:ahLst/>
              <a:cxnLst/>
              <a:rect l="l" t="t" r="r" b="b"/>
              <a:pathLst>
                <a:path w="558800" h="529589">
                  <a:moveTo>
                    <a:pt x="558787" y="290830"/>
                  </a:moveTo>
                  <a:lnTo>
                    <a:pt x="433057" y="290830"/>
                  </a:lnTo>
                  <a:lnTo>
                    <a:pt x="433057" y="0"/>
                  </a:lnTo>
                  <a:lnTo>
                    <a:pt x="125730" y="0"/>
                  </a:lnTo>
                  <a:lnTo>
                    <a:pt x="125730" y="290830"/>
                  </a:lnTo>
                  <a:lnTo>
                    <a:pt x="0" y="290830"/>
                  </a:lnTo>
                  <a:lnTo>
                    <a:pt x="279374" y="529590"/>
                  </a:lnTo>
                  <a:lnTo>
                    <a:pt x="558787" y="290830"/>
                  </a:lnTo>
                  <a:close/>
                </a:path>
              </a:pathLst>
            </a:custGeom>
            <a:solidFill>
              <a:srgbClr val="DDE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9">
            <a:extLst>
              <a:ext uri="{FF2B5EF4-FFF2-40B4-BE49-F238E27FC236}">
                <a16:creationId xmlns:a16="http://schemas.microsoft.com/office/drawing/2014/main" id="{F9EFB402-B020-CFD9-C948-3E917C612240}"/>
              </a:ext>
            </a:extLst>
          </p:cNvPr>
          <p:cNvSpPr txBox="1">
            <a:spLocks/>
          </p:cNvSpPr>
          <p:nvPr/>
        </p:nvSpPr>
        <p:spPr>
          <a:xfrm>
            <a:off x="826957" y="1031446"/>
            <a:ext cx="10538085" cy="13908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526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 b="1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tabLst/>
              <a:defRPr/>
            </a:pPr>
            <a:r>
              <a:rPr kumimoji="0" lang="pt-BR" sz="2904" b="1" i="0" u="none" strike="noStrike" kern="0" cap="none" spc="286" normalizeH="0" baseline="0" noProof="0" dirty="0" err="1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That’s</a:t>
            </a:r>
            <a:r>
              <a:rPr kumimoji="0" lang="pt-BR" sz="2904" b="1" i="0" u="none" strike="noStrike" kern="0" cap="none" spc="28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kumimoji="0" lang="pt-BR" sz="2904" b="1" i="0" u="none" strike="noStrike" kern="0" cap="none" spc="286" normalizeH="0" baseline="0" noProof="0" dirty="0" err="1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all</a:t>
            </a:r>
            <a:r>
              <a:rPr kumimoji="0" lang="pt-BR" sz="2904" b="1" i="0" u="none" strike="noStrike" kern="0" cap="none" spc="28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folks!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tabLst/>
              <a:defRPr/>
            </a:pPr>
            <a:r>
              <a:rPr lang="pt-BR" sz="2904" spc="286" dirty="0">
                <a:solidFill>
                  <a:srgbClr val="73A510"/>
                </a:solidFill>
              </a:rPr>
              <a:t>Comentários? </a:t>
            </a:r>
            <a:r>
              <a:rPr kumimoji="0" lang="pt-BR" sz="2904" b="1" i="0" u="none" strike="noStrike" kern="0" cap="none" spc="28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kumimoji="0" lang="pt-BR" sz="2314" b="1" i="0" u="none" strike="noStrike" kern="0" cap="none" spc="28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ÚVIDAS</a:t>
            </a:r>
            <a:r>
              <a:rPr kumimoji="0" lang="pt-BR" sz="2904" b="1" i="0" u="none" strike="noStrike" kern="0" cap="none" spc="28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?</a:t>
            </a:r>
            <a:r>
              <a:rPr kumimoji="0" lang="pt-BR" sz="2904" b="1" i="0" u="none" strike="noStrike" kern="0" cap="none" spc="208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kumimoji="0" lang="pt-BR" sz="2904" b="1" i="0" u="none" strike="noStrike" kern="0" cap="none" spc="327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kumimoji="0" lang="pt-BR" sz="2314" b="1" i="0" u="none" strike="noStrike" kern="0" cap="none" spc="327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ERGUNTAS</a:t>
            </a:r>
            <a:r>
              <a:rPr kumimoji="0" lang="pt-BR" sz="2904" b="1" i="0" u="none" strike="noStrike" kern="0" cap="none" spc="327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?</a:t>
            </a:r>
            <a:r>
              <a:rPr kumimoji="0" lang="pt-BR" sz="2904" b="1" i="0" u="none" strike="noStrike" kern="0" cap="none" spc="213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tabLst/>
              <a:defRPr/>
            </a:pPr>
            <a:r>
              <a:rPr kumimoji="0" lang="pt-BR" sz="2904" b="1" i="0" u="none" strike="noStrike" kern="0" cap="none" spc="295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kumimoji="0" lang="pt-BR" sz="2314" b="1" i="0" u="none" strike="noStrike" kern="0" cap="none" spc="295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NGÚSTIAS</a:t>
            </a:r>
            <a:r>
              <a:rPr kumimoji="0" lang="pt-BR" sz="2904" b="1" i="0" u="none" strike="noStrike" kern="0" cap="none" spc="295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?</a:t>
            </a:r>
            <a:r>
              <a:rPr kumimoji="0" lang="pt-BR" sz="2904" b="1" i="0" u="none" strike="noStrike" kern="0" cap="none" spc="33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kumimoji="0" lang="pt-BR" sz="2314" b="1" i="0" u="none" strike="noStrike" kern="0" cap="none" spc="33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FLIÇÕES</a:t>
            </a:r>
            <a:r>
              <a:rPr kumimoji="0" lang="pt-BR" sz="2904" b="1" i="0" u="none" strike="noStrike" kern="0" cap="none" spc="336" normalizeH="0" baseline="0" noProof="0" dirty="0">
                <a:ln>
                  <a:noFill/>
                </a:ln>
                <a:solidFill>
                  <a:srgbClr val="73A51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?</a:t>
            </a:r>
            <a:endParaRPr kumimoji="0" lang="pt-BR" sz="2904" b="1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" name="object 10">
            <a:extLst>
              <a:ext uri="{FF2B5EF4-FFF2-40B4-BE49-F238E27FC236}">
                <a16:creationId xmlns:a16="http://schemas.microsoft.com/office/drawing/2014/main" id="{1085BF7D-5046-E2F0-F4D1-D6822CFE1C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2950" y="4706573"/>
            <a:ext cx="1995851" cy="1883818"/>
          </a:xfrm>
          <a:prstGeom prst="rect">
            <a:avLst/>
          </a:prstGeom>
        </p:spPr>
      </p:pic>
      <p:pic>
        <p:nvPicPr>
          <p:cNvPr id="5" name="object 11">
            <a:extLst>
              <a:ext uri="{FF2B5EF4-FFF2-40B4-BE49-F238E27FC236}">
                <a16:creationId xmlns:a16="http://schemas.microsoft.com/office/drawing/2014/main" id="{7F370627-4F7F-C3E0-3127-B6D81619CD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6698" y="2903668"/>
            <a:ext cx="1824554" cy="1659751"/>
          </a:xfrm>
          <a:prstGeom prst="rect">
            <a:avLst/>
          </a:prstGeom>
        </p:spPr>
      </p:pic>
      <p:pic>
        <p:nvPicPr>
          <p:cNvPr id="6" name="object 12">
            <a:extLst>
              <a:ext uri="{FF2B5EF4-FFF2-40B4-BE49-F238E27FC236}">
                <a16:creationId xmlns:a16="http://schemas.microsoft.com/office/drawing/2014/main" id="{EBEAC22B-3FFB-0FD4-83E5-53BBAD37F41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9247" y="2760516"/>
            <a:ext cx="1946057" cy="194605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6A37D55-8781-37C8-58B7-24AE39F27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599" y="2724383"/>
            <a:ext cx="1824554" cy="137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47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2016</Words>
  <Application>Microsoft Office PowerPoint</Application>
  <PresentationFormat>Widescreen</PresentationFormat>
  <Paragraphs>346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37</vt:i4>
      </vt:variant>
    </vt:vector>
  </HeadingPairs>
  <TitlesOfParts>
    <vt:vector size="49" baseType="lpstr">
      <vt:lpstr>Tahoma</vt:lpstr>
      <vt:lpstr>Wingdings</vt:lpstr>
      <vt:lpstr>Arial</vt:lpstr>
      <vt:lpstr>Bookman Old Style</vt:lpstr>
      <vt:lpstr>Times New Roman</vt:lpstr>
      <vt:lpstr>Courier New</vt:lpstr>
      <vt:lpstr>Trebuchet MS</vt:lpstr>
      <vt:lpstr>Calibri</vt:lpstr>
      <vt:lpstr>FFF Tusj</vt:lpstr>
      <vt:lpstr>Arial MT</vt:lpstr>
      <vt:lpstr>Tema do Office</vt:lpstr>
      <vt:lpstr>1_Tema do Office</vt:lpstr>
      <vt:lpstr>Apresentação do PowerPoint</vt:lpstr>
      <vt:lpstr>Apresentação do PowerPoint</vt:lpstr>
      <vt:lpstr>Sumário</vt:lpstr>
      <vt:lpstr>História</vt:lpstr>
      <vt:lpstr>História</vt:lpstr>
      <vt:lpstr>História</vt:lpstr>
      <vt:lpstr>Mas, o que é qualidade?</vt:lpstr>
      <vt:lpstr>Qualidade (1)</vt:lpstr>
      <vt:lpstr>Apresentação do PowerPoint</vt:lpstr>
      <vt:lpstr>Exemplo: qual automóvel tem mais qualidade?</vt:lpstr>
      <vt:lpstr>Principais Pensadores/Mestres/Gurus</vt:lpstr>
      <vt:lpstr>W. Edward Deming</vt:lpstr>
      <vt:lpstr>Joseph M. Juran</vt:lpstr>
      <vt:lpstr>Philip Crosby</vt:lpstr>
      <vt:lpstr>Kaoru Ishikawa</vt:lpstr>
      <vt:lpstr>Para que ele é usado?</vt:lpstr>
      <vt:lpstr>Passos para construir</vt:lpstr>
      <vt:lpstr>Apresentação do PowerPoint</vt:lpstr>
      <vt:lpstr>Exemplo</vt:lpstr>
      <vt:lpstr>Crise do software</vt:lpstr>
      <vt:lpstr>Qualidade e requisitos</vt:lpstr>
      <vt:lpstr>O papel da subjetividade</vt:lpstr>
      <vt:lpstr>Causas de falhas</vt:lpstr>
      <vt:lpstr>Catástrofes da qualidade</vt:lpstr>
      <vt:lpstr>O que fazer diante de um defeito, falha ou  bug?</vt:lpstr>
      <vt:lpstr>Qualidade x Tipo de Software</vt:lpstr>
      <vt:lpstr>Apresentação do PowerPoint</vt:lpstr>
      <vt:lpstr>Pilares da Qualidade</vt:lpstr>
      <vt:lpstr>Pilares da Qualidade...</vt:lpstr>
      <vt:lpstr>Pilares da Qualidade...</vt:lpstr>
      <vt:lpstr>Apresentação do PowerPoint</vt:lpstr>
      <vt:lpstr>Mito e verdades</vt:lpstr>
      <vt:lpstr>Conceitos base</vt:lpstr>
      <vt:lpstr>Entraves à qualidade [IEEE610.12-1990]</vt:lpstr>
      <vt:lpstr>Certificações de qualidade</vt:lpstr>
      <vt:lpstr>Técnicas aplicadas durante o projeto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Leonardo Pol Suarez</cp:lastModifiedBy>
  <cp:revision>44</cp:revision>
  <dcterms:modified xsi:type="dcterms:W3CDTF">2026-07-31T12:59:22Z</dcterms:modified>
</cp:coreProperties>
</file>